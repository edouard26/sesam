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74" r:id="rId7"/>
    <p:sldId id="273" r:id="rId8"/>
    <p:sldId id="272" r:id="rId9"/>
    <p:sldId id="262" r:id="rId10"/>
    <p:sldId id="261"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234" autoAdjust="0"/>
  </p:normalViewPr>
  <p:slideViewPr>
    <p:cSldViewPr snapToGrid="0" snapToObjects="1">
      <p:cViewPr varScale="1">
        <p:scale>
          <a:sx n="83" d="100"/>
          <a:sy n="83" d="100"/>
        </p:scale>
        <p:origin x="163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 1 min.</a:t>
            </a:r>
          </a:p>
          <a:p>
            <a:endParaRPr/>
          </a:p>
          <a:p>
            <a:r>
              <a:t>Bonjour à tous et merci d’être présents. Nous sommes l’équipe SÉSAM : les sergents Lauer, Pasquier, Muscat et Halimi. Cette revue d’itération 1 dure une heure maximum. Ce n’est pas une soutenance : c’est un échange. N’hésitez pas à nous interrompre pour poser vos questions ou donner votre avis.</a:t>
            </a:r>
          </a:p>
          <a:p>
            <a:endParaRPr/>
          </a:p>
          <a:p>
            <a:r>
              <a:t>Rappels du canevas :</a:t>
            </a:r>
          </a:p>
          <a:p>
            <a:r>
              <a:t>- Entraînez-vous à tenir le timing : c’est un excellent exercice de gestion de réunion.</a:t>
            </a:r>
          </a:p>
          <a:p>
            <a:r>
              <a:t>- Fil rouge : vision → besoin → personas → backlog → maquettes → objectifs.</a:t>
            </a:r>
          </a:p>
          <a:p>
            <a:r>
              <a:t>- Clarté visuelle (tableaux, schémas, maquettes).</a:t>
            </a:r>
          </a:p>
          <a:p>
            <a:r>
              <a:t>- La revue est un dialogue, pas une soutenance.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 1 min (le temps total de 60 min est réparti dans la suite).</a:t>
            </a:r>
          </a:p>
          <a:p>
            <a:endParaRPr/>
          </a:p>
          <a:p>
            <a:r>
              <a:t>Voici le déroulé en dix points. On commence par le cadre, la vision, le besoin, les personas et la roadmap. Ensuite le backlog et la priorisation, puis les maquettes. On termine par les objectifs de l’itération 2 et les décisions à acter. Le plus de temps est consacré au besoin, au backlog et aux maquettes, car c’est là que vos retours comptent le plus.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Bilan documentaire et de conception. Une tâche clôturée ne prouve pas la livraison d’une fonctionnalité applicative.</a:t>
            </a:r>
          </a:p>
          <a:p>
            <a:endParaRPr/>
          </a:p>
          <a:p>
            <a:r>
              <a:t>Sources consultées le 08/10/2026 :</a:t>
            </a:r>
          </a:p>
          <a:p>
            <a:r>
              <a:t>https://github.com/Edouard26/SESAM/issues/10</a:t>
            </a:r>
          </a:p>
          <a:p>
            <a:r>
              <a:t>https://github.com/Edouard26/SESAM/issues/11</a:t>
            </a:r>
          </a:p>
          <a:p>
            <a:r>
              <a:t>https://github.com/Edouard26/SESAM/tree/main/Analyse</a:t>
            </a:r>
          </a:p>
          <a:p>
            <a:r>
              <a:t>https://github.com/Edouard26/SESAM/issues/38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Contexte et priorité métier issus du premier entretien.</a:t>
            </a:r>
          </a:p>
          <a:p>
            <a:endParaRPr/>
          </a:p>
          <a:p>
            <a:r>
              <a:t>Sources consultées le 08/10/2026 :</a:t>
            </a:r>
          </a:p>
          <a:p>
            <a:r>
              <a:t>https://github.com/Edouard26/SESAM/issues/10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 CR2 précise le CR1 sur les rôles et les statistiques. Les fiches d’affectation et de clôture réservent ces actions au gestionnaire. Harmonisation à confirmer avec la MOA.</a:t>
            </a:r>
          </a:p>
          <a:p>
            <a:endParaRPr/>
          </a:p>
          <a:p>
            <a:r>
              <a:t>Sources consultées le 08/10/2026 :</a:t>
            </a:r>
          </a:p>
          <a:p>
            <a:r>
              <a:t>https://github.com/Edouard26/SESAM/issues/10</a:t>
            </a:r>
          </a:p>
          <a:p>
            <a:r>
              <a:t>https://github.com/Edouard26/SESAM/issues/11</a:t>
            </a:r>
          </a:p>
          <a:p>
            <a:r>
              <a:t>https://github.com/Edouard26/SESAM/issues/16</a:t>
            </a:r>
          </a:p>
          <a:p>
            <a:r>
              <a:t>https://github.com/Edouard26/SESAM/issues/18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prévue : 2 à 3 min.</a:t>
            </a:r>
          </a:p>
          <a:p>
            <a:endParaRPr/>
          </a:p>
          <a:p>
            <a:r>
              <a:t>Deuxième persona : le formateur. Il anime les formations dans sa salle et utilise le matériel avec les stagiaires. Son objectif : connaître l’état du matériel de sa salle et signaler les problèmes. Ses scénarios : consulter sa salle, consulter l’état de ses postes et faire un feedback, uniquement sur sa salle. Pour lui, l’application doit être simple, limitée à sa salle, avec un feedback rapide. (À adapter : le contenu de ce persona est à vérifier avec l’équipe.)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862141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prévue : 2 à 3 min.</a:t>
            </a:r>
          </a:p>
          <a:p>
            <a:endParaRPr/>
          </a:p>
          <a:p>
            <a:r>
              <a:t>Deuxième persona : le formateur. Il anime les formations dans sa salle et utilise le matériel avec les stagiaires. Son objectif : connaître l’état du matériel de sa salle et signaler les problèmes. Ses scénarios : consulter sa salle, consulter l’état de ses postes et faire un feedback, uniquement sur sa salle. Pour lui, l’application doit être simple, limitée à sa salle, avec un feedback rapide. (À adapter : le contenu de ce persona est à vérifier avec l’équipe.)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5383963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prévue : 2 à 3 min.</a:t>
            </a:r>
          </a:p>
          <a:p>
            <a:endParaRPr/>
          </a:p>
          <a:p>
            <a:r>
              <a:t>Deuxième persona : le formateur. Il anime les formations dans sa salle et utilise le matériel avec les stagiaires. Son objectif : connaître l’état du matériel de sa salle et signaler les problèmes. Ses scénarios : consulter sa salle, consulter l’état de ses postes et faire un feedback, uniquement sur sa salle. Pour lui, l’application doit être simple, limitée à sa salle, avec un feedback rapide. (À adapter : le contenu de ce persona est à vérifier avec l’équipe.)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90205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prévue : 2 à 3 min.</a:t>
            </a:r>
          </a:p>
          <a:p>
            <a:endParaRPr/>
          </a:p>
          <a:p>
            <a:r>
              <a:t>Deuxième persona : le formateur. Il anime les formations dans sa salle et utilise le matériel avec les stagiaires. Son objectif : connaître l’état du matériel de sa salle et signaler les problèmes. Ses scénarios : consulter sa salle, consulter l’état de ses postes et faire un feedback, uniquement sur sa salle. Pour lui, l’application doit être simple, limitée à sa salle, avec un feedback rapide. (À adapter : le contenu de ce persona est à vérifier avec l’équipe.)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prévue : 2 à 3 min (avec la diapo suivante : 5 min).</a:t>
            </a:r>
          </a:p>
          <a:p>
            <a:endParaRPr/>
          </a:p>
          <a:p>
            <a:r>
              <a:t>Premier persona : le gestionnaire. Il gère le parc informatique et les salles de formation. Son but : affecter les postes aux salles, gérer le matériel et faire les transferts. Trois scénarios clés : affecter un poste à une salle, transférer un matériel d’une salle à une autre et consulter l’état du parc. Ce dont il a besoin en priorité : de la visibilité sur l’état des postes. Est-ce que ce profil correspond bien à ce que vous observez sur le terrain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Roadmap proposée dans le modèle. Elle ne représente pas des versions déjà livrées.</a:t>
            </a:r>
          </a:p>
          <a:p>
            <a:endParaRPr/>
          </a:p>
          <a:p>
            <a:r>
              <a:t>Sources consultées le 08/10/2026 :</a:t>
            </a:r>
          </a:p>
          <a:p>
            <a:r>
              <a:t>https://github.com/Edouard26/SESAM/issues/48</a:t>
            </a:r>
          </a:p>
          <a:p>
            <a:r>
              <a:t>https://github.com/Edouard26/SESAM/issues/49</a:t>
            </a:r>
          </a:p>
          <a:p>
            <a:r>
              <a:t>https://github.com/Edouard26/SESAM/issues/50</a:t>
            </a:r>
          </a:p>
          <a:p>
            <a:r>
              <a:t>https://github.com/Edouard26/SESAM/issues/51</a:t>
            </a:r>
          </a:p>
          <a:p>
            <a:r>
              <a:t>https://github.com/Edouard26/SESAM/issues/11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Discussion sur la priorisation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Les comptes portent sur les tâches DSEQ #39 à #50, sans compter les tickets parents ou doublons. Le dépôt contient 12 fiches UC, alors que le parent #3 suit 11 sous-tâches.</a:t>
            </a:r>
          </a:p>
          <a:p>
            <a:endParaRPr/>
          </a:p>
          <a:p>
            <a:r>
              <a:t>Sources consultées le 08/10/2026 :</a:t>
            </a:r>
          </a:p>
          <a:p>
            <a:r>
              <a:t>https://github.com/Edouard26/SESAM/issues/3</a:t>
            </a:r>
          </a:p>
          <a:p>
            <a:r>
              <a:t>https://github.com/Edouard26/SESAM/issues/38</a:t>
            </a:r>
          </a:p>
          <a:p>
            <a:r>
              <a:t>https://github.com/Edouard26/SESAM/tree/main/Analyse/Fiches-descriptive</a:t>
            </a:r>
          </a:p>
          <a:p>
            <a:r>
              <a:t>https://github.com/Edouard26/SESAM/tree/main/DSEQ</a:t>
            </a:r>
          </a:p>
          <a:p>
            <a:r>
              <a:t>https://github.com/Edouard26/SESAM/commit/59487fd</a:t>
            </a:r>
          </a:p>
          <a:p>
            <a:r>
              <a:t>https://github.com/Edouard26/SESAM/commit/22fdb65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Durée prévue : 5 min.</a:t>
            </a:r>
          </a:p>
          <a:p>
            <a:endParaRPr/>
          </a:p>
          <a:p>
            <a:r>
              <a:t>Voici notre proposition de priorisation : un, matériel, salles et affectation ; deux, rôles et droits ; trois, supervision ; quatre, statistiques. Notre justification : la gestion et l’affectation sont le cœur du besoin. La supervision et les statistiques, elles, dépendent de règles encore à préciser. Est-ce que cet ordre vous convient, ou y a-t-il une fonctionnalité que vous voulez remonter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Consultation des reviews des PR #2 et #31 : listes vides au 08/10. Aucun statut personnalisé Review ou Done n’est déduit de l’état ouvert/fermé des issues.</a:t>
            </a:r>
          </a:p>
          <a:p>
            <a:endParaRPr/>
          </a:p>
          <a:p>
            <a:r>
              <a:t>Sources consultées le 08/10/2026 :</a:t>
            </a:r>
          </a:p>
          <a:p>
            <a:r>
              <a:t>https://github.com/Edouard26/SESAM/issues/11</a:t>
            </a:r>
          </a:p>
          <a:p>
            <a:r>
              <a:t>https://github.com/Edouard26/SESAM/pull/2</a:t>
            </a:r>
          </a:p>
          <a:p>
            <a:r>
              <a:t>https://github.com/Edouard26/SESAM/pull/31</a:t>
            </a:r>
          </a:p>
          <a:p>
            <a:r>
              <a:t>https://github.com/Edouard26/SESAM/pull/2/reviews</a:t>
            </a:r>
          </a:p>
          <a:p>
            <a:r>
              <a:t>https://github.com/Edouard26/SESAM/pull/31/reviews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maquette reste un support de démonstration.</a:t>
            </a:r>
          </a:p>
          <a:p>
            <a:endParaRPr/>
          </a:p>
          <a:p>
            <a:r>
              <a:t>Sources consultées le 08/10/2026 :</a:t>
            </a:r>
          </a:p>
          <a:p>
            <a:r>
              <a:t>https://github.com/Edouard26/SESAM/commit/e872dc1</a:t>
            </a:r>
          </a:p>
          <a:p>
            <a:r>
              <a:t>https://github.com/Edouard26/SESAM/commit/f57581d</a:t>
            </a:r>
          </a:p>
          <a:p>
            <a:r>
              <a:t>https://github.com/Edouard26/SESAM/issues/11</a:t>
            </a:r>
          </a:p>
          <a:p>
            <a:r>
              <a:t>https://github.com/Edouard26/SESAM/tree/main/Elements-Maquette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Chronologie fondée sur les messages de commits et les workflows Pages. Le workflow disponible concerne la publication des pages. Aucun résultat de tests applicatifs n’est attesté par ce workflow.</a:t>
            </a:r>
          </a:p>
          <a:p>
            <a:endParaRPr/>
          </a:p>
          <a:p>
            <a:r>
              <a:t>Sources consultées le 08/10/2026 :</a:t>
            </a:r>
          </a:p>
          <a:p>
            <a:r>
              <a:t>https://github.com/Edouard26/SESAM/commits/main</a:t>
            </a:r>
          </a:p>
          <a:p>
            <a:r>
              <a:t>https://github.com/Edouard26/SESAM/commit/22fdb65</a:t>
            </a:r>
          </a:p>
          <a:p>
            <a:r>
              <a:t>https://github.com/Edouard26/SESAM/commit/08aa68a</a:t>
            </a:r>
          </a:p>
          <a:p>
            <a:r>
              <a:t>https://github.com/Edouard26/SESAM/actions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Objectifs</a:t>
            </a:r>
            <a:r>
              <a:rPr dirty="0"/>
              <a:t> </a:t>
            </a:r>
            <a:r>
              <a:rPr dirty="0" err="1"/>
              <a:t>proposés</a:t>
            </a:r>
            <a:r>
              <a:rPr dirty="0"/>
              <a:t>, sans engagement de date </a:t>
            </a:r>
            <a:r>
              <a:rPr dirty="0" err="1"/>
              <a:t>supplémentaire</a:t>
            </a:r>
            <a:r>
              <a:rPr dirty="0"/>
              <a:t>.</a:t>
            </a:r>
          </a:p>
          <a:p>
            <a:endParaRPr lang="fr-FR" dirty="0"/>
          </a:p>
          <a:p>
            <a:r>
              <a:rPr lang="fr-FR" dirty="0"/>
              <a:t>Sources consultées le 08/10/2026 :</a:t>
            </a:r>
          </a:p>
          <a:p>
            <a:r>
              <a:rPr lang="fr-FR" dirty="0"/>
              <a:t>https://github.com/Edouard26/SESAM/issues/48</a:t>
            </a:r>
          </a:p>
          <a:p>
            <a:r>
              <a:rPr lang="fr-FR" dirty="0"/>
              <a:t>https://github.com/Edouard26/SESAM/issues/49</a:t>
            </a:r>
          </a:p>
          <a:p>
            <a:r>
              <a:rPr lang="fr-FR" dirty="0"/>
              <a:t>https://github.com/Edouard26/SESAM/issues/50</a:t>
            </a:r>
          </a:p>
          <a:p>
            <a:r>
              <a:rPr lang="fr-FR" dirty="0"/>
              <a:t>https://github.com/Edouard26/SESAM/issues/51</a:t>
            </a:r>
          </a:p>
          <a:p>
            <a:r>
              <a:rPr lang="fr-FR" dirty="0"/>
              <a:t>https://github.com/Edouard26/SESAM/issues/11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La date du 09/10 sur la couverture </a:t>
            </a:r>
            <a:r>
              <a:rPr dirty="0" err="1"/>
              <a:t>vient</a:t>
            </a:r>
            <a:r>
              <a:rPr dirty="0"/>
              <a:t> du </a:t>
            </a:r>
            <a:r>
              <a:rPr dirty="0" err="1"/>
              <a:t>modèle</a:t>
            </a:r>
            <a:r>
              <a:rPr dirty="0"/>
              <a:t>. État du </a:t>
            </a:r>
            <a:r>
              <a:rPr dirty="0" err="1"/>
              <a:t>dépôt</a:t>
            </a:r>
            <a:r>
              <a:rPr dirty="0"/>
              <a:t> </a:t>
            </a:r>
            <a:r>
              <a:rPr dirty="0" err="1"/>
              <a:t>vérifié</a:t>
            </a:r>
            <a:r>
              <a:rPr dirty="0"/>
              <a:t> au 08/10/2026.</a:t>
            </a:r>
          </a:p>
          <a:p>
            <a:endParaRPr dirty="0"/>
          </a:p>
          <a:p>
            <a:r>
              <a:rPr dirty="0"/>
              <a:t>Sources </a:t>
            </a:r>
            <a:r>
              <a:rPr dirty="0" err="1"/>
              <a:t>consultées</a:t>
            </a:r>
            <a:r>
              <a:rPr dirty="0"/>
              <a:t> le 08/10/2026 :</a:t>
            </a:r>
          </a:p>
          <a:p>
            <a:r>
              <a:rPr dirty="0"/>
              <a:t>https://github.com/Edouard26/SESAM/issues/10</a:t>
            </a:r>
          </a:p>
          <a:p>
            <a:r>
              <a:rPr dirty="0"/>
              <a:t>https://github.com/Edouard26/SESAM/issues/11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chemeClr val="tx2"/>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9663311-B5B2-4DD6-93D3-15322D163105}"/>
              </a:ext>
            </a:extLst>
          </p:cNvPr>
          <p:cNvSpPr>
            <a:spLocks noGrp="1"/>
          </p:cNvSpPr>
          <p:nvPr>
            <p:ph type="title" idx="100" hasCustomPrompt="1"/>
          </p:nvPr>
        </p:nvSpPr>
        <p:spPr>
          <a:xfrm>
            <a:off x="731520" y="2103120"/>
            <a:ext cx="6949440" cy="1371600"/>
          </a:xfrm>
          <a:prstGeom prst="rect">
            <a:avLst/>
          </a:prstGeom>
          <a:noFill/>
        </p:spPr>
        <p:txBody>
          <a:bodyPr wrap="square"/>
          <a:lstStyle>
            <a:lvl1pPr marL="0" indent="0" algn="l">
              <a:buNone/>
              <a:defRPr sz="4800" b="1">
                <a:solidFill>
                  <a:schemeClr val="bg1"/>
                </a:solidFill>
              </a:defRPr>
            </a:lvl1pPr>
          </a:lstStyle>
          <a:p>
            <a:pPr marL="0" indent="0" algn="l">
              <a:buNone/>
            </a:pPr>
            <a:endParaRPr sz="4800"/>
          </a:p>
        </p:txBody>
      </p:sp>
      <p:sp>
        <p:nvSpPr>
          <p:cNvPr id="3" name="Text 0">
            <a:extLst>
              <a:ext uri="{FF2B5EF4-FFF2-40B4-BE49-F238E27FC236}">
                <a16:creationId xmlns:a16="http://schemas.microsoft.com/office/drawing/2014/main" id="{BC8F71D8-4906-471C-A452-0686C7B68388}"/>
              </a:ext>
            </a:extLst>
          </p:cNvPr>
          <p:cNvSpPr>
            <a:spLocks noGrp="1"/>
          </p:cNvSpPr>
          <p:nvPr>
            <p:ph type="body" idx="101" hasCustomPrompt="1"/>
          </p:nvPr>
        </p:nvSpPr>
        <p:spPr>
          <a:xfrm>
            <a:off x="731520" y="3611880"/>
            <a:ext cx="6949440" cy="640080"/>
          </a:xfrm>
          <a:prstGeom prst="rect">
            <a:avLst/>
          </a:prstGeom>
          <a:noFill/>
        </p:spPr>
        <p:txBody>
          <a:bodyPr wrap="square"/>
          <a:lstStyle>
            <a:lvl1pPr marL="0" indent="0" algn="l">
              <a:buNone/>
              <a:defRPr sz="2800">
                <a:solidFill>
                  <a:schemeClr val="bg2"/>
                </a:solidFill>
              </a:defRPr>
            </a:lvl1pPr>
          </a:lstStyle>
          <a:p>
            <a:pPr marL="0" indent="0" algn="l">
              <a:buNone/>
            </a:pPr>
            <a:endParaRPr sz="28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6E43AD4-E391-424B-ABB2-D7EF55C3CBAF}"/>
              </a:ext>
            </a:extLst>
          </p:cNvPr>
          <p:cNvSpPr>
            <a:spLocks noGrp="1"/>
          </p:cNvSpPr>
          <p:nvPr>
            <p:ph type="title" idx="100" hasCustomPrompt="1"/>
          </p:nvPr>
        </p:nvSpPr>
        <p:spPr>
          <a:xfrm>
            <a:off x="1600200" y="457200"/>
            <a:ext cx="8138160" cy="822960"/>
          </a:xfrm>
          <a:prstGeom prst="rect">
            <a:avLst/>
          </a:prstGeom>
          <a:noFill/>
        </p:spPr>
        <p:txBody>
          <a:bodyPr wrap="square"/>
          <a:lstStyle>
            <a:lvl1pPr marL="0" indent="0" algn="l">
              <a:buNone/>
              <a:defRPr sz="3600" b="1">
                <a:solidFill>
                  <a:schemeClr val="tx2"/>
                </a:solidFill>
              </a:defRPr>
            </a:lvl1pPr>
          </a:lstStyle>
          <a:p>
            <a:pPr marL="0" indent="0" algn="l">
              <a:buNone/>
            </a:pPr>
            <a:endParaRPr sz="3600"/>
          </a:p>
        </p:txBody>
      </p:sp>
      <p:sp>
        <p:nvSpPr>
          <p:cNvPr id="3" name="Text 0">
            <a:extLst>
              <a:ext uri="{FF2B5EF4-FFF2-40B4-BE49-F238E27FC236}">
                <a16:creationId xmlns:a16="http://schemas.microsoft.com/office/drawing/2014/main" id="{BCBB6F63-0A19-4D0B-8499-56D4EE8531EF}"/>
              </a:ext>
            </a:extLst>
          </p:cNvPr>
          <p:cNvSpPr>
            <a:spLocks noGrp="1"/>
          </p:cNvSpPr>
          <p:nvPr/>
        </p:nvSpPr>
        <p:spPr>
          <a:xfrm>
            <a:off x="548640" y="6382512"/>
            <a:ext cx="5486400" cy="274320"/>
          </a:xfrm>
          <a:prstGeom prst="rect">
            <a:avLst/>
          </a:prstGeom>
          <a:noFill/>
        </p:spPr>
        <p:txBody>
          <a:bodyPr wrap="square" lIns="0" tIns="0" rIns="0" bIns="0" anchor="ctr"/>
          <a:lstStyle/>
          <a:p>
            <a:pPr marL="0" indent="0">
              <a:buNone/>
            </a:pPr>
            <a:r>
              <a:rPr sz="1000">
                <a:solidFill>
                  <a:schemeClr val="accent3"/>
                </a:solidFill>
              </a:rPr>
              <a:t>SÉSAM · Revue d'Itération 1</a:t>
            </a:r>
            <a:endParaRPr sz="1000"/>
          </a:p>
        </p:txBody>
      </p:sp>
      <p:sp>
        <p:nvSpPr>
          <p:cNvPr id="25" name="Slide Number Placeholder 0">
            <a:extLst>
              <a:ext uri="{FF2B5EF4-FFF2-40B4-BE49-F238E27FC236}">
                <a16:creationId xmlns:a16="http://schemas.microsoft.com/office/drawing/2014/main" id="{A4E332D9-778E-49AD-B73B-6152B724E4A3}"/>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accent3"/>
                </a:solidFill>
              </a:defRPr>
            </a:lvl1pPr>
          </a:lstStyle>
          <a:p>
            <a:pPr algn="r">
              <a:buNone/>
            </a:pPr>
            <a:fld id="{F7021451-1387-4CA6-816F-3879F97B5CBC}" type="slidenum">
              <a:rPr b="0"/>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TURE">
    <p:bg>
      <p:bgPr>
        <a:solidFill>
          <a:schemeClr val="tx2"/>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8CD370A-1E3B-4375-AE52-132C3A8DCE98}"/>
              </a:ext>
            </a:extLst>
          </p:cNvPr>
          <p:cNvSpPr>
            <a:spLocks noGrp="1"/>
          </p:cNvSpPr>
          <p:nvPr>
            <p:ph type="title" idx="100" hasCustomPrompt="1"/>
          </p:nvPr>
        </p:nvSpPr>
        <p:spPr>
          <a:xfrm>
            <a:off x="1600200" y="457200"/>
            <a:ext cx="8138160" cy="822960"/>
          </a:xfrm>
          <a:prstGeom prst="rect">
            <a:avLst/>
          </a:prstGeom>
          <a:noFill/>
        </p:spPr>
        <p:txBody>
          <a:bodyPr wrap="square"/>
          <a:lstStyle>
            <a:lvl1pPr marL="0" indent="0" algn="l">
              <a:buNone/>
              <a:defRPr sz="3600" b="1">
                <a:solidFill>
                  <a:schemeClr val="bg1"/>
                </a:solidFill>
              </a:defRPr>
            </a:lvl1pPr>
          </a:lstStyle>
          <a:p>
            <a:pPr marL="0" indent="0" algn="l">
              <a:buNone/>
            </a:pPr>
            <a:endParaRPr sz="3600"/>
          </a:p>
        </p:txBody>
      </p:sp>
      <p:sp>
        <p:nvSpPr>
          <p:cNvPr id="3" name="Text 0">
            <a:extLst>
              <a:ext uri="{FF2B5EF4-FFF2-40B4-BE49-F238E27FC236}">
                <a16:creationId xmlns:a16="http://schemas.microsoft.com/office/drawing/2014/main" id="{EE3EA617-FEB0-4905-A321-53274844ECF0}"/>
              </a:ext>
            </a:extLst>
          </p:cNvPr>
          <p:cNvSpPr>
            <a:spLocks noGrp="1"/>
          </p:cNvSpPr>
          <p:nvPr/>
        </p:nvSpPr>
        <p:spPr>
          <a:xfrm>
            <a:off x="548640" y="6382512"/>
            <a:ext cx="5486400" cy="274320"/>
          </a:xfrm>
          <a:prstGeom prst="rect">
            <a:avLst/>
          </a:prstGeom>
          <a:noFill/>
        </p:spPr>
        <p:txBody>
          <a:bodyPr wrap="square" lIns="0" tIns="0" rIns="0" bIns="0" anchor="ctr"/>
          <a:lstStyle/>
          <a:p>
            <a:pPr marL="0" indent="0">
              <a:buNone/>
            </a:pPr>
            <a:r>
              <a:rPr sz="1000">
                <a:solidFill>
                  <a:schemeClr val="bg2"/>
                </a:solidFill>
              </a:rPr>
              <a:t>SÉSAM · Revue d'Itération 1</a:t>
            </a:r>
            <a:endParaRPr sz="1000"/>
          </a:p>
        </p:txBody>
      </p:sp>
      <p:sp>
        <p:nvSpPr>
          <p:cNvPr id="25" name="Slide Number Placeholder 0">
            <a:extLst>
              <a:ext uri="{FF2B5EF4-FFF2-40B4-BE49-F238E27FC236}">
                <a16:creationId xmlns:a16="http://schemas.microsoft.com/office/drawing/2014/main" id="{63E693CF-9D30-473E-9274-7458A8EA2DE4}"/>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bg2"/>
                </a:solidFill>
              </a:defRPr>
            </a:lvl1pPr>
          </a:lstStyle>
          <a:p>
            <a:pPr algn="r">
              <a:buNone/>
            </a:pPr>
            <a:fld id="{F7021451-1387-4CA6-816F-3879F97B5CBC}" type="slidenum">
              <a:rPr b="0"/>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E115E509-0E93-44B5-A061-90BE66D958B5}"/>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accent3"/>
                </a:solidFill>
              </a:defRPr>
            </a:lvl1pPr>
          </a:lstStyle>
          <a:p>
            <a:pPr algn="r">
              <a:buNone/>
            </a:pPr>
            <a:fld id="{F7021451-1387-4CA6-816F-3879F97B5CBC}" type="slidenum">
              <a:rPr b="0"/>
              <a:t>‹N°›</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40571DF9-55CC-42BA-B72E-3FBBF40F4D58}"/>
              </a:ext>
            </a:extLst>
          </p:cNvPr>
          <p:cNvSpPr>
            <a:spLocks noGrp="1"/>
          </p:cNvSpPr>
          <p:nvPr>
            <p:ph type="title" idx="100" hasCustomPrompt="1"/>
          </p:nvPr>
        </p:nvSpPr>
        <p:spPr>
          <a:xfrm>
            <a:off x="731520" y="2103120"/>
            <a:ext cx="6949440" cy="1371600"/>
          </a:xfrm>
          <a:prstGeom prst="rect">
            <a:avLst/>
          </a:prstGeom>
          <a:noFill/>
        </p:spPr>
        <p:txBody>
          <a:bodyPr wrap="square" lIns="0" tIns="0" rIns="0" bIns="0" anchor="b"/>
          <a:lstStyle/>
          <a:p>
            <a:pPr marL="0" indent="0" algn="l">
              <a:buNone/>
            </a:pPr>
            <a:r>
              <a:rPr sz="4800" b="1">
                <a:solidFill>
                  <a:schemeClr val="bg1"/>
                </a:solidFill>
              </a:rPr>
              <a:t>Revue d'Itération 1</a:t>
            </a:r>
            <a:endParaRPr sz="4800"/>
          </a:p>
        </p:txBody>
      </p:sp>
      <p:sp>
        <p:nvSpPr>
          <p:cNvPr id="3" name="Text 0">
            <a:extLst>
              <a:ext uri="{FF2B5EF4-FFF2-40B4-BE49-F238E27FC236}">
                <a16:creationId xmlns:a16="http://schemas.microsoft.com/office/drawing/2014/main" id="{F2BCD79E-509A-4848-9E96-FA25A9B1C7AB}"/>
              </a:ext>
            </a:extLst>
          </p:cNvPr>
          <p:cNvSpPr>
            <a:spLocks noGrp="1"/>
          </p:cNvSpPr>
          <p:nvPr>
            <p:ph type="body" idx="101" hasCustomPrompt="1"/>
          </p:nvPr>
        </p:nvSpPr>
        <p:spPr>
          <a:xfrm>
            <a:off x="731520" y="3611880"/>
            <a:ext cx="6949440" cy="640080"/>
          </a:xfrm>
          <a:prstGeom prst="rect">
            <a:avLst/>
          </a:prstGeom>
          <a:noFill/>
        </p:spPr>
        <p:txBody>
          <a:bodyPr wrap="square" lIns="0" tIns="0" rIns="0" bIns="0" anchor="t"/>
          <a:lstStyle/>
          <a:p>
            <a:pPr marL="0" indent="0" algn="l">
              <a:buNone/>
            </a:pPr>
            <a:r>
              <a:rPr sz="2800">
                <a:solidFill>
                  <a:schemeClr val="bg2"/>
                </a:solidFill>
              </a:rPr>
              <a:t>SÉSAM</a:t>
            </a:r>
            <a:endParaRPr sz="2800"/>
          </a:p>
        </p:txBody>
      </p:sp>
      <p:sp>
        <p:nvSpPr>
          <p:cNvPr id="4" name="Date">
            <a:extLst>
              <a:ext uri="{FF2B5EF4-FFF2-40B4-BE49-F238E27FC236}">
                <a16:creationId xmlns:a16="http://schemas.microsoft.com/office/drawing/2014/main" id="{D152C1F3-5EDF-43F6-A3C1-8D13741F79F3}"/>
              </a:ext>
            </a:extLst>
          </p:cNvPr>
          <p:cNvSpPr>
            <a:spLocks noGrp="1"/>
          </p:cNvSpPr>
          <p:nvPr/>
        </p:nvSpPr>
        <p:spPr>
          <a:xfrm>
            <a:off x="731520" y="4663440"/>
            <a:ext cx="6400800" cy="411480"/>
          </a:xfrm>
          <a:prstGeom prst="rect">
            <a:avLst/>
          </a:prstGeom>
          <a:noFill/>
        </p:spPr>
        <p:txBody>
          <a:bodyPr wrap="square" lIns="0" tIns="0" rIns="0" bIns="0" anchor="ctr"/>
          <a:lstStyle/>
          <a:p>
            <a:pPr marL="0" indent="0">
              <a:buNone/>
            </a:pPr>
            <a:r>
              <a:rPr sz="1800">
                <a:solidFill>
                  <a:schemeClr val="bg2"/>
                </a:solidFill>
              </a:rPr>
              <a:t>Date : 09/10/2026</a:t>
            </a:r>
            <a:endParaRPr sz="1800"/>
          </a:p>
        </p:txBody>
      </p:sp>
      <p:sp>
        <p:nvSpPr>
          <p:cNvPr id="5" name="Équipe">
            <a:extLst>
              <a:ext uri="{FF2B5EF4-FFF2-40B4-BE49-F238E27FC236}">
                <a16:creationId xmlns:a16="http://schemas.microsoft.com/office/drawing/2014/main" id="{88FECEFD-80FC-4D5F-BCE9-C085D365455C}"/>
              </a:ext>
            </a:extLst>
          </p:cNvPr>
          <p:cNvSpPr>
            <a:spLocks noGrp="1"/>
          </p:cNvSpPr>
          <p:nvPr/>
        </p:nvSpPr>
        <p:spPr>
          <a:xfrm>
            <a:off x="731520" y="5166360"/>
            <a:ext cx="6400800" cy="411480"/>
          </a:xfrm>
          <a:prstGeom prst="rect">
            <a:avLst/>
          </a:prstGeom>
          <a:noFill/>
        </p:spPr>
        <p:txBody>
          <a:bodyPr wrap="square" lIns="0" tIns="0" rIns="0" bIns="0" anchor="ctr"/>
          <a:lstStyle/>
          <a:p>
            <a:pPr marL="0" indent="0">
              <a:buNone/>
            </a:pPr>
            <a:r>
              <a:rPr sz="1800">
                <a:solidFill>
                  <a:schemeClr val="bg2"/>
                </a:solidFill>
              </a:rPr>
              <a:t>Équipe : SGT LAUER · SGT PASQUIER · SGT MUSCAT · SGT HALIMI</a:t>
            </a:r>
            <a:endParaRPr sz="1800"/>
          </a:p>
        </p:txBody>
      </p:sp>
    </p:spTree>
    <p:extLst>
      <p:ext uri="{BB962C8B-B14F-4D97-AF65-F5344CB8AC3E}">
        <p14:creationId xmlns:p14="http://schemas.microsoft.com/office/powerpoint/2010/main" val="163195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Durée totale">
            <a:extLst>
              <a:ext uri="{FF2B5EF4-FFF2-40B4-BE49-F238E27FC236}">
                <a16:creationId xmlns:a16="http://schemas.microsoft.com/office/drawing/2014/main" id="{1CEAD345-5A9E-4B05-AFC7-DA9C708798AB}"/>
              </a:ext>
            </a:extLst>
          </p:cNvPr>
          <p:cNvSpPr>
            <a:spLocks noGrp="1"/>
          </p:cNvSpPr>
          <p:nvPr/>
        </p:nvSpPr>
        <p:spPr>
          <a:xfrm>
            <a:off x="548640" y="457200"/>
            <a:ext cx="822960" cy="822960"/>
          </a:xfrm>
          <a:prstGeom prst="ellipse">
            <a:avLst/>
          </a:prstGeom>
          <a:solidFill>
            <a:schemeClr val="accent1"/>
          </a:solidFill>
        </p:spPr>
        <p:txBody>
          <a:bodyPr wrap="square" lIns="0" tIns="0" rIns="0" bIns="0" anchor="ctr"/>
          <a:lstStyle/>
          <a:p>
            <a:pPr marL="0" indent="0" algn="ctr">
              <a:buNone/>
            </a:pPr>
            <a:r>
              <a:rPr sz="2600" b="1">
                <a:solidFill>
                  <a:schemeClr val="bg1"/>
                </a:solidFill>
              </a:rPr>
              <a:t>1h</a:t>
            </a:r>
            <a:endParaRPr sz="2600"/>
          </a:p>
        </p:txBody>
      </p:sp>
      <p:sp>
        <p:nvSpPr>
          <p:cNvPr id="3" name="Text 0">
            <a:extLst>
              <a:ext uri="{FF2B5EF4-FFF2-40B4-BE49-F238E27FC236}">
                <a16:creationId xmlns:a16="http://schemas.microsoft.com/office/drawing/2014/main" id="{A6CC82C3-C951-4242-BB14-0EE1A918EB4E}"/>
              </a:ext>
            </a:extLst>
          </p:cNvPr>
          <p:cNvSpPr>
            <a:spLocks noGrp="1"/>
          </p:cNvSpPr>
          <p:nvPr>
            <p:ph type="title" idx="100" hasCustomPrompt="1"/>
          </p:nvPr>
        </p:nvSpPr>
        <p:spPr>
          <a:xfrm>
            <a:off x="1600200" y="457200"/>
            <a:ext cx="8138160" cy="822960"/>
          </a:xfrm>
          <a:prstGeom prst="rect">
            <a:avLst/>
          </a:prstGeom>
          <a:noFill/>
        </p:spPr>
        <p:txBody>
          <a:bodyPr wrap="square" lIns="0" tIns="0" rIns="0" bIns="0" anchor="ctr"/>
          <a:lstStyle/>
          <a:p>
            <a:pPr marL="0" indent="0" algn="l">
              <a:buNone/>
            </a:pPr>
            <a:r>
              <a:rPr sz="3600" b="1">
                <a:solidFill>
                  <a:schemeClr val="tx2"/>
                </a:solidFill>
              </a:rPr>
              <a:t>Déroulé de la revue</a:t>
            </a:r>
            <a:endParaRPr sz="3600"/>
          </a:p>
        </p:txBody>
      </p:sp>
      <p:sp>
        <p:nvSpPr>
          <p:cNvPr id="5" name="Segment 1">
            <a:extLst>
              <a:ext uri="{FF2B5EF4-FFF2-40B4-BE49-F238E27FC236}">
                <a16:creationId xmlns:a16="http://schemas.microsoft.com/office/drawing/2014/main" id="{8ABA54CC-59DB-4F79-A54C-F1C45EF841F1}"/>
              </a:ext>
            </a:extLst>
          </p:cNvPr>
          <p:cNvSpPr>
            <a:spLocks noGrp="1"/>
          </p:cNvSpPr>
          <p:nvPr/>
        </p:nvSpPr>
        <p:spPr>
          <a:xfrm>
            <a:off x="548640" y="1600200"/>
            <a:ext cx="924306" cy="548640"/>
          </a:xfrm>
          <a:prstGeom prst="rect">
            <a:avLst/>
          </a:prstGeom>
          <a:solidFill>
            <a:schemeClr val="tx2"/>
          </a:solidFill>
          <a:ln w="19050">
            <a:solidFill>
              <a:schemeClr val="bg1"/>
            </a:solidFill>
          </a:ln>
        </p:spPr>
        <p:txBody>
          <a:bodyPr wrap="square" lIns="0" tIns="0" rIns="0" bIns="0" anchor="ctr"/>
          <a:lstStyle/>
          <a:p>
            <a:pPr marL="0" indent="0" algn="ctr">
              <a:buNone/>
            </a:pPr>
            <a:r>
              <a:rPr sz="1400" b="1">
                <a:solidFill>
                  <a:schemeClr val="bg1"/>
                </a:solidFill>
              </a:rPr>
              <a:t>1</a:t>
            </a:r>
            <a:endParaRPr sz="1400"/>
          </a:p>
        </p:txBody>
      </p:sp>
      <p:sp>
        <p:nvSpPr>
          <p:cNvPr id="6" name="Segment 2">
            <a:extLst>
              <a:ext uri="{FF2B5EF4-FFF2-40B4-BE49-F238E27FC236}">
                <a16:creationId xmlns:a16="http://schemas.microsoft.com/office/drawing/2014/main" id="{744F3A78-DAAD-43E4-9857-2AA8A73B52D8}"/>
              </a:ext>
            </a:extLst>
          </p:cNvPr>
          <p:cNvSpPr>
            <a:spLocks noGrp="1"/>
          </p:cNvSpPr>
          <p:nvPr/>
        </p:nvSpPr>
        <p:spPr>
          <a:xfrm>
            <a:off x="1472946" y="1600200"/>
            <a:ext cx="924306" cy="548640"/>
          </a:xfrm>
          <a:prstGeom prst="rect">
            <a:avLst/>
          </a:prstGeom>
          <a:solidFill>
            <a:schemeClr val="accent3"/>
          </a:solidFill>
          <a:ln w="19050">
            <a:solidFill>
              <a:schemeClr val="bg1"/>
            </a:solidFill>
          </a:ln>
        </p:spPr>
        <p:txBody>
          <a:bodyPr wrap="square" lIns="0" tIns="0" rIns="0" bIns="0" anchor="ctr"/>
          <a:lstStyle/>
          <a:p>
            <a:pPr marL="0" indent="0" algn="ctr">
              <a:buNone/>
            </a:pPr>
            <a:r>
              <a:rPr sz="1400" b="1">
                <a:solidFill>
                  <a:schemeClr val="bg1"/>
                </a:solidFill>
              </a:rPr>
              <a:t>2</a:t>
            </a:r>
            <a:endParaRPr sz="1400"/>
          </a:p>
        </p:txBody>
      </p:sp>
      <p:sp>
        <p:nvSpPr>
          <p:cNvPr id="7" name="Segment 3">
            <a:extLst>
              <a:ext uri="{FF2B5EF4-FFF2-40B4-BE49-F238E27FC236}">
                <a16:creationId xmlns:a16="http://schemas.microsoft.com/office/drawing/2014/main" id="{5CD2BC33-266D-4FBB-BAD4-6E2EF8CBA150}"/>
              </a:ext>
            </a:extLst>
          </p:cNvPr>
          <p:cNvSpPr>
            <a:spLocks noGrp="1"/>
          </p:cNvSpPr>
          <p:nvPr/>
        </p:nvSpPr>
        <p:spPr>
          <a:xfrm>
            <a:off x="2397252" y="1600200"/>
            <a:ext cx="1848612" cy="548640"/>
          </a:xfrm>
          <a:prstGeom prst="rect">
            <a:avLst/>
          </a:prstGeom>
          <a:solidFill>
            <a:schemeClr val="tx2"/>
          </a:solidFill>
          <a:ln w="19050">
            <a:solidFill>
              <a:schemeClr val="bg1"/>
            </a:solidFill>
          </a:ln>
        </p:spPr>
        <p:txBody>
          <a:bodyPr wrap="square" lIns="0" tIns="0" rIns="0" bIns="0" anchor="ctr"/>
          <a:lstStyle/>
          <a:p>
            <a:pPr marL="0" indent="0" algn="ctr">
              <a:buNone/>
            </a:pPr>
            <a:r>
              <a:rPr sz="1400" b="1">
                <a:solidFill>
                  <a:schemeClr val="bg1"/>
                </a:solidFill>
              </a:rPr>
              <a:t>3</a:t>
            </a:r>
            <a:endParaRPr sz="1400"/>
          </a:p>
        </p:txBody>
      </p:sp>
      <p:sp>
        <p:nvSpPr>
          <p:cNvPr id="8" name="Segment 4">
            <a:extLst>
              <a:ext uri="{FF2B5EF4-FFF2-40B4-BE49-F238E27FC236}">
                <a16:creationId xmlns:a16="http://schemas.microsoft.com/office/drawing/2014/main" id="{87046CC7-C002-47C7-9381-5A1A396C52AD}"/>
              </a:ext>
            </a:extLst>
          </p:cNvPr>
          <p:cNvSpPr>
            <a:spLocks noGrp="1"/>
          </p:cNvSpPr>
          <p:nvPr/>
        </p:nvSpPr>
        <p:spPr>
          <a:xfrm>
            <a:off x="4245864" y="1600200"/>
            <a:ext cx="924306" cy="548640"/>
          </a:xfrm>
          <a:prstGeom prst="rect">
            <a:avLst/>
          </a:prstGeom>
          <a:solidFill>
            <a:schemeClr val="accent3"/>
          </a:solidFill>
          <a:ln w="19050">
            <a:solidFill>
              <a:schemeClr val="bg1"/>
            </a:solidFill>
          </a:ln>
        </p:spPr>
        <p:txBody>
          <a:bodyPr wrap="square" lIns="0" tIns="0" rIns="0" bIns="0" anchor="ctr"/>
          <a:lstStyle/>
          <a:p>
            <a:pPr marL="0" indent="0" algn="ctr">
              <a:buNone/>
            </a:pPr>
            <a:r>
              <a:rPr sz="1400" b="1">
                <a:solidFill>
                  <a:schemeClr val="bg1"/>
                </a:solidFill>
              </a:rPr>
              <a:t>4</a:t>
            </a:r>
            <a:endParaRPr sz="1400"/>
          </a:p>
        </p:txBody>
      </p:sp>
      <p:sp>
        <p:nvSpPr>
          <p:cNvPr id="9" name="Segment 5">
            <a:extLst>
              <a:ext uri="{FF2B5EF4-FFF2-40B4-BE49-F238E27FC236}">
                <a16:creationId xmlns:a16="http://schemas.microsoft.com/office/drawing/2014/main" id="{2BCC90C5-0AE3-4C19-983C-B7D554E281AE}"/>
              </a:ext>
            </a:extLst>
          </p:cNvPr>
          <p:cNvSpPr>
            <a:spLocks noGrp="1"/>
          </p:cNvSpPr>
          <p:nvPr/>
        </p:nvSpPr>
        <p:spPr>
          <a:xfrm>
            <a:off x="5170170" y="1600200"/>
            <a:ext cx="924306" cy="548640"/>
          </a:xfrm>
          <a:prstGeom prst="rect">
            <a:avLst/>
          </a:prstGeom>
          <a:solidFill>
            <a:schemeClr val="tx2"/>
          </a:solidFill>
          <a:ln w="19050">
            <a:solidFill>
              <a:schemeClr val="bg1"/>
            </a:solidFill>
          </a:ln>
        </p:spPr>
        <p:txBody>
          <a:bodyPr wrap="square" lIns="0" tIns="0" rIns="0" bIns="0" anchor="ctr"/>
          <a:lstStyle/>
          <a:p>
            <a:pPr marL="0" indent="0" algn="ctr">
              <a:buNone/>
            </a:pPr>
            <a:r>
              <a:rPr sz="1400" b="1">
                <a:solidFill>
                  <a:schemeClr val="bg1"/>
                </a:solidFill>
              </a:rPr>
              <a:t>5</a:t>
            </a:r>
            <a:endParaRPr sz="1400"/>
          </a:p>
        </p:txBody>
      </p:sp>
      <p:sp>
        <p:nvSpPr>
          <p:cNvPr id="10" name="Segment 6">
            <a:extLst>
              <a:ext uri="{FF2B5EF4-FFF2-40B4-BE49-F238E27FC236}">
                <a16:creationId xmlns:a16="http://schemas.microsoft.com/office/drawing/2014/main" id="{6090441A-3DBF-4717-8BE9-280C92AD609A}"/>
              </a:ext>
            </a:extLst>
          </p:cNvPr>
          <p:cNvSpPr>
            <a:spLocks noGrp="1"/>
          </p:cNvSpPr>
          <p:nvPr/>
        </p:nvSpPr>
        <p:spPr>
          <a:xfrm>
            <a:off x="6094476" y="1600200"/>
            <a:ext cx="1848612" cy="548640"/>
          </a:xfrm>
          <a:prstGeom prst="rect">
            <a:avLst/>
          </a:prstGeom>
          <a:solidFill>
            <a:schemeClr val="accent3"/>
          </a:solidFill>
          <a:ln w="19050">
            <a:solidFill>
              <a:schemeClr val="bg1"/>
            </a:solidFill>
          </a:ln>
        </p:spPr>
        <p:txBody>
          <a:bodyPr wrap="square" lIns="0" tIns="0" rIns="0" bIns="0" anchor="ctr"/>
          <a:lstStyle/>
          <a:p>
            <a:pPr marL="0" indent="0" algn="ctr">
              <a:buNone/>
            </a:pPr>
            <a:r>
              <a:rPr sz="1400" b="1">
                <a:solidFill>
                  <a:schemeClr val="bg1"/>
                </a:solidFill>
              </a:rPr>
              <a:t>6</a:t>
            </a:r>
            <a:endParaRPr sz="1400"/>
          </a:p>
        </p:txBody>
      </p:sp>
      <p:sp>
        <p:nvSpPr>
          <p:cNvPr id="11" name="Segment 7">
            <a:extLst>
              <a:ext uri="{FF2B5EF4-FFF2-40B4-BE49-F238E27FC236}">
                <a16:creationId xmlns:a16="http://schemas.microsoft.com/office/drawing/2014/main" id="{C4F48448-C781-4237-A36C-CEDE53B05AD3}"/>
              </a:ext>
            </a:extLst>
          </p:cNvPr>
          <p:cNvSpPr>
            <a:spLocks noGrp="1"/>
          </p:cNvSpPr>
          <p:nvPr/>
        </p:nvSpPr>
        <p:spPr>
          <a:xfrm>
            <a:off x="7943088" y="1600200"/>
            <a:ext cx="924306" cy="548640"/>
          </a:xfrm>
          <a:prstGeom prst="rect">
            <a:avLst/>
          </a:prstGeom>
          <a:solidFill>
            <a:schemeClr val="tx2"/>
          </a:solidFill>
          <a:ln w="19050">
            <a:solidFill>
              <a:schemeClr val="bg1"/>
            </a:solidFill>
          </a:ln>
        </p:spPr>
        <p:txBody>
          <a:bodyPr wrap="square" lIns="0" tIns="0" rIns="0" bIns="0" anchor="ctr"/>
          <a:lstStyle/>
          <a:p>
            <a:pPr marL="0" indent="0" algn="ctr">
              <a:buNone/>
            </a:pPr>
            <a:r>
              <a:rPr sz="1400" b="1">
                <a:solidFill>
                  <a:schemeClr val="bg1"/>
                </a:solidFill>
              </a:rPr>
              <a:t>7</a:t>
            </a:r>
            <a:endParaRPr sz="1400"/>
          </a:p>
        </p:txBody>
      </p:sp>
      <p:sp>
        <p:nvSpPr>
          <p:cNvPr id="12" name="Segment 8">
            <a:extLst>
              <a:ext uri="{FF2B5EF4-FFF2-40B4-BE49-F238E27FC236}">
                <a16:creationId xmlns:a16="http://schemas.microsoft.com/office/drawing/2014/main" id="{44A9186F-18C5-4B9B-831D-1A20C7B3B6E9}"/>
              </a:ext>
            </a:extLst>
          </p:cNvPr>
          <p:cNvSpPr>
            <a:spLocks noGrp="1"/>
          </p:cNvSpPr>
          <p:nvPr/>
        </p:nvSpPr>
        <p:spPr>
          <a:xfrm>
            <a:off x="8867394" y="1600200"/>
            <a:ext cx="1848612" cy="548640"/>
          </a:xfrm>
          <a:prstGeom prst="rect">
            <a:avLst/>
          </a:prstGeom>
          <a:solidFill>
            <a:schemeClr val="accent3"/>
          </a:solidFill>
          <a:ln w="19050">
            <a:solidFill>
              <a:schemeClr val="bg1"/>
            </a:solidFill>
          </a:ln>
        </p:spPr>
        <p:txBody>
          <a:bodyPr wrap="square" lIns="0" tIns="0" rIns="0" bIns="0" anchor="ctr"/>
          <a:lstStyle/>
          <a:p>
            <a:pPr marL="0" indent="0" algn="ctr">
              <a:buNone/>
            </a:pPr>
            <a:r>
              <a:rPr sz="1400" b="1">
                <a:solidFill>
                  <a:schemeClr val="bg1"/>
                </a:solidFill>
              </a:rPr>
              <a:t>8</a:t>
            </a:r>
            <a:endParaRPr sz="1400"/>
          </a:p>
        </p:txBody>
      </p:sp>
      <p:sp>
        <p:nvSpPr>
          <p:cNvPr id="13" name="Segment 9">
            <a:extLst>
              <a:ext uri="{FF2B5EF4-FFF2-40B4-BE49-F238E27FC236}">
                <a16:creationId xmlns:a16="http://schemas.microsoft.com/office/drawing/2014/main" id="{051542F3-EEE8-40B3-A1FF-151E7EE9AC24}"/>
              </a:ext>
            </a:extLst>
          </p:cNvPr>
          <p:cNvSpPr>
            <a:spLocks noGrp="1"/>
          </p:cNvSpPr>
          <p:nvPr/>
        </p:nvSpPr>
        <p:spPr>
          <a:xfrm>
            <a:off x="10716006" y="1600200"/>
            <a:ext cx="554584" cy="548640"/>
          </a:xfrm>
          <a:prstGeom prst="rect">
            <a:avLst/>
          </a:prstGeom>
          <a:solidFill>
            <a:schemeClr val="tx2"/>
          </a:solidFill>
          <a:ln w="19050">
            <a:solidFill>
              <a:schemeClr val="bg1"/>
            </a:solidFill>
          </a:ln>
        </p:spPr>
        <p:txBody>
          <a:bodyPr wrap="square" lIns="0" tIns="0" rIns="0" bIns="0" anchor="ctr"/>
          <a:lstStyle/>
          <a:p>
            <a:pPr marL="0" indent="0" algn="ctr">
              <a:buNone/>
            </a:pPr>
            <a:r>
              <a:rPr sz="1400" b="1">
                <a:solidFill>
                  <a:schemeClr val="bg1"/>
                </a:solidFill>
              </a:rPr>
              <a:t>9</a:t>
            </a:r>
            <a:endParaRPr sz="1400"/>
          </a:p>
        </p:txBody>
      </p:sp>
      <p:sp>
        <p:nvSpPr>
          <p:cNvPr id="14" name="Segment 10">
            <a:extLst>
              <a:ext uri="{FF2B5EF4-FFF2-40B4-BE49-F238E27FC236}">
                <a16:creationId xmlns:a16="http://schemas.microsoft.com/office/drawing/2014/main" id="{D3AFB969-719D-481F-B65F-BAA10961A60B}"/>
              </a:ext>
            </a:extLst>
          </p:cNvPr>
          <p:cNvSpPr>
            <a:spLocks noGrp="1"/>
          </p:cNvSpPr>
          <p:nvPr/>
        </p:nvSpPr>
        <p:spPr>
          <a:xfrm>
            <a:off x="11270590" y="1600200"/>
            <a:ext cx="369722" cy="548640"/>
          </a:xfrm>
          <a:prstGeom prst="rect">
            <a:avLst/>
          </a:prstGeom>
          <a:solidFill>
            <a:schemeClr val="accent3"/>
          </a:solidFill>
          <a:ln w="19050">
            <a:solidFill>
              <a:schemeClr val="bg1"/>
            </a:solidFill>
          </a:ln>
        </p:spPr>
        <p:txBody>
          <a:bodyPr wrap="square" lIns="0" tIns="0" rIns="0" bIns="0" anchor="ctr"/>
          <a:lstStyle/>
          <a:p>
            <a:pPr marL="0" indent="0" algn="ctr">
              <a:buNone/>
            </a:pPr>
            <a:r>
              <a:rPr sz="1400" b="1">
                <a:solidFill>
                  <a:schemeClr val="bg1"/>
                </a:solidFill>
              </a:rPr>
              <a:t>10</a:t>
            </a:r>
            <a:endParaRPr sz="1400"/>
          </a:p>
        </p:txBody>
      </p:sp>
      <p:sp>
        <p:nvSpPr>
          <p:cNvPr id="15" name="Ligne 1">
            <a:extLst>
              <a:ext uri="{FF2B5EF4-FFF2-40B4-BE49-F238E27FC236}">
                <a16:creationId xmlns:a16="http://schemas.microsoft.com/office/drawing/2014/main" id="{117B96A9-2ED6-4A53-A3D0-21FB70EB465E}"/>
              </a:ext>
            </a:extLst>
          </p:cNvPr>
          <p:cNvSpPr>
            <a:spLocks noGrp="1"/>
          </p:cNvSpPr>
          <p:nvPr/>
        </p:nvSpPr>
        <p:spPr>
          <a:xfrm>
            <a:off x="548640" y="2560320"/>
            <a:ext cx="5408676" cy="603504"/>
          </a:xfrm>
          <a:prstGeom prst="roundRect">
            <a:avLst>
              <a:gd name="adj" fmla="val 15152"/>
            </a:avLst>
          </a:prstGeom>
          <a:solidFill>
            <a:schemeClr val="bg2"/>
          </a:solidFill>
        </p:spPr>
        <p:txBody>
          <a:bodyPr/>
          <a:lstStyle/>
          <a:p>
            <a:endParaRPr/>
          </a:p>
        </p:txBody>
      </p:sp>
      <p:sp>
        <p:nvSpPr>
          <p:cNvPr id="16" name="N° 1">
            <a:extLst>
              <a:ext uri="{FF2B5EF4-FFF2-40B4-BE49-F238E27FC236}">
                <a16:creationId xmlns:a16="http://schemas.microsoft.com/office/drawing/2014/main" id="{EFC3C0B4-FED2-42B2-A302-6727C17F3230}"/>
              </a:ext>
            </a:extLst>
          </p:cNvPr>
          <p:cNvSpPr>
            <a:spLocks noGrp="1"/>
          </p:cNvSpPr>
          <p:nvPr/>
        </p:nvSpPr>
        <p:spPr>
          <a:xfrm>
            <a:off x="658368" y="2633472"/>
            <a:ext cx="457200" cy="457200"/>
          </a:xfrm>
          <a:prstGeom prst="ellipse">
            <a:avLst/>
          </a:prstGeom>
          <a:solidFill>
            <a:schemeClr val="accent1"/>
          </a:solidFill>
        </p:spPr>
        <p:txBody>
          <a:bodyPr wrap="square" lIns="0" tIns="0" rIns="0" bIns="0" anchor="ctr"/>
          <a:lstStyle/>
          <a:p>
            <a:pPr marL="0" indent="0" algn="ctr">
              <a:buNone/>
            </a:pPr>
            <a:r>
              <a:rPr sz="1400" b="1">
                <a:solidFill>
                  <a:schemeClr val="bg1"/>
                </a:solidFill>
              </a:rPr>
              <a:t>1</a:t>
            </a:r>
            <a:endParaRPr sz="1400"/>
          </a:p>
        </p:txBody>
      </p:sp>
      <p:sp>
        <p:nvSpPr>
          <p:cNvPr id="17" name="Titre 1">
            <a:extLst>
              <a:ext uri="{FF2B5EF4-FFF2-40B4-BE49-F238E27FC236}">
                <a16:creationId xmlns:a16="http://schemas.microsoft.com/office/drawing/2014/main" id="{6385AC57-66BA-4380-BE4B-6D1FF07EE9A9}"/>
              </a:ext>
            </a:extLst>
          </p:cNvPr>
          <p:cNvSpPr>
            <a:spLocks noGrp="1"/>
          </p:cNvSpPr>
          <p:nvPr/>
        </p:nvSpPr>
        <p:spPr>
          <a:xfrm>
            <a:off x="1280160" y="2560320"/>
            <a:ext cx="3488436" cy="603504"/>
          </a:xfrm>
          <a:prstGeom prst="rect">
            <a:avLst/>
          </a:prstGeom>
          <a:noFill/>
        </p:spPr>
        <p:txBody>
          <a:bodyPr wrap="square" lIns="0" tIns="0" rIns="0" bIns="0" anchor="ctr"/>
          <a:lstStyle/>
          <a:p>
            <a:pPr marL="0" indent="0">
              <a:buNone/>
            </a:pPr>
            <a:r>
              <a:rPr sz="1600" b="1" dirty="0" err="1">
                <a:solidFill>
                  <a:schemeClr val="tx2"/>
                </a:solidFill>
              </a:rPr>
              <a:t>Ouverture</a:t>
            </a:r>
            <a:r>
              <a:rPr sz="1600" b="1" dirty="0">
                <a:solidFill>
                  <a:schemeClr val="tx2"/>
                </a:solidFill>
              </a:rPr>
              <a:t> &amp; rappel du cadre</a:t>
            </a:r>
            <a:endParaRPr sz="1600" dirty="0"/>
          </a:p>
        </p:txBody>
      </p:sp>
      <p:sp>
        <p:nvSpPr>
          <p:cNvPr id="18" name="Durée 1">
            <a:extLst>
              <a:ext uri="{FF2B5EF4-FFF2-40B4-BE49-F238E27FC236}">
                <a16:creationId xmlns:a16="http://schemas.microsoft.com/office/drawing/2014/main" id="{B22B9A93-B8B0-4305-B0D6-0532B1F689E7}"/>
              </a:ext>
            </a:extLst>
          </p:cNvPr>
          <p:cNvSpPr>
            <a:spLocks noGrp="1"/>
          </p:cNvSpPr>
          <p:nvPr/>
        </p:nvSpPr>
        <p:spPr>
          <a:xfrm>
            <a:off x="4860036" y="2560320"/>
            <a:ext cx="960120" cy="603504"/>
          </a:xfrm>
          <a:prstGeom prst="rect">
            <a:avLst/>
          </a:prstGeom>
          <a:noFill/>
        </p:spPr>
        <p:txBody>
          <a:bodyPr wrap="square" lIns="0" tIns="0" rIns="0" bIns="0" anchor="ctr"/>
          <a:lstStyle/>
          <a:p>
            <a:pPr marL="0" indent="0" algn="r">
              <a:buNone/>
            </a:pPr>
            <a:r>
              <a:rPr sz="1600" b="1">
                <a:solidFill>
                  <a:schemeClr val="tx1"/>
                </a:solidFill>
              </a:rPr>
              <a:t>5 min</a:t>
            </a:r>
            <a:endParaRPr sz="1600"/>
          </a:p>
        </p:txBody>
      </p:sp>
      <p:sp>
        <p:nvSpPr>
          <p:cNvPr id="19" name="Ligne 2">
            <a:extLst>
              <a:ext uri="{FF2B5EF4-FFF2-40B4-BE49-F238E27FC236}">
                <a16:creationId xmlns:a16="http://schemas.microsoft.com/office/drawing/2014/main" id="{3163A91E-3575-4DF8-846A-2701D51ABEF4}"/>
              </a:ext>
            </a:extLst>
          </p:cNvPr>
          <p:cNvSpPr>
            <a:spLocks noGrp="1"/>
          </p:cNvSpPr>
          <p:nvPr/>
        </p:nvSpPr>
        <p:spPr>
          <a:xfrm>
            <a:off x="548640" y="3291840"/>
            <a:ext cx="5408676" cy="603504"/>
          </a:xfrm>
          <a:prstGeom prst="roundRect">
            <a:avLst>
              <a:gd name="adj" fmla="val 15152"/>
            </a:avLst>
          </a:prstGeom>
          <a:solidFill>
            <a:schemeClr val="bg2"/>
          </a:solidFill>
        </p:spPr>
        <p:txBody>
          <a:bodyPr/>
          <a:lstStyle/>
          <a:p>
            <a:endParaRPr/>
          </a:p>
        </p:txBody>
      </p:sp>
      <p:sp>
        <p:nvSpPr>
          <p:cNvPr id="20" name="N° 2">
            <a:extLst>
              <a:ext uri="{FF2B5EF4-FFF2-40B4-BE49-F238E27FC236}">
                <a16:creationId xmlns:a16="http://schemas.microsoft.com/office/drawing/2014/main" id="{F099A85F-75B2-4610-9A54-8C8386102122}"/>
              </a:ext>
            </a:extLst>
          </p:cNvPr>
          <p:cNvSpPr>
            <a:spLocks noGrp="1"/>
          </p:cNvSpPr>
          <p:nvPr/>
        </p:nvSpPr>
        <p:spPr>
          <a:xfrm>
            <a:off x="658368" y="3364992"/>
            <a:ext cx="457200" cy="457200"/>
          </a:xfrm>
          <a:prstGeom prst="ellipse">
            <a:avLst/>
          </a:prstGeom>
          <a:solidFill>
            <a:schemeClr val="accent1"/>
          </a:solidFill>
        </p:spPr>
        <p:txBody>
          <a:bodyPr wrap="square" lIns="0" tIns="0" rIns="0" bIns="0" anchor="ctr"/>
          <a:lstStyle/>
          <a:p>
            <a:pPr marL="0" indent="0" algn="ctr">
              <a:buNone/>
            </a:pPr>
            <a:r>
              <a:rPr sz="1400" b="1">
                <a:solidFill>
                  <a:schemeClr val="bg1"/>
                </a:solidFill>
              </a:rPr>
              <a:t>2</a:t>
            </a:r>
            <a:endParaRPr sz="1400"/>
          </a:p>
        </p:txBody>
      </p:sp>
      <p:sp>
        <p:nvSpPr>
          <p:cNvPr id="21" name="Titre 2">
            <a:extLst>
              <a:ext uri="{FF2B5EF4-FFF2-40B4-BE49-F238E27FC236}">
                <a16:creationId xmlns:a16="http://schemas.microsoft.com/office/drawing/2014/main" id="{646F82FE-5154-4AAA-910D-5A6949161546}"/>
              </a:ext>
            </a:extLst>
          </p:cNvPr>
          <p:cNvSpPr>
            <a:spLocks noGrp="1"/>
          </p:cNvSpPr>
          <p:nvPr/>
        </p:nvSpPr>
        <p:spPr>
          <a:xfrm>
            <a:off x="1280160" y="3291840"/>
            <a:ext cx="3488436" cy="603504"/>
          </a:xfrm>
          <a:prstGeom prst="rect">
            <a:avLst/>
          </a:prstGeom>
          <a:noFill/>
        </p:spPr>
        <p:txBody>
          <a:bodyPr wrap="square" lIns="0" tIns="0" rIns="0" bIns="0" anchor="ctr"/>
          <a:lstStyle/>
          <a:p>
            <a:pPr marL="0" indent="0">
              <a:buNone/>
            </a:pPr>
            <a:r>
              <a:rPr sz="1600" b="1">
                <a:solidFill>
                  <a:schemeClr val="tx2"/>
                </a:solidFill>
              </a:rPr>
              <a:t>Vision du produit</a:t>
            </a:r>
            <a:endParaRPr sz="1600"/>
          </a:p>
        </p:txBody>
      </p:sp>
      <p:sp>
        <p:nvSpPr>
          <p:cNvPr id="22" name="Durée 2">
            <a:extLst>
              <a:ext uri="{FF2B5EF4-FFF2-40B4-BE49-F238E27FC236}">
                <a16:creationId xmlns:a16="http://schemas.microsoft.com/office/drawing/2014/main" id="{23F348A7-1967-4783-B790-98EFD7EC3217}"/>
              </a:ext>
            </a:extLst>
          </p:cNvPr>
          <p:cNvSpPr>
            <a:spLocks noGrp="1"/>
          </p:cNvSpPr>
          <p:nvPr/>
        </p:nvSpPr>
        <p:spPr>
          <a:xfrm>
            <a:off x="4860036" y="3291840"/>
            <a:ext cx="960120" cy="603504"/>
          </a:xfrm>
          <a:prstGeom prst="rect">
            <a:avLst/>
          </a:prstGeom>
          <a:noFill/>
        </p:spPr>
        <p:txBody>
          <a:bodyPr wrap="square" lIns="0" tIns="0" rIns="0" bIns="0" anchor="ctr"/>
          <a:lstStyle/>
          <a:p>
            <a:pPr marL="0" indent="0" algn="r">
              <a:buNone/>
            </a:pPr>
            <a:r>
              <a:rPr sz="1600" b="1">
                <a:solidFill>
                  <a:schemeClr val="tx1"/>
                </a:solidFill>
              </a:rPr>
              <a:t>5 min</a:t>
            </a:r>
            <a:endParaRPr sz="1600"/>
          </a:p>
        </p:txBody>
      </p:sp>
      <p:sp>
        <p:nvSpPr>
          <p:cNvPr id="23" name="Ligne 3">
            <a:extLst>
              <a:ext uri="{FF2B5EF4-FFF2-40B4-BE49-F238E27FC236}">
                <a16:creationId xmlns:a16="http://schemas.microsoft.com/office/drawing/2014/main" id="{FF1B1C09-C553-4A2F-B494-E581A97FFCC2}"/>
              </a:ext>
            </a:extLst>
          </p:cNvPr>
          <p:cNvSpPr>
            <a:spLocks noGrp="1"/>
          </p:cNvSpPr>
          <p:nvPr/>
        </p:nvSpPr>
        <p:spPr>
          <a:xfrm>
            <a:off x="548640" y="4023360"/>
            <a:ext cx="5408676" cy="603504"/>
          </a:xfrm>
          <a:prstGeom prst="roundRect">
            <a:avLst>
              <a:gd name="adj" fmla="val 15152"/>
            </a:avLst>
          </a:prstGeom>
          <a:solidFill>
            <a:schemeClr val="bg2"/>
          </a:solidFill>
        </p:spPr>
        <p:txBody>
          <a:bodyPr/>
          <a:lstStyle/>
          <a:p>
            <a:endParaRPr/>
          </a:p>
        </p:txBody>
      </p:sp>
      <p:sp>
        <p:nvSpPr>
          <p:cNvPr id="24" name="N° 3">
            <a:extLst>
              <a:ext uri="{FF2B5EF4-FFF2-40B4-BE49-F238E27FC236}">
                <a16:creationId xmlns:a16="http://schemas.microsoft.com/office/drawing/2014/main" id="{E81127A1-8612-4DD4-B99B-F7933C82E1F0}"/>
              </a:ext>
            </a:extLst>
          </p:cNvPr>
          <p:cNvSpPr>
            <a:spLocks noGrp="1"/>
          </p:cNvSpPr>
          <p:nvPr/>
        </p:nvSpPr>
        <p:spPr>
          <a:xfrm>
            <a:off x="658368" y="4096512"/>
            <a:ext cx="457200" cy="457200"/>
          </a:xfrm>
          <a:prstGeom prst="ellipse">
            <a:avLst/>
          </a:prstGeom>
          <a:solidFill>
            <a:schemeClr val="accent1"/>
          </a:solidFill>
        </p:spPr>
        <p:txBody>
          <a:bodyPr wrap="square" lIns="0" tIns="0" rIns="0" bIns="0" anchor="ctr"/>
          <a:lstStyle/>
          <a:p>
            <a:pPr marL="0" indent="0" algn="ctr">
              <a:buNone/>
            </a:pPr>
            <a:r>
              <a:rPr sz="1400" b="1">
                <a:solidFill>
                  <a:schemeClr val="bg1"/>
                </a:solidFill>
              </a:rPr>
              <a:t>3</a:t>
            </a:r>
            <a:endParaRPr sz="1400"/>
          </a:p>
        </p:txBody>
      </p:sp>
      <p:sp>
        <p:nvSpPr>
          <p:cNvPr id="25" name="Titre 3">
            <a:extLst>
              <a:ext uri="{FF2B5EF4-FFF2-40B4-BE49-F238E27FC236}">
                <a16:creationId xmlns:a16="http://schemas.microsoft.com/office/drawing/2014/main" id="{1948B4BA-FE62-40EF-9899-7E22445DE581}"/>
              </a:ext>
            </a:extLst>
          </p:cNvPr>
          <p:cNvSpPr>
            <a:spLocks noGrp="1"/>
          </p:cNvSpPr>
          <p:nvPr/>
        </p:nvSpPr>
        <p:spPr>
          <a:xfrm>
            <a:off x="1280160" y="4023360"/>
            <a:ext cx="3488436" cy="603504"/>
          </a:xfrm>
          <a:prstGeom prst="rect">
            <a:avLst/>
          </a:prstGeom>
          <a:noFill/>
        </p:spPr>
        <p:txBody>
          <a:bodyPr wrap="square" lIns="0" tIns="0" rIns="0" bIns="0" anchor="ctr"/>
          <a:lstStyle/>
          <a:p>
            <a:pPr marL="0" indent="0">
              <a:buNone/>
            </a:pPr>
            <a:r>
              <a:rPr sz="1600" b="1">
                <a:solidFill>
                  <a:schemeClr val="tx2"/>
                </a:solidFill>
              </a:rPr>
              <a:t>Synthèse du recueil du besoin</a:t>
            </a:r>
            <a:endParaRPr sz="1600"/>
          </a:p>
        </p:txBody>
      </p:sp>
      <p:sp>
        <p:nvSpPr>
          <p:cNvPr id="26" name="Durée 3">
            <a:extLst>
              <a:ext uri="{FF2B5EF4-FFF2-40B4-BE49-F238E27FC236}">
                <a16:creationId xmlns:a16="http://schemas.microsoft.com/office/drawing/2014/main" id="{8DA1E658-E1FC-43E6-8794-7C0D63C04001}"/>
              </a:ext>
            </a:extLst>
          </p:cNvPr>
          <p:cNvSpPr>
            <a:spLocks noGrp="1"/>
          </p:cNvSpPr>
          <p:nvPr/>
        </p:nvSpPr>
        <p:spPr>
          <a:xfrm>
            <a:off x="4860036" y="4023360"/>
            <a:ext cx="960120" cy="603504"/>
          </a:xfrm>
          <a:prstGeom prst="rect">
            <a:avLst/>
          </a:prstGeom>
          <a:noFill/>
        </p:spPr>
        <p:txBody>
          <a:bodyPr wrap="square" lIns="0" tIns="0" rIns="0" bIns="0" anchor="ctr"/>
          <a:lstStyle/>
          <a:p>
            <a:pPr marL="0" indent="0" algn="r">
              <a:buNone/>
            </a:pPr>
            <a:r>
              <a:rPr sz="1600" b="1">
                <a:solidFill>
                  <a:schemeClr val="tx1"/>
                </a:solidFill>
              </a:rPr>
              <a:t>10 min</a:t>
            </a:r>
            <a:endParaRPr sz="1600"/>
          </a:p>
        </p:txBody>
      </p:sp>
      <p:sp>
        <p:nvSpPr>
          <p:cNvPr id="27" name="Ligne 4">
            <a:extLst>
              <a:ext uri="{FF2B5EF4-FFF2-40B4-BE49-F238E27FC236}">
                <a16:creationId xmlns:a16="http://schemas.microsoft.com/office/drawing/2014/main" id="{BDC1CAB6-6AE6-4504-8BD4-E685745489B6}"/>
              </a:ext>
            </a:extLst>
          </p:cNvPr>
          <p:cNvSpPr>
            <a:spLocks noGrp="1"/>
          </p:cNvSpPr>
          <p:nvPr/>
        </p:nvSpPr>
        <p:spPr>
          <a:xfrm>
            <a:off x="548640" y="4754880"/>
            <a:ext cx="5408676" cy="603504"/>
          </a:xfrm>
          <a:prstGeom prst="roundRect">
            <a:avLst>
              <a:gd name="adj" fmla="val 15152"/>
            </a:avLst>
          </a:prstGeom>
          <a:solidFill>
            <a:schemeClr val="bg2"/>
          </a:solidFill>
        </p:spPr>
        <p:txBody>
          <a:bodyPr/>
          <a:lstStyle/>
          <a:p>
            <a:endParaRPr/>
          </a:p>
        </p:txBody>
      </p:sp>
      <p:sp>
        <p:nvSpPr>
          <p:cNvPr id="28" name="N° 4">
            <a:extLst>
              <a:ext uri="{FF2B5EF4-FFF2-40B4-BE49-F238E27FC236}">
                <a16:creationId xmlns:a16="http://schemas.microsoft.com/office/drawing/2014/main" id="{1BAEA75F-4D94-431D-9E33-9CC08FFCCD43}"/>
              </a:ext>
            </a:extLst>
          </p:cNvPr>
          <p:cNvSpPr>
            <a:spLocks noGrp="1"/>
          </p:cNvSpPr>
          <p:nvPr/>
        </p:nvSpPr>
        <p:spPr>
          <a:xfrm>
            <a:off x="658368" y="4828032"/>
            <a:ext cx="457200" cy="457200"/>
          </a:xfrm>
          <a:prstGeom prst="ellipse">
            <a:avLst/>
          </a:prstGeom>
          <a:solidFill>
            <a:schemeClr val="accent1"/>
          </a:solidFill>
        </p:spPr>
        <p:txBody>
          <a:bodyPr wrap="square" lIns="0" tIns="0" rIns="0" bIns="0" anchor="ctr"/>
          <a:lstStyle/>
          <a:p>
            <a:pPr marL="0" indent="0" algn="ctr">
              <a:buNone/>
            </a:pPr>
            <a:r>
              <a:rPr sz="1400" b="1">
                <a:solidFill>
                  <a:schemeClr val="bg1"/>
                </a:solidFill>
              </a:rPr>
              <a:t>4</a:t>
            </a:r>
            <a:endParaRPr sz="1400"/>
          </a:p>
        </p:txBody>
      </p:sp>
      <p:sp>
        <p:nvSpPr>
          <p:cNvPr id="29" name="Titre 4">
            <a:extLst>
              <a:ext uri="{FF2B5EF4-FFF2-40B4-BE49-F238E27FC236}">
                <a16:creationId xmlns:a16="http://schemas.microsoft.com/office/drawing/2014/main" id="{CEB617DE-BFAE-4EEE-AAE4-F191E1FDAF0A}"/>
              </a:ext>
            </a:extLst>
          </p:cNvPr>
          <p:cNvSpPr>
            <a:spLocks noGrp="1"/>
          </p:cNvSpPr>
          <p:nvPr/>
        </p:nvSpPr>
        <p:spPr>
          <a:xfrm>
            <a:off x="1280160" y="4754880"/>
            <a:ext cx="3488436" cy="603504"/>
          </a:xfrm>
          <a:prstGeom prst="rect">
            <a:avLst/>
          </a:prstGeom>
          <a:noFill/>
        </p:spPr>
        <p:txBody>
          <a:bodyPr wrap="square" lIns="0" tIns="0" rIns="0" bIns="0" anchor="ctr"/>
          <a:lstStyle/>
          <a:p>
            <a:pPr marL="0" indent="0">
              <a:buNone/>
            </a:pPr>
            <a:r>
              <a:rPr sz="1600" b="1">
                <a:solidFill>
                  <a:schemeClr val="tx2"/>
                </a:solidFill>
              </a:rPr>
              <a:t>Présentation des personas</a:t>
            </a:r>
            <a:endParaRPr sz="1600"/>
          </a:p>
        </p:txBody>
      </p:sp>
      <p:sp>
        <p:nvSpPr>
          <p:cNvPr id="30" name="Durée 4">
            <a:extLst>
              <a:ext uri="{FF2B5EF4-FFF2-40B4-BE49-F238E27FC236}">
                <a16:creationId xmlns:a16="http://schemas.microsoft.com/office/drawing/2014/main" id="{3155E9E7-48FC-415C-89AC-F3B1D9A32F8D}"/>
              </a:ext>
            </a:extLst>
          </p:cNvPr>
          <p:cNvSpPr>
            <a:spLocks noGrp="1"/>
          </p:cNvSpPr>
          <p:nvPr/>
        </p:nvSpPr>
        <p:spPr>
          <a:xfrm>
            <a:off x="4860036" y="4754880"/>
            <a:ext cx="960120" cy="603504"/>
          </a:xfrm>
          <a:prstGeom prst="rect">
            <a:avLst/>
          </a:prstGeom>
          <a:noFill/>
        </p:spPr>
        <p:txBody>
          <a:bodyPr wrap="square" lIns="0" tIns="0" rIns="0" bIns="0" anchor="ctr"/>
          <a:lstStyle/>
          <a:p>
            <a:pPr marL="0" indent="0" algn="r">
              <a:buNone/>
            </a:pPr>
            <a:r>
              <a:rPr sz="1600" b="1">
                <a:solidFill>
                  <a:schemeClr val="tx1"/>
                </a:solidFill>
              </a:rPr>
              <a:t>5 min</a:t>
            </a:r>
            <a:endParaRPr sz="1600"/>
          </a:p>
        </p:txBody>
      </p:sp>
      <p:sp>
        <p:nvSpPr>
          <p:cNvPr id="31" name="Ligne 5">
            <a:extLst>
              <a:ext uri="{FF2B5EF4-FFF2-40B4-BE49-F238E27FC236}">
                <a16:creationId xmlns:a16="http://schemas.microsoft.com/office/drawing/2014/main" id="{725169FE-1568-4BD9-AB9D-54AE5DFC3624}"/>
              </a:ext>
            </a:extLst>
          </p:cNvPr>
          <p:cNvSpPr>
            <a:spLocks noGrp="1"/>
          </p:cNvSpPr>
          <p:nvPr/>
        </p:nvSpPr>
        <p:spPr>
          <a:xfrm>
            <a:off x="548640" y="5486400"/>
            <a:ext cx="5408676" cy="603504"/>
          </a:xfrm>
          <a:prstGeom prst="roundRect">
            <a:avLst>
              <a:gd name="adj" fmla="val 15152"/>
            </a:avLst>
          </a:prstGeom>
          <a:solidFill>
            <a:schemeClr val="bg2"/>
          </a:solidFill>
        </p:spPr>
        <p:txBody>
          <a:bodyPr/>
          <a:lstStyle/>
          <a:p>
            <a:endParaRPr/>
          </a:p>
        </p:txBody>
      </p:sp>
      <p:sp>
        <p:nvSpPr>
          <p:cNvPr id="32" name="N° 5">
            <a:extLst>
              <a:ext uri="{FF2B5EF4-FFF2-40B4-BE49-F238E27FC236}">
                <a16:creationId xmlns:a16="http://schemas.microsoft.com/office/drawing/2014/main" id="{3AFAF911-3D1D-4059-91AC-B199B3A5C924}"/>
              </a:ext>
            </a:extLst>
          </p:cNvPr>
          <p:cNvSpPr>
            <a:spLocks noGrp="1"/>
          </p:cNvSpPr>
          <p:nvPr/>
        </p:nvSpPr>
        <p:spPr>
          <a:xfrm>
            <a:off x="658368" y="5559552"/>
            <a:ext cx="457200" cy="457200"/>
          </a:xfrm>
          <a:prstGeom prst="ellipse">
            <a:avLst/>
          </a:prstGeom>
          <a:solidFill>
            <a:schemeClr val="accent1"/>
          </a:solidFill>
        </p:spPr>
        <p:txBody>
          <a:bodyPr wrap="square" lIns="0" tIns="0" rIns="0" bIns="0" anchor="ctr"/>
          <a:lstStyle/>
          <a:p>
            <a:pPr marL="0" indent="0" algn="ctr">
              <a:buNone/>
            </a:pPr>
            <a:r>
              <a:rPr sz="1400" b="1">
                <a:solidFill>
                  <a:schemeClr val="bg1"/>
                </a:solidFill>
              </a:rPr>
              <a:t>5</a:t>
            </a:r>
            <a:endParaRPr sz="1400"/>
          </a:p>
        </p:txBody>
      </p:sp>
      <p:sp>
        <p:nvSpPr>
          <p:cNvPr id="33" name="Titre 5">
            <a:extLst>
              <a:ext uri="{FF2B5EF4-FFF2-40B4-BE49-F238E27FC236}">
                <a16:creationId xmlns:a16="http://schemas.microsoft.com/office/drawing/2014/main" id="{816FDE3B-4CBB-4098-AFB0-36692839FC53}"/>
              </a:ext>
            </a:extLst>
          </p:cNvPr>
          <p:cNvSpPr>
            <a:spLocks noGrp="1"/>
          </p:cNvSpPr>
          <p:nvPr/>
        </p:nvSpPr>
        <p:spPr>
          <a:xfrm>
            <a:off x="1280160" y="5486400"/>
            <a:ext cx="3488436" cy="603504"/>
          </a:xfrm>
          <a:prstGeom prst="rect">
            <a:avLst/>
          </a:prstGeom>
          <a:noFill/>
        </p:spPr>
        <p:txBody>
          <a:bodyPr wrap="square" lIns="0" tIns="0" rIns="0" bIns="0" anchor="ctr"/>
          <a:lstStyle/>
          <a:p>
            <a:pPr marL="0" indent="0">
              <a:buNone/>
            </a:pPr>
            <a:r>
              <a:rPr sz="1600" b="1">
                <a:solidFill>
                  <a:schemeClr val="tx2"/>
                </a:solidFill>
              </a:rPr>
              <a:t>Roadmap produit initiale</a:t>
            </a:r>
            <a:endParaRPr sz="1600"/>
          </a:p>
        </p:txBody>
      </p:sp>
      <p:sp>
        <p:nvSpPr>
          <p:cNvPr id="34" name="Durée 5">
            <a:extLst>
              <a:ext uri="{FF2B5EF4-FFF2-40B4-BE49-F238E27FC236}">
                <a16:creationId xmlns:a16="http://schemas.microsoft.com/office/drawing/2014/main" id="{1A889810-42C3-4E93-AABC-319988392EF9}"/>
              </a:ext>
            </a:extLst>
          </p:cNvPr>
          <p:cNvSpPr>
            <a:spLocks noGrp="1"/>
          </p:cNvSpPr>
          <p:nvPr/>
        </p:nvSpPr>
        <p:spPr>
          <a:xfrm>
            <a:off x="4860036" y="5486400"/>
            <a:ext cx="960120" cy="603504"/>
          </a:xfrm>
          <a:prstGeom prst="rect">
            <a:avLst/>
          </a:prstGeom>
          <a:noFill/>
        </p:spPr>
        <p:txBody>
          <a:bodyPr wrap="square" lIns="0" tIns="0" rIns="0" bIns="0" anchor="ctr"/>
          <a:lstStyle/>
          <a:p>
            <a:pPr marL="0" indent="0" algn="r">
              <a:buNone/>
            </a:pPr>
            <a:r>
              <a:rPr sz="1600" b="1">
                <a:solidFill>
                  <a:schemeClr val="tx1"/>
                </a:solidFill>
              </a:rPr>
              <a:t>5 min</a:t>
            </a:r>
            <a:endParaRPr sz="1600"/>
          </a:p>
        </p:txBody>
      </p:sp>
      <p:sp>
        <p:nvSpPr>
          <p:cNvPr id="35" name="Ligne 6">
            <a:extLst>
              <a:ext uri="{FF2B5EF4-FFF2-40B4-BE49-F238E27FC236}">
                <a16:creationId xmlns:a16="http://schemas.microsoft.com/office/drawing/2014/main" id="{D6FF7067-DE85-4C68-8D43-7FF256CC8AE9}"/>
              </a:ext>
            </a:extLst>
          </p:cNvPr>
          <p:cNvSpPr>
            <a:spLocks noGrp="1"/>
          </p:cNvSpPr>
          <p:nvPr/>
        </p:nvSpPr>
        <p:spPr>
          <a:xfrm>
            <a:off x="6231636" y="2560320"/>
            <a:ext cx="5408676" cy="603504"/>
          </a:xfrm>
          <a:prstGeom prst="roundRect">
            <a:avLst>
              <a:gd name="adj" fmla="val 15152"/>
            </a:avLst>
          </a:prstGeom>
          <a:solidFill>
            <a:schemeClr val="bg2"/>
          </a:solidFill>
        </p:spPr>
        <p:txBody>
          <a:bodyPr/>
          <a:lstStyle/>
          <a:p>
            <a:endParaRPr/>
          </a:p>
        </p:txBody>
      </p:sp>
      <p:sp>
        <p:nvSpPr>
          <p:cNvPr id="36" name="N° 6">
            <a:extLst>
              <a:ext uri="{FF2B5EF4-FFF2-40B4-BE49-F238E27FC236}">
                <a16:creationId xmlns:a16="http://schemas.microsoft.com/office/drawing/2014/main" id="{4150DAAE-9938-4953-A2C7-82B04228AE5B}"/>
              </a:ext>
            </a:extLst>
          </p:cNvPr>
          <p:cNvSpPr>
            <a:spLocks noGrp="1"/>
          </p:cNvSpPr>
          <p:nvPr/>
        </p:nvSpPr>
        <p:spPr>
          <a:xfrm>
            <a:off x="6341364" y="2633472"/>
            <a:ext cx="457200" cy="457200"/>
          </a:xfrm>
          <a:prstGeom prst="ellipse">
            <a:avLst/>
          </a:prstGeom>
          <a:solidFill>
            <a:schemeClr val="accent1"/>
          </a:solidFill>
        </p:spPr>
        <p:txBody>
          <a:bodyPr wrap="square" lIns="0" tIns="0" rIns="0" bIns="0" anchor="ctr"/>
          <a:lstStyle/>
          <a:p>
            <a:pPr marL="0" indent="0" algn="ctr">
              <a:buNone/>
            </a:pPr>
            <a:r>
              <a:rPr sz="1400" b="1">
                <a:solidFill>
                  <a:schemeClr val="bg1"/>
                </a:solidFill>
              </a:rPr>
              <a:t>6</a:t>
            </a:r>
            <a:endParaRPr sz="1400"/>
          </a:p>
        </p:txBody>
      </p:sp>
      <p:sp>
        <p:nvSpPr>
          <p:cNvPr id="37" name="Titre 6">
            <a:extLst>
              <a:ext uri="{FF2B5EF4-FFF2-40B4-BE49-F238E27FC236}">
                <a16:creationId xmlns:a16="http://schemas.microsoft.com/office/drawing/2014/main" id="{E3C21405-4B33-4CF5-929A-FC32AD7A1748}"/>
              </a:ext>
            </a:extLst>
          </p:cNvPr>
          <p:cNvSpPr>
            <a:spLocks noGrp="1"/>
          </p:cNvSpPr>
          <p:nvPr/>
        </p:nvSpPr>
        <p:spPr>
          <a:xfrm>
            <a:off x="6963156" y="2560320"/>
            <a:ext cx="3488436" cy="603504"/>
          </a:xfrm>
          <a:prstGeom prst="rect">
            <a:avLst/>
          </a:prstGeom>
          <a:noFill/>
        </p:spPr>
        <p:txBody>
          <a:bodyPr wrap="square" lIns="0" tIns="0" rIns="0" bIns="0" anchor="ctr"/>
          <a:lstStyle/>
          <a:p>
            <a:pPr marL="0" indent="0">
              <a:buNone/>
            </a:pPr>
            <a:r>
              <a:rPr sz="1600" b="1">
                <a:solidFill>
                  <a:schemeClr val="tx2"/>
                </a:solidFill>
              </a:rPr>
              <a:t>Backlog et bilan GitHub</a:t>
            </a:r>
            <a:endParaRPr sz="1600"/>
          </a:p>
        </p:txBody>
      </p:sp>
      <p:sp>
        <p:nvSpPr>
          <p:cNvPr id="38" name="Durée 6">
            <a:extLst>
              <a:ext uri="{FF2B5EF4-FFF2-40B4-BE49-F238E27FC236}">
                <a16:creationId xmlns:a16="http://schemas.microsoft.com/office/drawing/2014/main" id="{C98B2C7D-E603-4336-83F2-6F7952F22CE2}"/>
              </a:ext>
            </a:extLst>
          </p:cNvPr>
          <p:cNvSpPr>
            <a:spLocks noGrp="1"/>
          </p:cNvSpPr>
          <p:nvPr/>
        </p:nvSpPr>
        <p:spPr>
          <a:xfrm>
            <a:off x="10543032" y="2560320"/>
            <a:ext cx="960120" cy="603504"/>
          </a:xfrm>
          <a:prstGeom prst="rect">
            <a:avLst/>
          </a:prstGeom>
          <a:noFill/>
        </p:spPr>
        <p:txBody>
          <a:bodyPr wrap="square" lIns="0" tIns="0" rIns="0" bIns="0" anchor="ctr"/>
          <a:lstStyle/>
          <a:p>
            <a:pPr marL="0" indent="0" algn="r">
              <a:buNone/>
            </a:pPr>
            <a:r>
              <a:rPr sz="1600" b="1">
                <a:solidFill>
                  <a:schemeClr val="tx1"/>
                </a:solidFill>
              </a:rPr>
              <a:t>10 min</a:t>
            </a:r>
            <a:endParaRPr sz="1600"/>
          </a:p>
        </p:txBody>
      </p:sp>
      <p:sp>
        <p:nvSpPr>
          <p:cNvPr id="39" name="Ligne 7">
            <a:extLst>
              <a:ext uri="{FF2B5EF4-FFF2-40B4-BE49-F238E27FC236}">
                <a16:creationId xmlns:a16="http://schemas.microsoft.com/office/drawing/2014/main" id="{C1E5CB6A-4A9D-49C4-804B-40E27A22BA6D}"/>
              </a:ext>
            </a:extLst>
          </p:cNvPr>
          <p:cNvSpPr>
            <a:spLocks noGrp="1"/>
          </p:cNvSpPr>
          <p:nvPr/>
        </p:nvSpPr>
        <p:spPr>
          <a:xfrm>
            <a:off x="6231636" y="3291840"/>
            <a:ext cx="5408676" cy="603504"/>
          </a:xfrm>
          <a:prstGeom prst="roundRect">
            <a:avLst>
              <a:gd name="adj" fmla="val 15152"/>
            </a:avLst>
          </a:prstGeom>
          <a:solidFill>
            <a:schemeClr val="bg2"/>
          </a:solidFill>
        </p:spPr>
        <p:txBody>
          <a:bodyPr/>
          <a:lstStyle/>
          <a:p>
            <a:endParaRPr/>
          </a:p>
        </p:txBody>
      </p:sp>
      <p:sp>
        <p:nvSpPr>
          <p:cNvPr id="40" name="N° 7">
            <a:extLst>
              <a:ext uri="{FF2B5EF4-FFF2-40B4-BE49-F238E27FC236}">
                <a16:creationId xmlns:a16="http://schemas.microsoft.com/office/drawing/2014/main" id="{674C482B-957E-4E5C-8DDD-D979AE8A886C}"/>
              </a:ext>
            </a:extLst>
          </p:cNvPr>
          <p:cNvSpPr>
            <a:spLocks noGrp="1"/>
          </p:cNvSpPr>
          <p:nvPr/>
        </p:nvSpPr>
        <p:spPr>
          <a:xfrm>
            <a:off x="6341364" y="3364992"/>
            <a:ext cx="457200" cy="457200"/>
          </a:xfrm>
          <a:prstGeom prst="ellipse">
            <a:avLst/>
          </a:prstGeom>
          <a:solidFill>
            <a:schemeClr val="accent1"/>
          </a:solidFill>
        </p:spPr>
        <p:txBody>
          <a:bodyPr wrap="square" lIns="0" tIns="0" rIns="0" bIns="0" anchor="ctr"/>
          <a:lstStyle/>
          <a:p>
            <a:pPr marL="0" indent="0" algn="ctr">
              <a:buNone/>
            </a:pPr>
            <a:r>
              <a:rPr sz="1400" b="1">
                <a:solidFill>
                  <a:schemeClr val="bg1"/>
                </a:solidFill>
              </a:rPr>
              <a:t>7</a:t>
            </a:r>
            <a:endParaRPr sz="1400"/>
          </a:p>
        </p:txBody>
      </p:sp>
      <p:sp>
        <p:nvSpPr>
          <p:cNvPr id="41" name="Titre 7">
            <a:extLst>
              <a:ext uri="{FF2B5EF4-FFF2-40B4-BE49-F238E27FC236}">
                <a16:creationId xmlns:a16="http://schemas.microsoft.com/office/drawing/2014/main" id="{3F317AB6-2BE1-418F-84BF-3082BC4C5FDB}"/>
              </a:ext>
            </a:extLst>
          </p:cNvPr>
          <p:cNvSpPr>
            <a:spLocks noGrp="1"/>
          </p:cNvSpPr>
          <p:nvPr/>
        </p:nvSpPr>
        <p:spPr>
          <a:xfrm>
            <a:off x="6963156" y="3291840"/>
            <a:ext cx="3488436" cy="603504"/>
          </a:xfrm>
          <a:prstGeom prst="rect">
            <a:avLst/>
          </a:prstGeom>
          <a:noFill/>
        </p:spPr>
        <p:txBody>
          <a:bodyPr wrap="square" lIns="0" tIns="0" rIns="0" bIns="0" anchor="ctr"/>
          <a:lstStyle/>
          <a:p>
            <a:pPr marL="0" indent="0">
              <a:buNone/>
            </a:pPr>
            <a:r>
              <a:rPr sz="1600" b="1">
                <a:solidFill>
                  <a:schemeClr val="tx2"/>
                </a:solidFill>
              </a:rPr>
              <a:t>Reviews et priorisation</a:t>
            </a:r>
            <a:endParaRPr sz="1600"/>
          </a:p>
        </p:txBody>
      </p:sp>
      <p:sp>
        <p:nvSpPr>
          <p:cNvPr id="42" name="Durée 7">
            <a:extLst>
              <a:ext uri="{FF2B5EF4-FFF2-40B4-BE49-F238E27FC236}">
                <a16:creationId xmlns:a16="http://schemas.microsoft.com/office/drawing/2014/main" id="{085CF90C-79CB-435E-BAC8-D2C240E40BFF}"/>
              </a:ext>
            </a:extLst>
          </p:cNvPr>
          <p:cNvSpPr>
            <a:spLocks noGrp="1"/>
          </p:cNvSpPr>
          <p:nvPr/>
        </p:nvSpPr>
        <p:spPr>
          <a:xfrm>
            <a:off x="10543032" y="3291840"/>
            <a:ext cx="960120" cy="603504"/>
          </a:xfrm>
          <a:prstGeom prst="rect">
            <a:avLst/>
          </a:prstGeom>
          <a:noFill/>
        </p:spPr>
        <p:txBody>
          <a:bodyPr wrap="square" lIns="0" tIns="0" rIns="0" bIns="0" anchor="ctr"/>
          <a:lstStyle/>
          <a:p>
            <a:pPr marL="0" indent="0" algn="r">
              <a:buNone/>
            </a:pPr>
            <a:r>
              <a:rPr sz="1600" b="1">
                <a:solidFill>
                  <a:schemeClr val="tx1"/>
                </a:solidFill>
              </a:rPr>
              <a:t>5 min</a:t>
            </a:r>
            <a:endParaRPr sz="1600"/>
          </a:p>
        </p:txBody>
      </p:sp>
      <p:sp>
        <p:nvSpPr>
          <p:cNvPr id="43" name="Ligne 8">
            <a:extLst>
              <a:ext uri="{FF2B5EF4-FFF2-40B4-BE49-F238E27FC236}">
                <a16:creationId xmlns:a16="http://schemas.microsoft.com/office/drawing/2014/main" id="{F455530D-A30D-4A74-817F-EE1808509569}"/>
              </a:ext>
            </a:extLst>
          </p:cNvPr>
          <p:cNvSpPr>
            <a:spLocks noGrp="1"/>
          </p:cNvSpPr>
          <p:nvPr/>
        </p:nvSpPr>
        <p:spPr>
          <a:xfrm>
            <a:off x="6231636" y="4023360"/>
            <a:ext cx="5408676" cy="603504"/>
          </a:xfrm>
          <a:prstGeom prst="roundRect">
            <a:avLst>
              <a:gd name="adj" fmla="val 15152"/>
            </a:avLst>
          </a:prstGeom>
          <a:solidFill>
            <a:schemeClr val="bg2"/>
          </a:solidFill>
        </p:spPr>
        <p:txBody>
          <a:bodyPr/>
          <a:lstStyle/>
          <a:p>
            <a:endParaRPr/>
          </a:p>
        </p:txBody>
      </p:sp>
      <p:sp>
        <p:nvSpPr>
          <p:cNvPr id="44" name="N° 8">
            <a:extLst>
              <a:ext uri="{FF2B5EF4-FFF2-40B4-BE49-F238E27FC236}">
                <a16:creationId xmlns:a16="http://schemas.microsoft.com/office/drawing/2014/main" id="{F6F9FDFC-6338-4838-BBF2-6F9AF3FBF3D0}"/>
              </a:ext>
            </a:extLst>
          </p:cNvPr>
          <p:cNvSpPr>
            <a:spLocks noGrp="1"/>
          </p:cNvSpPr>
          <p:nvPr/>
        </p:nvSpPr>
        <p:spPr>
          <a:xfrm>
            <a:off x="6341364" y="4096512"/>
            <a:ext cx="457200" cy="457200"/>
          </a:xfrm>
          <a:prstGeom prst="ellipse">
            <a:avLst/>
          </a:prstGeom>
          <a:solidFill>
            <a:schemeClr val="accent1"/>
          </a:solidFill>
        </p:spPr>
        <p:txBody>
          <a:bodyPr wrap="square" lIns="0" tIns="0" rIns="0" bIns="0" anchor="ctr"/>
          <a:lstStyle/>
          <a:p>
            <a:pPr marL="0" indent="0" algn="ctr">
              <a:buNone/>
            </a:pPr>
            <a:r>
              <a:rPr sz="1400" b="1">
                <a:solidFill>
                  <a:schemeClr val="bg1"/>
                </a:solidFill>
              </a:rPr>
              <a:t>8</a:t>
            </a:r>
            <a:endParaRPr sz="1400"/>
          </a:p>
        </p:txBody>
      </p:sp>
      <p:sp>
        <p:nvSpPr>
          <p:cNvPr id="45" name="Titre 8">
            <a:extLst>
              <a:ext uri="{FF2B5EF4-FFF2-40B4-BE49-F238E27FC236}">
                <a16:creationId xmlns:a16="http://schemas.microsoft.com/office/drawing/2014/main" id="{A12A9C15-6D8B-4A0F-9B91-5BFA816FBBAC}"/>
              </a:ext>
            </a:extLst>
          </p:cNvPr>
          <p:cNvSpPr>
            <a:spLocks noGrp="1"/>
          </p:cNvSpPr>
          <p:nvPr/>
        </p:nvSpPr>
        <p:spPr>
          <a:xfrm>
            <a:off x="6963156" y="4023360"/>
            <a:ext cx="3488436" cy="603504"/>
          </a:xfrm>
          <a:prstGeom prst="rect">
            <a:avLst/>
          </a:prstGeom>
          <a:noFill/>
        </p:spPr>
        <p:txBody>
          <a:bodyPr wrap="square" lIns="0" tIns="0" rIns="0" bIns="0" anchor="ctr"/>
          <a:lstStyle/>
          <a:p>
            <a:pPr marL="0" indent="0">
              <a:buNone/>
            </a:pPr>
            <a:r>
              <a:rPr sz="1600" b="1">
                <a:solidFill>
                  <a:schemeClr val="tx2"/>
                </a:solidFill>
              </a:rPr>
              <a:t>Maquettes et déploiement</a:t>
            </a:r>
            <a:endParaRPr sz="1600"/>
          </a:p>
        </p:txBody>
      </p:sp>
      <p:sp>
        <p:nvSpPr>
          <p:cNvPr id="46" name="Durée 8">
            <a:extLst>
              <a:ext uri="{FF2B5EF4-FFF2-40B4-BE49-F238E27FC236}">
                <a16:creationId xmlns:a16="http://schemas.microsoft.com/office/drawing/2014/main" id="{0EDCE3BE-D892-4563-A3CC-524D0006B3F1}"/>
              </a:ext>
            </a:extLst>
          </p:cNvPr>
          <p:cNvSpPr>
            <a:spLocks noGrp="1"/>
          </p:cNvSpPr>
          <p:nvPr/>
        </p:nvSpPr>
        <p:spPr>
          <a:xfrm>
            <a:off x="10543032" y="4023360"/>
            <a:ext cx="960120" cy="603504"/>
          </a:xfrm>
          <a:prstGeom prst="rect">
            <a:avLst/>
          </a:prstGeom>
          <a:noFill/>
        </p:spPr>
        <p:txBody>
          <a:bodyPr wrap="square" lIns="0" tIns="0" rIns="0" bIns="0" anchor="ctr"/>
          <a:lstStyle/>
          <a:p>
            <a:pPr marL="0" indent="0" algn="r">
              <a:buNone/>
            </a:pPr>
            <a:r>
              <a:rPr sz="1600" b="1">
                <a:solidFill>
                  <a:schemeClr val="tx1"/>
                </a:solidFill>
              </a:rPr>
              <a:t>10 min</a:t>
            </a:r>
            <a:endParaRPr sz="1600"/>
          </a:p>
        </p:txBody>
      </p:sp>
      <p:sp>
        <p:nvSpPr>
          <p:cNvPr id="47" name="Ligne 9">
            <a:extLst>
              <a:ext uri="{FF2B5EF4-FFF2-40B4-BE49-F238E27FC236}">
                <a16:creationId xmlns:a16="http://schemas.microsoft.com/office/drawing/2014/main" id="{339F4E6E-8FD6-4290-B74D-05AABFC80D56}"/>
              </a:ext>
            </a:extLst>
          </p:cNvPr>
          <p:cNvSpPr>
            <a:spLocks noGrp="1"/>
          </p:cNvSpPr>
          <p:nvPr/>
        </p:nvSpPr>
        <p:spPr>
          <a:xfrm>
            <a:off x="6231636" y="4754880"/>
            <a:ext cx="5408676" cy="603504"/>
          </a:xfrm>
          <a:prstGeom prst="roundRect">
            <a:avLst>
              <a:gd name="adj" fmla="val 15152"/>
            </a:avLst>
          </a:prstGeom>
          <a:solidFill>
            <a:schemeClr val="bg2"/>
          </a:solidFill>
        </p:spPr>
        <p:txBody>
          <a:bodyPr/>
          <a:lstStyle/>
          <a:p>
            <a:endParaRPr/>
          </a:p>
        </p:txBody>
      </p:sp>
      <p:sp>
        <p:nvSpPr>
          <p:cNvPr id="48" name="N° 9">
            <a:extLst>
              <a:ext uri="{FF2B5EF4-FFF2-40B4-BE49-F238E27FC236}">
                <a16:creationId xmlns:a16="http://schemas.microsoft.com/office/drawing/2014/main" id="{6E4100A6-DB95-4302-AA3C-6C06EA33E1AA}"/>
              </a:ext>
            </a:extLst>
          </p:cNvPr>
          <p:cNvSpPr>
            <a:spLocks noGrp="1"/>
          </p:cNvSpPr>
          <p:nvPr/>
        </p:nvSpPr>
        <p:spPr>
          <a:xfrm>
            <a:off x="6341364" y="4828032"/>
            <a:ext cx="457200" cy="457200"/>
          </a:xfrm>
          <a:prstGeom prst="ellipse">
            <a:avLst/>
          </a:prstGeom>
          <a:solidFill>
            <a:schemeClr val="accent1"/>
          </a:solidFill>
        </p:spPr>
        <p:txBody>
          <a:bodyPr wrap="square" lIns="0" tIns="0" rIns="0" bIns="0" anchor="ctr"/>
          <a:lstStyle/>
          <a:p>
            <a:pPr marL="0" indent="0" algn="ctr">
              <a:buNone/>
            </a:pPr>
            <a:r>
              <a:rPr sz="1400" b="1">
                <a:solidFill>
                  <a:schemeClr val="bg1"/>
                </a:solidFill>
              </a:rPr>
              <a:t>9</a:t>
            </a:r>
            <a:endParaRPr sz="1400"/>
          </a:p>
        </p:txBody>
      </p:sp>
      <p:sp>
        <p:nvSpPr>
          <p:cNvPr id="49" name="Titre 9">
            <a:extLst>
              <a:ext uri="{FF2B5EF4-FFF2-40B4-BE49-F238E27FC236}">
                <a16:creationId xmlns:a16="http://schemas.microsoft.com/office/drawing/2014/main" id="{674626B5-A645-4607-8A7D-5FBB72600ECD}"/>
              </a:ext>
            </a:extLst>
          </p:cNvPr>
          <p:cNvSpPr>
            <a:spLocks noGrp="1"/>
          </p:cNvSpPr>
          <p:nvPr/>
        </p:nvSpPr>
        <p:spPr>
          <a:xfrm>
            <a:off x="6963156" y="4754880"/>
            <a:ext cx="3488436" cy="603504"/>
          </a:xfrm>
          <a:prstGeom prst="rect">
            <a:avLst/>
          </a:prstGeom>
          <a:noFill/>
        </p:spPr>
        <p:txBody>
          <a:bodyPr wrap="square" lIns="0" tIns="0" rIns="0" bIns="0" anchor="ctr"/>
          <a:lstStyle/>
          <a:p>
            <a:pPr marL="0" indent="0">
              <a:buNone/>
            </a:pPr>
            <a:r>
              <a:rPr sz="1600" b="1">
                <a:solidFill>
                  <a:schemeClr val="tx2"/>
                </a:solidFill>
              </a:rPr>
              <a:t>Objectifs de l'itération 2</a:t>
            </a:r>
            <a:endParaRPr sz="1600"/>
          </a:p>
        </p:txBody>
      </p:sp>
      <p:sp>
        <p:nvSpPr>
          <p:cNvPr id="50" name="Durée 9">
            <a:extLst>
              <a:ext uri="{FF2B5EF4-FFF2-40B4-BE49-F238E27FC236}">
                <a16:creationId xmlns:a16="http://schemas.microsoft.com/office/drawing/2014/main" id="{7EF6AAF8-7222-486E-A1FF-43259B84C7AA}"/>
              </a:ext>
            </a:extLst>
          </p:cNvPr>
          <p:cNvSpPr>
            <a:spLocks noGrp="1"/>
          </p:cNvSpPr>
          <p:nvPr/>
        </p:nvSpPr>
        <p:spPr>
          <a:xfrm>
            <a:off x="10543032" y="4754880"/>
            <a:ext cx="960120" cy="603504"/>
          </a:xfrm>
          <a:prstGeom prst="rect">
            <a:avLst/>
          </a:prstGeom>
          <a:noFill/>
        </p:spPr>
        <p:txBody>
          <a:bodyPr wrap="square" lIns="0" tIns="0" rIns="0" bIns="0" anchor="ctr"/>
          <a:lstStyle/>
          <a:p>
            <a:pPr marL="0" indent="0" algn="r">
              <a:buNone/>
            </a:pPr>
            <a:r>
              <a:rPr sz="1600" b="1">
                <a:solidFill>
                  <a:schemeClr val="tx1"/>
                </a:solidFill>
              </a:rPr>
              <a:t>3 min</a:t>
            </a:r>
            <a:endParaRPr sz="1600"/>
          </a:p>
        </p:txBody>
      </p:sp>
      <p:sp>
        <p:nvSpPr>
          <p:cNvPr id="51" name="Ligne 10">
            <a:extLst>
              <a:ext uri="{FF2B5EF4-FFF2-40B4-BE49-F238E27FC236}">
                <a16:creationId xmlns:a16="http://schemas.microsoft.com/office/drawing/2014/main" id="{EA4D0886-C611-4CAA-9B94-09D49B86C48A}"/>
              </a:ext>
            </a:extLst>
          </p:cNvPr>
          <p:cNvSpPr>
            <a:spLocks noGrp="1"/>
          </p:cNvSpPr>
          <p:nvPr/>
        </p:nvSpPr>
        <p:spPr>
          <a:xfrm>
            <a:off x="6231636" y="5486400"/>
            <a:ext cx="5408676" cy="603504"/>
          </a:xfrm>
          <a:prstGeom prst="roundRect">
            <a:avLst>
              <a:gd name="adj" fmla="val 15152"/>
            </a:avLst>
          </a:prstGeom>
          <a:solidFill>
            <a:schemeClr val="bg2"/>
          </a:solidFill>
        </p:spPr>
        <p:txBody>
          <a:bodyPr/>
          <a:lstStyle/>
          <a:p>
            <a:endParaRPr/>
          </a:p>
        </p:txBody>
      </p:sp>
      <p:sp>
        <p:nvSpPr>
          <p:cNvPr id="52" name="N° 10">
            <a:extLst>
              <a:ext uri="{FF2B5EF4-FFF2-40B4-BE49-F238E27FC236}">
                <a16:creationId xmlns:a16="http://schemas.microsoft.com/office/drawing/2014/main" id="{7BBE9750-520B-4286-B157-E812E63EDCDA}"/>
              </a:ext>
            </a:extLst>
          </p:cNvPr>
          <p:cNvSpPr>
            <a:spLocks noGrp="1"/>
          </p:cNvSpPr>
          <p:nvPr/>
        </p:nvSpPr>
        <p:spPr>
          <a:xfrm>
            <a:off x="6341364" y="5559552"/>
            <a:ext cx="457200" cy="457200"/>
          </a:xfrm>
          <a:prstGeom prst="ellipse">
            <a:avLst/>
          </a:prstGeom>
          <a:solidFill>
            <a:schemeClr val="accent1"/>
          </a:solidFill>
        </p:spPr>
        <p:txBody>
          <a:bodyPr wrap="square" lIns="0" tIns="0" rIns="0" bIns="0" anchor="ctr"/>
          <a:lstStyle/>
          <a:p>
            <a:pPr marL="0" indent="0" algn="ctr">
              <a:buNone/>
            </a:pPr>
            <a:r>
              <a:rPr sz="1400" b="1">
                <a:solidFill>
                  <a:schemeClr val="bg1"/>
                </a:solidFill>
              </a:rPr>
              <a:t>10</a:t>
            </a:r>
            <a:endParaRPr sz="1400"/>
          </a:p>
        </p:txBody>
      </p:sp>
      <p:sp>
        <p:nvSpPr>
          <p:cNvPr id="53" name="Titre 10">
            <a:extLst>
              <a:ext uri="{FF2B5EF4-FFF2-40B4-BE49-F238E27FC236}">
                <a16:creationId xmlns:a16="http://schemas.microsoft.com/office/drawing/2014/main" id="{3C9C0491-FEE2-4D09-A5C6-42260ABCC875}"/>
              </a:ext>
            </a:extLst>
          </p:cNvPr>
          <p:cNvSpPr>
            <a:spLocks noGrp="1"/>
          </p:cNvSpPr>
          <p:nvPr/>
        </p:nvSpPr>
        <p:spPr>
          <a:xfrm>
            <a:off x="6963156" y="5486400"/>
            <a:ext cx="3488436" cy="603504"/>
          </a:xfrm>
          <a:prstGeom prst="rect">
            <a:avLst/>
          </a:prstGeom>
          <a:noFill/>
        </p:spPr>
        <p:txBody>
          <a:bodyPr wrap="square" lIns="0" tIns="0" rIns="0" bIns="0" anchor="ctr"/>
          <a:lstStyle/>
          <a:p>
            <a:pPr marL="0" indent="0">
              <a:buNone/>
            </a:pPr>
            <a:r>
              <a:rPr sz="1600" b="1">
                <a:solidFill>
                  <a:schemeClr val="tx2"/>
                </a:solidFill>
              </a:rPr>
              <a:t>Clôture &amp; décisions actées</a:t>
            </a:r>
            <a:endParaRPr sz="1600"/>
          </a:p>
        </p:txBody>
      </p:sp>
      <p:sp>
        <p:nvSpPr>
          <p:cNvPr id="54" name="Durée 10">
            <a:extLst>
              <a:ext uri="{FF2B5EF4-FFF2-40B4-BE49-F238E27FC236}">
                <a16:creationId xmlns:a16="http://schemas.microsoft.com/office/drawing/2014/main" id="{0F15DC78-08F6-457D-890E-9B8CF68F2941}"/>
              </a:ext>
            </a:extLst>
          </p:cNvPr>
          <p:cNvSpPr>
            <a:spLocks noGrp="1"/>
          </p:cNvSpPr>
          <p:nvPr/>
        </p:nvSpPr>
        <p:spPr>
          <a:xfrm>
            <a:off x="10543032" y="5486400"/>
            <a:ext cx="960120" cy="603504"/>
          </a:xfrm>
          <a:prstGeom prst="rect">
            <a:avLst/>
          </a:prstGeom>
          <a:noFill/>
        </p:spPr>
        <p:txBody>
          <a:bodyPr wrap="square" lIns="0" tIns="0" rIns="0" bIns="0" anchor="ctr"/>
          <a:lstStyle/>
          <a:p>
            <a:pPr marL="0" indent="0" algn="r">
              <a:buNone/>
            </a:pPr>
            <a:r>
              <a:rPr sz="1600" b="1">
                <a:solidFill>
                  <a:schemeClr val="tx1"/>
                </a:solidFill>
              </a:rPr>
              <a:t>2 min</a:t>
            </a:r>
            <a:endParaRPr sz="1600"/>
          </a:p>
        </p:txBody>
      </p:sp>
      <p:sp>
        <p:nvSpPr>
          <p:cNvPr id="4" name="Slide Number Placeholder 0">
            <a:extLst>
              <a:ext uri="{FF2B5EF4-FFF2-40B4-BE49-F238E27FC236}">
                <a16:creationId xmlns:a16="http://schemas.microsoft.com/office/drawing/2014/main" id="{CBB65892-70A9-4605-B2B1-06E8DE44A4AA}"/>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accent3"/>
                </a:solidFill>
              </a:defRPr>
            </a:lvl1pPr>
          </a:lstStyle>
          <a:p>
            <a:pPr algn="r">
              <a:buNone/>
            </a:pPr>
            <a:fld id="{E2598689-54C9-18A7-3A19-ED76AA08988F}" type="slidenum">
              <a:rPr b="0"/>
              <a:t>2</a:t>
            </a:fld>
            <a:endParaRPr/>
          </a:p>
        </p:txBody>
      </p:sp>
    </p:spTree>
    <p:extLst>
      <p:ext uri="{BB962C8B-B14F-4D97-AF65-F5344CB8AC3E}">
        <p14:creationId xmlns:p14="http://schemas.microsoft.com/office/powerpoint/2010/main" val="1395855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uméro de section">
            <a:extLst>
              <a:ext uri="{FF2B5EF4-FFF2-40B4-BE49-F238E27FC236}">
                <a16:creationId xmlns:a16="http://schemas.microsoft.com/office/drawing/2014/main" id="{E38B732A-4C30-4C50-9D63-AE934A29ABB8}"/>
              </a:ext>
            </a:extLst>
          </p:cNvPr>
          <p:cNvSpPr>
            <a:spLocks noGrp="1"/>
          </p:cNvSpPr>
          <p:nvPr/>
        </p:nvSpPr>
        <p:spPr>
          <a:xfrm>
            <a:off x="548640" y="457200"/>
            <a:ext cx="822960" cy="822960"/>
          </a:xfrm>
          <a:prstGeom prst="ellipse">
            <a:avLst/>
          </a:prstGeom>
          <a:solidFill>
            <a:schemeClr val="accent1"/>
          </a:solidFill>
        </p:spPr>
        <p:txBody>
          <a:bodyPr wrap="square" lIns="0" tIns="0" rIns="0" bIns="0" anchor="ctr"/>
          <a:lstStyle/>
          <a:p>
            <a:pPr marL="0" indent="0" algn="ctr">
              <a:buNone/>
            </a:pPr>
            <a:r>
              <a:rPr sz="2600" b="1">
                <a:solidFill>
                  <a:schemeClr val="bg1"/>
                </a:solidFill>
              </a:rPr>
              <a:t>1</a:t>
            </a:r>
            <a:endParaRPr sz="2600"/>
          </a:p>
        </p:txBody>
      </p:sp>
      <p:sp>
        <p:nvSpPr>
          <p:cNvPr id="3" name="Text 0">
            <a:extLst>
              <a:ext uri="{FF2B5EF4-FFF2-40B4-BE49-F238E27FC236}">
                <a16:creationId xmlns:a16="http://schemas.microsoft.com/office/drawing/2014/main" id="{5559ACED-8EFE-43F3-9582-7031BE775B45}"/>
              </a:ext>
            </a:extLst>
          </p:cNvPr>
          <p:cNvSpPr>
            <a:spLocks noGrp="1"/>
          </p:cNvSpPr>
          <p:nvPr>
            <p:ph type="title" idx="100" hasCustomPrompt="1"/>
          </p:nvPr>
        </p:nvSpPr>
        <p:spPr>
          <a:xfrm>
            <a:off x="1600200" y="457200"/>
            <a:ext cx="8138160" cy="822960"/>
          </a:xfrm>
          <a:prstGeom prst="rect">
            <a:avLst/>
          </a:prstGeom>
          <a:noFill/>
        </p:spPr>
        <p:txBody>
          <a:bodyPr wrap="square" lIns="0" tIns="0" rIns="0" bIns="0" anchor="ctr"/>
          <a:lstStyle/>
          <a:p>
            <a:pPr marL="0" indent="0" algn="l">
              <a:buNone/>
            </a:pPr>
            <a:r>
              <a:rPr sz="3600" b="1">
                <a:solidFill>
                  <a:schemeClr val="tx2"/>
                </a:solidFill>
              </a:rPr>
              <a:t>Ouverture &amp; rappel du cadre</a:t>
            </a:r>
            <a:endParaRPr sz="3600"/>
          </a:p>
        </p:txBody>
      </p:sp>
      <p:sp>
        <p:nvSpPr>
          <p:cNvPr id="6" name="Carte - Objectif de la revue">
            <a:extLst>
              <a:ext uri="{FF2B5EF4-FFF2-40B4-BE49-F238E27FC236}">
                <a16:creationId xmlns:a16="http://schemas.microsoft.com/office/drawing/2014/main" id="{DA38785D-CF14-4319-822B-60D7B7B44DB1}"/>
              </a:ext>
            </a:extLst>
          </p:cNvPr>
          <p:cNvSpPr>
            <a:spLocks noGrp="1"/>
          </p:cNvSpPr>
          <p:nvPr/>
        </p:nvSpPr>
        <p:spPr>
          <a:xfrm>
            <a:off x="548640" y="1600200"/>
            <a:ext cx="5408676" cy="2148840"/>
          </a:xfrm>
          <a:prstGeom prst="roundRect">
            <a:avLst>
              <a:gd name="adj" fmla="val 5106"/>
            </a:avLst>
          </a:prstGeom>
          <a:solidFill>
            <a:schemeClr val="bg2"/>
          </a:solidFill>
        </p:spPr>
        <p:txBody>
          <a:bodyPr wrap="square" lIns="177800" tIns="177800" rIns="177800" bIns="177800" anchor="t"/>
          <a:lstStyle/>
          <a:p>
            <a:pPr marL="0" indent="0" algn="l">
              <a:buNone/>
            </a:pPr>
            <a:r>
              <a:rPr sz="1600" b="1" dirty="0">
                <a:solidFill>
                  <a:schemeClr val="tx2"/>
                </a:solidFill>
              </a:rPr>
              <a:t>Objectif de la revue</a:t>
            </a:r>
          </a:p>
          <a:p>
            <a:pPr marL="0" indent="0" algn="l">
              <a:buNone/>
            </a:pPr>
            <a:r>
              <a:rPr sz="1400" dirty="0" err="1">
                <a:solidFill>
                  <a:schemeClr val="tx1"/>
                </a:solidFill>
              </a:rPr>
              <a:t>Présenter</a:t>
            </a:r>
            <a:r>
              <a:rPr sz="1400" dirty="0">
                <a:solidFill>
                  <a:schemeClr val="tx1"/>
                </a:solidFill>
              </a:rPr>
              <a:t> </a:t>
            </a:r>
            <a:r>
              <a:rPr sz="1400" dirty="0" err="1">
                <a:solidFill>
                  <a:schemeClr val="tx1"/>
                </a:solidFill>
              </a:rPr>
              <a:t>l’analyse</a:t>
            </a:r>
            <a:r>
              <a:rPr sz="1400" dirty="0">
                <a:solidFill>
                  <a:schemeClr val="tx1"/>
                </a:solidFill>
              </a:rPr>
              <a:t> et les </a:t>
            </a:r>
            <a:r>
              <a:rPr sz="1400" dirty="0" err="1">
                <a:solidFill>
                  <a:schemeClr val="tx1"/>
                </a:solidFill>
              </a:rPr>
              <a:t>maquettes</a:t>
            </a:r>
            <a:r>
              <a:rPr sz="1400" dirty="0">
                <a:solidFill>
                  <a:schemeClr val="tx1"/>
                </a:solidFill>
              </a:rPr>
              <a:t>, </a:t>
            </a:r>
            <a:r>
              <a:rPr sz="1400" dirty="0" err="1">
                <a:solidFill>
                  <a:schemeClr val="tx1"/>
                </a:solidFill>
              </a:rPr>
              <a:t>recueillir</a:t>
            </a:r>
            <a:r>
              <a:rPr sz="1400" dirty="0">
                <a:solidFill>
                  <a:schemeClr val="tx1"/>
                </a:solidFill>
              </a:rPr>
              <a:t> </a:t>
            </a:r>
            <a:r>
              <a:rPr sz="1400" dirty="0" err="1">
                <a:solidFill>
                  <a:schemeClr val="tx1"/>
                </a:solidFill>
              </a:rPr>
              <a:t>vos</a:t>
            </a:r>
            <a:r>
              <a:rPr sz="1400" dirty="0">
                <a:solidFill>
                  <a:schemeClr val="tx1"/>
                </a:solidFill>
              </a:rPr>
              <a:t> retours et </a:t>
            </a:r>
            <a:r>
              <a:rPr sz="1400" dirty="0" err="1">
                <a:solidFill>
                  <a:schemeClr val="tx1"/>
                </a:solidFill>
              </a:rPr>
              <a:t>valider</a:t>
            </a:r>
            <a:r>
              <a:rPr sz="1400" dirty="0">
                <a:solidFill>
                  <a:schemeClr val="tx1"/>
                </a:solidFill>
              </a:rPr>
              <a:t> les orientations.</a:t>
            </a:r>
          </a:p>
        </p:txBody>
      </p:sp>
      <p:sp>
        <p:nvSpPr>
          <p:cNvPr id="7" name="Carte - Rappel du périmètre de l'itération 1">
            <a:extLst>
              <a:ext uri="{FF2B5EF4-FFF2-40B4-BE49-F238E27FC236}">
                <a16:creationId xmlns:a16="http://schemas.microsoft.com/office/drawing/2014/main" id="{D1E116B1-A102-4EE5-A4F6-D7A69BAA7AC3}"/>
              </a:ext>
            </a:extLst>
          </p:cNvPr>
          <p:cNvSpPr>
            <a:spLocks noGrp="1"/>
          </p:cNvSpPr>
          <p:nvPr/>
        </p:nvSpPr>
        <p:spPr>
          <a:xfrm>
            <a:off x="6231636" y="1600200"/>
            <a:ext cx="5408676" cy="2148840"/>
          </a:xfrm>
          <a:prstGeom prst="roundRect">
            <a:avLst>
              <a:gd name="adj" fmla="val 5106"/>
            </a:avLst>
          </a:prstGeom>
          <a:solidFill>
            <a:schemeClr val="bg2"/>
          </a:solidFill>
        </p:spPr>
        <p:txBody>
          <a:bodyPr wrap="square" lIns="177800" tIns="177800" rIns="177800" bIns="177800" anchor="t"/>
          <a:lstStyle/>
          <a:p>
            <a:pPr marL="0" indent="0" algn="l">
              <a:buNone/>
            </a:pPr>
            <a:r>
              <a:rPr sz="1600" b="1" dirty="0">
                <a:solidFill>
                  <a:schemeClr val="tx2"/>
                </a:solidFill>
              </a:rPr>
              <a:t>Rappel du </a:t>
            </a:r>
            <a:r>
              <a:rPr sz="1600" b="1" dirty="0" err="1">
                <a:solidFill>
                  <a:schemeClr val="tx2"/>
                </a:solidFill>
              </a:rPr>
              <a:t>périmètre</a:t>
            </a:r>
            <a:r>
              <a:rPr sz="1600" b="1" dirty="0">
                <a:solidFill>
                  <a:schemeClr val="tx2"/>
                </a:solidFill>
              </a:rPr>
              <a:t> de </a:t>
            </a:r>
            <a:r>
              <a:rPr sz="1600" b="1" dirty="0" err="1">
                <a:solidFill>
                  <a:schemeClr val="tx2"/>
                </a:solidFill>
              </a:rPr>
              <a:t>l’itération</a:t>
            </a:r>
            <a:r>
              <a:rPr sz="1600" b="1" dirty="0">
                <a:solidFill>
                  <a:schemeClr val="tx2"/>
                </a:solidFill>
              </a:rPr>
              <a:t> 1</a:t>
            </a:r>
            <a:endParaRPr lang="fr-FR" sz="1600" b="1" dirty="0">
              <a:solidFill>
                <a:schemeClr val="tx2"/>
              </a:solidFill>
            </a:endParaRPr>
          </a:p>
          <a:p>
            <a:pPr marL="285750" indent="-285750" algn="l">
              <a:buFont typeface="Arial" panose="020B0604020202020204" pitchFamily="34" charset="0"/>
              <a:buChar char="•"/>
            </a:pPr>
            <a:r>
              <a:rPr lang="fr-FR" sz="1600" dirty="0" err="1">
                <a:solidFill>
                  <a:schemeClr val="tx2"/>
                </a:solidFill>
              </a:rPr>
              <a:t>Reccueillir</a:t>
            </a:r>
            <a:r>
              <a:rPr lang="fr-FR" sz="1600" dirty="0">
                <a:solidFill>
                  <a:schemeClr val="tx2"/>
                </a:solidFill>
              </a:rPr>
              <a:t> le besoin client</a:t>
            </a:r>
          </a:p>
          <a:p>
            <a:pPr marL="285750" indent="-285750" algn="l">
              <a:buFont typeface="Arial" panose="020B0604020202020204" pitchFamily="34" charset="0"/>
              <a:buChar char="•"/>
            </a:pPr>
            <a:r>
              <a:rPr lang="fr-FR" sz="1600" dirty="0">
                <a:solidFill>
                  <a:schemeClr val="tx2"/>
                </a:solidFill>
              </a:rPr>
              <a:t>Faire une maquettes répondant au besoin du client</a:t>
            </a:r>
            <a:endParaRPr sz="1600" dirty="0">
              <a:solidFill>
                <a:schemeClr val="tx2"/>
              </a:solidFill>
            </a:endParaRPr>
          </a:p>
        </p:txBody>
      </p:sp>
      <p:sp>
        <p:nvSpPr>
          <p:cNvPr id="9" name="Carte - Rôle de chacun pendant la réunion">
            <a:extLst>
              <a:ext uri="{FF2B5EF4-FFF2-40B4-BE49-F238E27FC236}">
                <a16:creationId xmlns:a16="http://schemas.microsoft.com/office/drawing/2014/main" id="{D1CD346C-8F04-4493-AB57-16B0299C9327}"/>
              </a:ext>
            </a:extLst>
          </p:cNvPr>
          <p:cNvSpPr>
            <a:spLocks noGrp="1"/>
          </p:cNvSpPr>
          <p:nvPr/>
        </p:nvSpPr>
        <p:spPr>
          <a:xfrm>
            <a:off x="3391662" y="4069080"/>
            <a:ext cx="5408676" cy="2148840"/>
          </a:xfrm>
          <a:prstGeom prst="roundRect">
            <a:avLst>
              <a:gd name="adj" fmla="val 5106"/>
            </a:avLst>
          </a:prstGeom>
          <a:solidFill>
            <a:schemeClr val="bg2"/>
          </a:solidFill>
        </p:spPr>
        <p:txBody>
          <a:bodyPr wrap="square" lIns="177800" tIns="177800" rIns="177800" bIns="177800" anchor="t"/>
          <a:lstStyle/>
          <a:p>
            <a:pPr marL="0" indent="0" algn="l">
              <a:buNone/>
            </a:pPr>
            <a:r>
              <a:rPr sz="1600" b="1" dirty="0" err="1">
                <a:solidFill>
                  <a:schemeClr val="tx2"/>
                </a:solidFill>
              </a:rPr>
              <a:t>Rôle</a:t>
            </a:r>
            <a:r>
              <a:rPr sz="1600" b="1" dirty="0">
                <a:solidFill>
                  <a:schemeClr val="tx2"/>
                </a:solidFill>
              </a:rPr>
              <a:t> de </a:t>
            </a:r>
            <a:r>
              <a:rPr sz="1600" b="1" dirty="0" err="1">
                <a:solidFill>
                  <a:schemeClr val="tx2"/>
                </a:solidFill>
              </a:rPr>
              <a:t>chacun</a:t>
            </a:r>
            <a:r>
              <a:rPr sz="1600" b="1" dirty="0">
                <a:solidFill>
                  <a:schemeClr val="tx2"/>
                </a:solidFill>
              </a:rPr>
              <a:t> pendant la </a:t>
            </a:r>
            <a:r>
              <a:rPr sz="1600" b="1" dirty="0" err="1">
                <a:solidFill>
                  <a:schemeClr val="tx2"/>
                </a:solidFill>
              </a:rPr>
              <a:t>réunion</a:t>
            </a:r>
            <a:endParaRPr sz="1600" b="1" dirty="0">
              <a:solidFill>
                <a:schemeClr val="tx2"/>
              </a:solidFill>
            </a:endParaRPr>
          </a:p>
          <a:p>
            <a:pPr marL="0" indent="0" algn="l">
              <a:buNone/>
            </a:pPr>
            <a:r>
              <a:rPr sz="1400" dirty="0">
                <a:solidFill>
                  <a:schemeClr val="tx1"/>
                </a:solidFill>
              </a:rPr>
              <a:t>MOE : </a:t>
            </a:r>
            <a:r>
              <a:rPr sz="1400" dirty="0" err="1">
                <a:solidFill>
                  <a:schemeClr val="tx1"/>
                </a:solidFill>
              </a:rPr>
              <a:t>présente</a:t>
            </a:r>
            <a:r>
              <a:rPr sz="1400" dirty="0">
                <a:solidFill>
                  <a:schemeClr val="tx1"/>
                </a:solidFill>
              </a:rPr>
              <a:t> et </a:t>
            </a:r>
            <a:r>
              <a:rPr sz="1400" dirty="0" err="1">
                <a:solidFill>
                  <a:schemeClr val="tx1"/>
                </a:solidFill>
              </a:rPr>
              <a:t>répond</a:t>
            </a:r>
            <a:r>
              <a:rPr sz="1400" dirty="0">
                <a:solidFill>
                  <a:schemeClr val="tx1"/>
                </a:solidFill>
              </a:rPr>
              <a:t>.</a:t>
            </a:r>
          </a:p>
          <a:p>
            <a:pPr marL="0" indent="0" algn="l">
              <a:buNone/>
            </a:pPr>
            <a:r>
              <a:rPr sz="1400" dirty="0">
                <a:solidFill>
                  <a:schemeClr val="tx1"/>
                </a:solidFill>
              </a:rPr>
              <a:t>MOA/AMOA : retours, arbitrages, validation.</a:t>
            </a:r>
          </a:p>
        </p:txBody>
      </p:sp>
      <p:sp>
        <p:nvSpPr>
          <p:cNvPr id="25" name="Slide Number Placeholder 0">
            <a:extLst>
              <a:ext uri="{FF2B5EF4-FFF2-40B4-BE49-F238E27FC236}">
                <a16:creationId xmlns:a16="http://schemas.microsoft.com/office/drawing/2014/main" id="{47C840D3-FF6F-4FA1-AD03-A94D28A5FF70}"/>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accent3"/>
                </a:solidFill>
              </a:defRPr>
            </a:lvl1pPr>
          </a:lstStyle>
          <a:p>
            <a:pPr algn="r">
              <a:buNone/>
            </a:pPr>
            <a:fld id="{202359C0-8A7A-196E-DD58-8E6569619F09}" type="slidenum">
              <a:rPr b="0"/>
              <a:t>3</a:t>
            </a:fld>
            <a:endParaRPr/>
          </a:p>
        </p:txBody>
      </p:sp>
    </p:spTree>
    <p:extLst>
      <p:ext uri="{BB962C8B-B14F-4D97-AF65-F5344CB8AC3E}">
        <p14:creationId xmlns:p14="http://schemas.microsoft.com/office/powerpoint/2010/main" val="1783727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uméro de section">
            <a:extLst>
              <a:ext uri="{FF2B5EF4-FFF2-40B4-BE49-F238E27FC236}">
                <a16:creationId xmlns:a16="http://schemas.microsoft.com/office/drawing/2014/main" id="{0B71D897-BE71-41ED-B0A6-3768CB0E3E7A}"/>
              </a:ext>
            </a:extLst>
          </p:cNvPr>
          <p:cNvSpPr>
            <a:spLocks noGrp="1"/>
          </p:cNvSpPr>
          <p:nvPr/>
        </p:nvSpPr>
        <p:spPr>
          <a:xfrm>
            <a:off x="548640" y="457200"/>
            <a:ext cx="822960" cy="822960"/>
          </a:xfrm>
          <a:prstGeom prst="ellipse">
            <a:avLst/>
          </a:prstGeom>
          <a:solidFill>
            <a:schemeClr val="accent1"/>
          </a:solidFill>
        </p:spPr>
        <p:txBody>
          <a:bodyPr wrap="square" lIns="0" tIns="0" rIns="0" bIns="0" anchor="ctr"/>
          <a:lstStyle/>
          <a:p>
            <a:pPr marL="0" indent="0" algn="ctr">
              <a:buNone/>
            </a:pPr>
            <a:r>
              <a:rPr sz="2600" b="1">
                <a:solidFill>
                  <a:schemeClr val="bg1"/>
                </a:solidFill>
              </a:rPr>
              <a:t>2</a:t>
            </a:r>
            <a:endParaRPr sz="2600"/>
          </a:p>
        </p:txBody>
      </p:sp>
      <p:sp>
        <p:nvSpPr>
          <p:cNvPr id="3" name="Text 0">
            <a:extLst>
              <a:ext uri="{FF2B5EF4-FFF2-40B4-BE49-F238E27FC236}">
                <a16:creationId xmlns:a16="http://schemas.microsoft.com/office/drawing/2014/main" id="{A2011F2B-86C1-4B85-AC33-597A5ED21E9F}"/>
              </a:ext>
            </a:extLst>
          </p:cNvPr>
          <p:cNvSpPr>
            <a:spLocks noGrp="1"/>
          </p:cNvSpPr>
          <p:nvPr>
            <p:ph type="title" idx="100" hasCustomPrompt="1"/>
          </p:nvPr>
        </p:nvSpPr>
        <p:spPr>
          <a:xfrm>
            <a:off x="1600200" y="457200"/>
            <a:ext cx="8138160" cy="822960"/>
          </a:xfrm>
          <a:prstGeom prst="rect">
            <a:avLst/>
          </a:prstGeom>
          <a:noFill/>
        </p:spPr>
        <p:txBody>
          <a:bodyPr wrap="square" lIns="0" tIns="0" rIns="0" bIns="0" anchor="ctr"/>
          <a:lstStyle/>
          <a:p>
            <a:pPr marL="0" indent="0" algn="l">
              <a:buNone/>
            </a:pPr>
            <a:r>
              <a:rPr sz="3600" b="1">
                <a:solidFill>
                  <a:schemeClr val="tx2"/>
                </a:solidFill>
              </a:rPr>
              <a:t>Vision du produit</a:t>
            </a:r>
            <a:endParaRPr sz="3600"/>
          </a:p>
        </p:txBody>
      </p:sp>
      <p:sp>
        <p:nvSpPr>
          <p:cNvPr id="6" name="Carte - Problème à résoudre">
            <a:extLst>
              <a:ext uri="{FF2B5EF4-FFF2-40B4-BE49-F238E27FC236}">
                <a16:creationId xmlns:a16="http://schemas.microsoft.com/office/drawing/2014/main" id="{20D276CA-3D44-4384-B12B-2E6FD716F586}"/>
              </a:ext>
            </a:extLst>
          </p:cNvPr>
          <p:cNvSpPr>
            <a:spLocks noGrp="1"/>
          </p:cNvSpPr>
          <p:nvPr/>
        </p:nvSpPr>
        <p:spPr>
          <a:xfrm>
            <a:off x="548640" y="1600200"/>
            <a:ext cx="3514344" cy="2651760"/>
          </a:xfrm>
          <a:prstGeom prst="roundRect">
            <a:avLst>
              <a:gd name="adj" fmla="val 4138"/>
            </a:avLst>
          </a:prstGeom>
          <a:solidFill>
            <a:schemeClr val="bg2"/>
          </a:solidFill>
        </p:spPr>
        <p:txBody>
          <a:bodyPr wrap="square" lIns="177800" tIns="177800" rIns="177800" bIns="177800" anchor="t"/>
          <a:lstStyle/>
          <a:p>
            <a:r>
              <a:rPr sz="1600" b="1" dirty="0" err="1">
                <a:solidFill>
                  <a:srgbClr val="0E2340"/>
                </a:solidFill>
                <a:latin typeface="Calibri"/>
                <a:ea typeface="Calibri"/>
                <a:cs typeface="Calibri"/>
              </a:rPr>
              <a:t>Problème</a:t>
            </a:r>
            <a:r>
              <a:rPr sz="1600" b="1" dirty="0">
                <a:solidFill>
                  <a:srgbClr val="0E2340"/>
                </a:solidFill>
                <a:latin typeface="Calibri"/>
                <a:ea typeface="Calibri"/>
                <a:cs typeface="Calibri"/>
              </a:rPr>
              <a:t> à </a:t>
            </a:r>
            <a:r>
              <a:rPr sz="1600" b="1" dirty="0" err="1">
                <a:solidFill>
                  <a:srgbClr val="0E2340"/>
                </a:solidFill>
                <a:latin typeface="Calibri"/>
                <a:ea typeface="Calibri"/>
                <a:cs typeface="Calibri"/>
              </a:rPr>
              <a:t>résoudre</a:t>
            </a:r>
            <a:endParaRPr sz="1600" b="1" dirty="0">
              <a:solidFill>
                <a:srgbClr val="0E2340"/>
              </a:solidFill>
              <a:latin typeface="Calibri"/>
              <a:ea typeface="Calibri"/>
              <a:cs typeface="Calibri"/>
            </a:endParaRPr>
          </a:p>
          <a:p>
            <a:r>
              <a:rPr sz="1400" b="0" dirty="0" err="1">
                <a:solidFill>
                  <a:srgbClr val="23334B"/>
                </a:solidFill>
                <a:latin typeface="Calibri"/>
                <a:ea typeface="Calibri"/>
                <a:cs typeface="Calibri"/>
              </a:rPr>
              <a:t>Remplacer</a:t>
            </a:r>
            <a:r>
              <a:rPr sz="1400" b="0" dirty="0">
                <a:solidFill>
                  <a:srgbClr val="23334B"/>
                </a:solidFill>
                <a:latin typeface="Calibri"/>
                <a:ea typeface="Calibri"/>
                <a:cs typeface="Calibri"/>
              </a:rPr>
              <a:t> le </a:t>
            </a:r>
            <a:r>
              <a:rPr sz="1400" b="0" dirty="0" err="1">
                <a:solidFill>
                  <a:srgbClr val="23334B"/>
                </a:solidFill>
                <a:latin typeface="Calibri"/>
                <a:ea typeface="Calibri"/>
                <a:cs typeface="Calibri"/>
              </a:rPr>
              <a:t>suivi</a:t>
            </a:r>
            <a:r>
              <a:rPr sz="1400" b="0" dirty="0">
                <a:solidFill>
                  <a:srgbClr val="23334B"/>
                </a:solidFill>
                <a:latin typeface="Calibri"/>
                <a:ea typeface="Calibri"/>
                <a:cs typeface="Calibri"/>
              </a:rPr>
              <a:t> Excel du parc de </a:t>
            </a:r>
            <a:r>
              <a:rPr sz="1400" b="0" dirty="0" err="1">
                <a:solidFill>
                  <a:srgbClr val="23334B"/>
                </a:solidFill>
                <a:latin typeface="Calibri"/>
                <a:ea typeface="Calibri"/>
                <a:cs typeface="Calibri"/>
              </a:rPr>
              <a:t>l’ETNC</a:t>
            </a:r>
            <a:r>
              <a:rPr sz="1400" b="0" dirty="0">
                <a:solidFill>
                  <a:srgbClr val="23334B"/>
                </a:solidFill>
                <a:latin typeface="Calibri"/>
                <a:ea typeface="Calibri"/>
                <a:cs typeface="Calibri"/>
              </a:rPr>
              <a:t> par </a:t>
            </a:r>
            <a:r>
              <a:rPr sz="1400" b="0" dirty="0" err="1">
                <a:solidFill>
                  <a:srgbClr val="23334B"/>
                </a:solidFill>
                <a:latin typeface="Calibri"/>
                <a:ea typeface="Calibri"/>
                <a:cs typeface="Calibri"/>
              </a:rPr>
              <a:t>une</a:t>
            </a:r>
            <a:r>
              <a:rPr sz="1400" b="0" dirty="0">
                <a:solidFill>
                  <a:srgbClr val="23334B"/>
                </a:solidFill>
                <a:latin typeface="Calibri"/>
                <a:ea typeface="Calibri"/>
                <a:cs typeface="Calibri"/>
              </a:rPr>
              <a:t> application web avec des droits </a:t>
            </a:r>
            <a:r>
              <a:rPr sz="1400" b="0" dirty="0" err="1">
                <a:solidFill>
                  <a:srgbClr val="23334B"/>
                </a:solidFill>
                <a:latin typeface="Calibri"/>
                <a:ea typeface="Calibri"/>
                <a:cs typeface="Calibri"/>
              </a:rPr>
              <a:t>d’accès</a:t>
            </a:r>
            <a:r>
              <a:rPr sz="1400" b="0" dirty="0">
                <a:solidFill>
                  <a:srgbClr val="23334B"/>
                </a:solidFill>
                <a:latin typeface="Calibri"/>
                <a:ea typeface="Calibri"/>
                <a:cs typeface="Calibri"/>
              </a:rPr>
              <a:t> et des </a:t>
            </a:r>
            <a:r>
              <a:rPr sz="1400" b="0" dirty="0" err="1">
                <a:solidFill>
                  <a:srgbClr val="23334B"/>
                </a:solidFill>
                <a:latin typeface="Calibri"/>
                <a:ea typeface="Calibri"/>
                <a:cs typeface="Calibri"/>
              </a:rPr>
              <a:t>données</a:t>
            </a:r>
            <a:r>
              <a:rPr sz="1400" b="0" dirty="0">
                <a:solidFill>
                  <a:srgbClr val="23334B"/>
                </a:solidFill>
                <a:latin typeface="Calibri"/>
                <a:ea typeface="Calibri"/>
                <a:cs typeface="Calibri"/>
              </a:rPr>
              <a:t> </a:t>
            </a:r>
            <a:r>
              <a:rPr sz="1400" b="0" dirty="0" err="1">
                <a:solidFill>
                  <a:srgbClr val="23334B"/>
                </a:solidFill>
                <a:latin typeface="Calibri"/>
                <a:ea typeface="Calibri"/>
                <a:cs typeface="Calibri"/>
              </a:rPr>
              <a:t>centralisées</a:t>
            </a:r>
            <a:r>
              <a:rPr sz="1400" b="0" dirty="0">
                <a:solidFill>
                  <a:srgbClr val="23334B"/>
                </a:solidFill>
                <a:latin typeface="Calibri"/>
                <a:ea typeface="Calibri"/>
                <a:cs typeface="Calibri"/>
              </a:rPr>
              <a:t>.</a:t>
            </a:r>
          </a:p>
        </p:txBody>
      </p:sp>
      <p:sp>
        <p:nvSpPr>
          <p:cNvPr id="7" name="Carte - Valeur ajoutée">
            <a:extLst>
              <a:ext uri="{FF2B5EF4-FFF2-40B4-BE49-F238E27FC236}">
                <a16:creationId xmlns:a16="http://schemas.microsoft.com/office/drawing/2014/main" id="{195CAD2C-456C-4675-9162-2BBB182BFB14}"/>
              </a:ext>
            </a:extLst>
          </p:cNvPr>
          <p:cNvSpPr>
            <a:spLocks noGrp="1"/>
          </p:cNvSpPr>
          <p:nvPr/>
        </p:nvSpPr>
        <p:spPr>
          <a:xfrm>
            <a:off x="4337304" y="1600200"/>
            <a:ext cx="3514344" cy="2651760"/>
          </a:xfrm>
          <a:prstGeom prst="roundRect">
            <a:avLst>
              <a:gd name="adj" fmla="val 4138"/>
            </a:avLst>
          </a:prstGeom>
          <a:solidFill>
            <a:schemeClr val="bg2"/>
          </a:solidFill>
        </p:spPr>
        <p:txBody>
          <a:bodyPr wrap="square" lIns="177800" tIns="177800" rIns="177800" bIns="177800" anchor="t"/>
          <a:lstStyle/>
          <a:p>
            <a:pPr marL="0" indent="0" algn="l">
              <a:buNone/>
            </a:pPr>
            <a:r>
              <a:rPr sz="1600" b="1" dirty="0" err="1">
                <a:solidFill>
                  <a:schemeClr val="tx2"/>
                </a:solidFill>
              </a:rPr>
              <a:t>Valeur</a:t>
            </a:r>
            <a:r>
              <a:rPr sz="1600" b="1" dirty="0">
                <a:solidFill>
                  <a:schemeClr val="tx2"/>
                </a:solidFill>
              </a:rPr>
              <a:t> </a:t>
            </a:r>
            <a:r>
              <a:rPr sz="1600" b="1" dirty="0" err="1">
                <a:solidFill>
                  <a:schemeClr val="tx2"/>
                </a:solidFill>
              </a:rPr>
              <a:t>ajoutée</a:t>
            </a:r>
            <a:endParaRPr sz="1600" b="1" dirty="0">
              <a:solidFill>
                <a:schemeClr val="tx2"/>
              </a:solidFill>
            </a:endParaRPr>
          </a:p>
          <a:p>
            <a:pPr marL="0" indent="0" algn="l">
              <a:buNone/>
            </a:pPr>
            <a:r>
              <a:rPr sz="1400" dirty="0" err="1">
                <a:solidFill>
                  <a:schemeClr val="tx1"/>
                </a:solidFill>
              </a:rPr>
              <a:t>Centralise</a:t>
            </a:r>
            <a:r>
              <a:rPr lang="fr-FR" sz="1400" dirty="0">
                <a:solidFill>
                  <a:schemeClr val="tx1"/>
                </a:solidFill>
              </a:rPr>
              <a:t>r</a:t>
            </a:r>
            <a:endParaRPr sz="1400" dirty="0">
              <a:solidFill>
                <a:schemeClr val="tx1"/>
              </a:solidFill>
            </a:endParaRPr>
          </a:p>
        </p:txBody>
      </p:sp>
      <p:sp>
        <p:nvSpPr>
          <p:cNvPr id="8" name="Carte - Public cible">
            <a:extLst>
              <a:ext uri="{FF2B5EF4-FFF2-40B4-BE49-F238E27FC236}">
                <a16:creationId xmlns:a16="http://schemas.microsoft.com/office/drawing/2014/main" id="{532EB2D9-B170-4038-98A4-548986797933}"/>
              </a:ext>
            </a:extLst>
          </p:cNvPr>
          <p:cNvSpPr>
            <a:spLocks noGrp="1"/>
          </p:cNvSpPr>
          <p:nvPr/>
        </p:nvSpPr>
        <p:spPr>
          <a:xfrm>
            <a:off x="8125968" y="1600200"/>
            <a:ext cx="3514344" cy="2651760"/>
          </a:xfrm>
          <a:prstGeom prst="roundRect">
            <a:avLst>
              <a:gd name="adj" fmla="val 4138"/>
            </a:avLst>
          </a:prstGeom>
          <a:solidFill>
            <a:schemeClr val="bg2"/>
          </a:solidFill>
        </p:spPr>
        <p:txBody>
          <a:bodyPr wrap="square" lIns="177800" tIns="177800" rIns="177800" bIns="177800" anchor="t"/>
          <a:lstStyle/>
          <a:p>
            <a:pPr marL="0" indent="0" algn="l">
              <a:buNone/>
            </a:pPr>
            <a:r>
              <a:rPr sz="1600" b="1">
                <a:solidFill>
                  <a:schemeClr val="tx2"/>
                </a:solidFill>
              </a:rPr>
              <a:t>Public cible</a:t>
            </a:r>
          </a:p>
          <a:p>
            <a:pPr marL="0" indent="0" algn="l">
              <a:buNone/>
            </a:pPr>
            <a:r>
              <a:rPr sz="1400">
                <a:solidFill>
                  <a:schemeClr val="tx1"/>
                </a:solidFill>
              </a:rPr>
              <a:t>Administrateur, gestionnaire, formateur, stagiaire.</a:t>
            </a:r>
          </a:p>
        </p:txBody>
      </p:sp>
      <p:sp>
        <p:nvSpPr>
          <p:cNvPr id="25" name="Slide Number Placeholder 0">
            <a:extLst>
              <a:ext uri="{FF2B5EF4-FFF2-40B4-BE49-F238E27FC236}">
                <a16:creationId xmlns:a16="http://schemas.microsoft.com/office/drawing/2014/main" id="{A16D8B7C-FEF0-485E-A255-3C9B32626330}"/>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accent3"/>
                </a:solidFill>
              </a:defRPr>
            </a:lvl1pPr>
          </a:lstStyle>
          <a:p>
            <a:pPr algn="r">
              <a:buNone/>
            </a:pPr>
            <a:fld id="{EFD6AB9A-5F9E-5F59-51AB-3C8734130965}" type="slidenum">
              <a:rPr b="0"/>
              <a:t>4</a:t>
            </a:fld>
            <a:endParaRPr/>
          </a:p>
        </p:txBody>
      </p:sp>
    </p:spTree>
    <p:extLst>
      <p:ext uri="{BB962C8B-B14F-4D97-AF65-F5344CB8AC3E}">
        <p14:creationId xmlns:p14="http://schemas.microsoft.com/office/powerpoint/2010/main" val="547943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uméro de section">
            <a:extLst>
              <a:ext uri="{FF2B5EF4-FFF2-40B4-BE49-F238E27FC236}">
                <a16:creationId xmlns:a16="http://schemas.microsoft.com/office/drawing/2014/main" id="{7352F218-00EA-409D-969F-39D074F203CA}"/>
              </a:ext>
            </a:extLst>
          </p:cNvPr>
          <p:cNvSpPr>
            <a:spLocks noGrp="1"/>
          </p:cNvSpPr>
          <p:nvPr/>
        </p:nvSpPr>
        <p:spPr>
          <a:xfrm>
            <a:off x="548640" y="457200"/>
            <a:ext cx="822960" cy="822960"/>
          </a:xfrm>
          <a:prstGeom prst="ellipse">
            <a:avLst/>
          </a:prstGeom>
          <a:solidFill>
            <a:schemeClr val="accent1"/>
          </a:solidFill>
        </p:spPr>
        <p:txBody>
          <a:bodyPr wrap="square" lIns="0" tIns="0" rIns="0" bIns="0" anchor="ctr"/>
          <a:lstStyle/>
          <a:p>
            <a:pPr marL="0" indent="0" algn="ctr">
              <a:buNone/>
            </a:pPr>
            <a:r>
              <a:rPr sz="2600" b="1">
                <a:solidFill>
                  <a:schemeClr val="bg1"/>
                </a:solidFill>
              </a:rPr>
              <a:t>3</a:t>
            </a:r>
            <a:endParaRPr sz="2600"/>
          </a:p>
        </p:txBody>
      </p:sp>
      <p:sp>
        <p:nvSpPr>
          <p:cNvPr id="3" name="Text 0">
            <a:extLst>
              <a:ext uri="{FF2B5EF4-FFF2-40B4-BE49-F238E27FC236}">
                <a16:creationId xmlns:a16="http://schemas.microsoft.com/office/drawing/2014/main" id="{213BAD86-99E8-49DB-82DE-4240AF86C225}"/>
              </a:ext>
            </a:extLst>
          </p:cNvPr>
          <p:cNvSpPr>
            <a:spLocks noGrp="1"/>
          </p:cNvSpPr>
          <p:nvPr>
            <p:ph type="title" idx="100" hasCustomPrompt="1"/>
          </p:nvPr>
        </p:nvSpPr>
        <p:spPr>
          <a:xfrm>
            <a:off x="1600200" y="457200"/>
            <a:ext cx="8138160" cy="822960"/>
          </a:xfrm>
          <a:prstGeom prst="rect">
            <a:avLst/>
          </a:prstGeom>
          <a:noFill/>
        </p:spPr>
        <p:txBody>
          <a:bodyPr wrap="square" lIns="0" tIns="0" rIns="0" bIns="0" anchor="ctr"/>
          <a:lstStyle/>
          <a:p>
            <a:pPr marL="0" indent="0" algn="l">
              <a:buNone/>
            </a:pPr>
            <a:r>
              <a:rPr sz="3600" b="1" dirty="0" err="1">
                <a:solidFill>
                  <a:schemeClr val="tx2"/>
                </a:solidFill>
              </a:rPr>
              <a:t>Synthèse</a:t>
            </a:r>
            <a:r>
              <a:rPr sz="3600" b="1" dirty="0">
                <a:solidFill>
                  <a:schemeClr val="tx2"/>
                </a:solidFill>
              </a:rPr>
              <a:t> du </a:t>
            </a:r>
            <a:r>
              <a:rPr sz="3600" b="1" dirty="0" err="1">
                <a:solidFill>
                  <a:schemeClr val="tx2"/>
                </a:solidFill>
              </a:rPr>
              <a:t>recueil</a:t>
            </a:r>
            <a:r>
              <a:rPr sz="3600" b="1" dirty="0">
                <a:solidFill>
                  <a:schemeClr val="tx2"/>
                </a:solidFill>
              </a:rPr>
              <a:t> du </a:t>
            </a:r>
            <a:r>
              <a:rPr sz="3600" b="1" dirty="0" err="1">
                <a:solidFill>
                  <a:schemeClr val="tx2"/>
                </a:solidFill>
              </a:rPr>
              <a:t>besoin</a:t>
            </a:r>
            <a:endParaRPr sz="3600" dirty="0"/>
          </a:p>
        </p:txBody>
      </p:sp>
      <p:sp>
        <p:nvSpPr>
          <p:cNvPr id="7" name="Carte - Besoins fonctionnels majeurs">
            <a:extLst>
              <a:ext uri="{FF2B5EF4-FFF2-40B4-BE49-F238E27FC236}">
                <a16:creationId xmlns:a16="http://schemas.microsoft.com/office/drawing/2014/main" id="{84D1A72F-47D6-4931-8C81-20718D177292}"/>
              </a:ext>
            </a:extLst>
          </p:cNvPr>
          <p:cNvSpPr>
            <a:spLocks noGrp="1"/>
          </p:cNvSpPr>
          <p:nvPr/>
        </p:nvSpPr>
        <p:spPr>
          <a:xfrm>
            <a:off x="1600200" y="1449730"/>
            <a:ext cx="3514344" cy="2148840"/>
          </a:xfrm>
          <a:prstGeom prst="roundRect">
            <a:avLst>
              <a:gd name="adj" fmla="val 5106"/>
            </a:avLst>
          </a:prstGeom>
          <a:solidFill>
            <a:schemeClr val="bg2"/>
          </a:solidFill>
        </p:spPr>
        <p:txBody>
          <a:bodyPr wrap="square" lIns="177800" tIns="177800" rIns="177800" bIns="177800" anchor="t"/>
          <a:lstStyle/>
          <a:p>
            <a:pPr marL="0" indent="0" algn="l">
              <a:buNone/>
            </a:pPr>
            <a:r>
              <a:rPr sz="1600" b="1" dirty="0" err="1">
                <a:solidFill>
                  <a:schemeClr val="tx2"/>
                </a:solidFill>
              </a:rPr>
              <a:t>Besoins</a:t>
            </a:r>
            <a:r>
              <a:rPr sz="1600" b="1" dirty="0">
                <a:solidFill>
                  <a:schemeClr val="tx2"/>
                </a:solidFill>
              </a:rPr>
              <a:t> </a:t>
            </a:r>
            <a:r>
              <a:rPr sz="1600" b="1" dirty="0" err="1">
                <a:solidFill>
                  <a:schemeClr val="tx2"/>
                </a:solidFill>
              </a:rPr>
              <a:t>fonctionnels</a:t>
            </a:r>
            <a:r>
              <a:rPr sz="1600" b="1" dirty="0">
                <a:solidFill>
                  <a:schemeClr val="tx2"/>
                </a:solidFill>
              </a:rPr>
              <a:t> </a:t>
            </a:r>
            <a:r>
              <a:rPr sz="1600" b="1" dirty="0" err="1">
                <a:solidFill>
                  <a:schemeClr val="tx2"/>
                </a:solidFill>
              </a:rPr>
              <a:t>majeurs</a:t>
            </a:r>
            <a:endParaRPr sz="1600" b="1" dirty="0">
              <a:solidFill>
                <a:schemeClr val="tx2"/>
              </a:solidFill>
            </a:endParaRPr>
          </a:p>
          <a:p>
            <a:pPr marL="0" indent="0" algn="l">
              <a:buNone/>
            </a:pPr>
            <a:r>
              <a:rPr sz="1400" dirty="0">
                <a:solidFill>
                  <a:schemeClr val="tx1"/>
                </a:solidFill>
              </a:rPr>
              <a:t>Matériel et salles ; affectation ; </a:t>
            </a:r>
            <a:r>
              <a:rPr sz="1400" dirty="0" err="1">
                <a:solidFill>
                  <a:schemeClr val="tx1"/>
                </a:solidFill>
              </a:rPr>
              <a:t>transferts</a:t>
            </a:r>
            <a:r>
              <a:rPr sz="1400" dirty="0">
                <a:solidFill>
                  <a:schemeClr val="tx1"/>
                </a:solidFill>
              </a:rPr>
              <a:t> ; droits par </a:t>
            </a:r>
            <a:r>
              <a:rPr sz="1400" dirty="0" err="1">
                <a:solidFill>
                  <a:schemeClr val="tx1"/>
                </a:solidFill>
              </a:rPr>
              <a:t>rôle</a:t>
            </a:r>
            <a:r>
              <a:rPr sz="1400" dirty="0">
                <a:solidFill>
                  <a:schemeClr val="tx1"/>
                </a:solidFill>
              </a:rPr>
              <a:t> ; supervision ; </a:t>
            </a:r>
            <a:r>
              <a:rPr sz="1400" dirty="0" err="1">
                <a:solidFill>
                  <a:schemeClr val="tx1"/>
                </a:solidFill>
              </a:rPr>
              <a:t>statistiques</a:t>
            </a:r>
            <a:r>
              <a:rPr sz="1400" dirty="0">
                <a:solidFill>
                  <a:schemeClr val="tx1"/>
                </a:solidFill>
              </a:rPr>
              <a:t> par salle.</a:t>
            </a:r>
          </a:p>
        </p:txBody>
      </p:sp>
      <p:sp>
        <p:nvSpPr>
          <p:cNvPr id="8" name="Carte - Contraintes identifiées">
            <a:extLst>
              <a:ext uri="{FF2B5EF4-FFF2-40B4-BE49-F238E27FC236}">
                <a16:creationId xmlns:a16="http://schemas.microsoft.com/office/drawing/2014/main" id="{F5C1285D-792E-4B65-B85F-37337F1B8D35}"/>
              </a:ext>
            </a:extLst>
          </p:cNvPr>
          <p:cNvSpPr>
            <a:spLocks noGrp="1"/>
          </p:cNvSpPr>
          <p:nvPr/>
        </p:nvSpPr>
        <p:spPr>
          <a:xfrm>
            <a:off x="6794879" y="1449730"/>
            <a:ext cx="3514344" cy="2148840"/>
          </a:xfrm>
          <a:prstGeom prst="roundRect">
            <a:avLst>
              <a:gd name="adj" fmla="val 5106"/>
            </a:avLst>
          </a:prstGeom>
          <a:solidFill>
            <a:schemeClr val="bg2"/>
          </a:solidFill>
        </p:spPr>
        <p:txBody>
          <a:bodyPr wrap="square" lIns="177800" tIns="177800" rIns="177800" bIns="177800" anchor="t"/>
          <a:lstStyle/>
          <a:p>
            <a:r>
              <a:rPr sz="1600" b="1" dirty="0" err="1">
                <a:solidFill>
                  <a:srgbClr val="0E2340"/>
                </a:solidFill>
                <a:latin typeface="Calibri"/>
                <a:ea typeface="Calibri"/>
                <a:cs typeface="Calibri"/>
              </a:rPr>
              <a:t>Rôles</a:t>
            </a:r>
            <a:r>
              <a:rPr sz="1600" b="1" dirty="0">
                <a:solidFill>
                  <a:srgbClr val="0E2340"/>
                </a:solidFill>
                <a:latin typeface="Calibri"/>
                <a:ea typeface="Calibri"/>
                <a:cs typeface="Calibri"/>
              </a:rPr>
              <a:t> </a:t>
            </a:r>
            <a:r>
              <a:rPr sz="1600" b="1" dirty="0" err="1">
                <a:solidFill>
                  <a:srgbClr val="0E2340"/>
                </a:solidFill>
                <a:latin typeface="Calibri"/>
                <a:ea typeface="Calibri"/>
                <a:cs typeface="Calibri"/>
              </a:rPr>
              <a:t>précisés</a:t>
            </a:r>
            <a:r>
              <a:rPr sz="1600" b="1" dirty="0">
                <a:solidFill>
                  <a:srgbClr val="0E2340"/>
                </a:solidFill>
                <a:latin typeface="Calibri"/>
                <a:ea typeface="Calibri"/>
                <a:cs typeface="Calibri"/>
              </a:rPr>
              <a:t> </a:t>
            </a:r>
            <a:r>
              <a:rPr sz="1400" b="0" dirty="0">
                <a:solidFill>
                  <a:srgbClr val="23334B"/>
                </a:solidFill>
                <a:latin typeface="Calibri"/>
                <a:ea typeface="Calibri"/>
                <a:cs typeface="Calibri"/>
              </a:rPr>
              <a:t>Le </a:t>
            </a:r>
            <a:r>
              <a:rPr sz="1400" b="0" dirty="0" err="1">
                <a:solidFill>
                  <a:srgbClr val="23334B"/>
                </a:solidFill>
                <a:latin typeface="Calibri"/>
                <a:ea typeface="Calibri"/>
                <a:cs typeface="Calibri"/>
              </a:rPr>
              <a:t>gestionnaire</a:t>
            </a:r>
            <a:r>
              <a:rPr sz="1400" b="0" dirty="0">
                <a:solidFill>
                  <a:srgbClr val="23334B"/>
                </a:solidFill>
                <a:latin typeface="Calibri"/>
                <a:ea typeface="Calibri"/>
                <a:cs typeface="Calibri"/>
              </a:rPr>
              <a:t> </a:t>
            </a:r>
            <a:r>
              <a:rPr sz="1400" b="0" dirty="0" err="1">
                <a:solidFill>
                  <a:srgbClr val="23334B"/>
                </a:solidFill>
                <a:latin typeface="Calibri"/>
                <a:ea typeface="Calibri"/>
                <a:cs typeface="Calibri"/>
              </a:rPr>
              <a:t>affecte</a:t>
            </a:r>
            <a:r>
              <a:rPr sz="1400" b="0" dirty="0">
                <a:solidFill>
                  <a:srgbClr val="23334B"/>
                </a:solidFill>
                <a:latin typeface="Calibri"/>
                <a:ea typeface="Calibri"/>
                <a:cs typeface="Calibri"/>
              </a:rPr>
              <a:t> et </a:t>
            </a:r>
            <a:r>
              <a:rPr sz="1400" b="0" dirty="0" err="1">
                <a:solidFill>
                  <a:srgbClr val="23334B"/>
                </a:solidFill>
                <a:latin typeface="Calibri"/>
                <a:ea typeface="Calibri"/>
                <a:cs typeface="Calibri"/>
              </a:rPr>
              <a:t>transfère</a:t>
            </a:r>
            <a:r>
              <a:rPr sz="1400" b="0" dirty="0">
                <a:solidFill>
                  <a:srgbClr val="23334B"/>
                </a:solidFill>
                <a:latin typeface="Calibri"/>
                <a:ea typeface="Calibri"/>
                <a:cs typeface="Calibri"/>
              </a:rPr>
              <a:t>. </a:t>
            </a:r>
            <a:r>
              <a:rPr sz="1400" b="0" dirty="0" err="1">
                <a:solidFill>
                  <a:srgbClr val="23334B"/>
                </a:solidFill>
                <a:latin typeface="Calibri"/>
                <a:ea typeface="Calibri"/>
                <a:cs typeface="Calibri"/>
              </a:rPr>
              <a:t>L’administrateur</a:t>
            </a:r>
            <a:r>
              <a:rPr sz="1400" b="0" dirty="0">
                <a:solidFill>
                  <a:srgbClr val="23334B"/>
                </a:solidFill>
                <a:latin typeface="Calibri"/>
                <a:ea typeface="Calibri"/>
                <a:cs typeface="Calibri"/>
              </a:rPr>
              <a:t> </a:t>
            </a:r>
            <a:r>
              <a:rPr sz="1400" b="0" dirty="0" err="1">
                <a:solidFill>
                  <a:srgbClr val="23334B"/>
                </a:solidFill>
                <a:latin typeface="Calibri"/>
                <a:ea typeface="Calibri"/>
                <a:cs typeface="Calibri"/>
              </a:rPr>
              <a:t>gère</a:t>
            </a:r>
            <a:r>
              <a:rPr sz="1400" b="0" dirty="0">
                <a:solidFill>
                  <a:srgbClr val="23334B"/>
                </a:solidFill>
                <a:latin typeface="Calibri"/>
                <a:ea typeface="Calibri"/>
                <a:cs typeface="Calibri"/>
              </a:rPr>
              <a:t> les </a:t>
            </a:r>
            <a:r>
              <a:rPr sz="1400" b="0" dirty="0" err="1">
                <a:solidFill>
                  <a:srgbClr val="23334B"/>
                </a:solidFill>
                <a:latin typeface="Calibri"/>
                <a:ea typeface="Calibri"/>
                <a:cs typeface="Calibri"/>
              </a:rPr>
              <a:t>utilisateurs</a:t>
            </a:r>
            <a:r>
              <a:rPr sz="1400" b="0" dirty="0">
                <a:solidFill>
                  <a:srgbClr val="23334B"/>
                </a:solidFill>
                <a:latin typeface="Calibri"/>
                <a:ea typeface="Calibri"/>
                <a:cs typeface="Calibri"/>
              </a:rPr>
              <a:t>. Le </a:t>
            </a:r>
            <a:r>
              <a:rPr sz="1400" b="0" dirty="0" err="1">
                <a:solidFill>
                  <a:srgbClr val="23334B"/>
                </a:solidFill>
                <a:latin typeface="Calibri"/>
                <a:ea typeface="Calibri"/>
                <a:cs typeface="Calibri"/>
              </a:rPr>
              <a:t>formateur</a:t>
            </a:r>
            <a:r>
              <a:rPr sz="1400" b="0" dirty="0">
                <a:solidFill>
                  <a:srgbClr val="23334B"/>
                </a:solidFill>
                <a:latin typeface="Calibri"/>
                <a:ea typeface="Calibri"/>
                <a:cs typeface="Calibri"/>
              </a:rPr>
              <a:t> </a:t>
            </a:r>
            <a:r>
              <a:rPr sz="1400" b="0" dirty="0" err="1">
                <a:solidFill>
                  <a:srgbClr val="23334B"/>
                </a:solidFill>
                <a:latin typeface="Calibri"/>
                <a:ea typeface="Calibri"/>
                <a:cs typeface="Calibri"/>
              </a:rPr>
              <a:t>signale</a:t>
            </a:r>
            <a:r>
              <a:rPr sz="1400" b="0" dirty="0">
                <a:solidFill>
                  <a:srgbClr val="23334B"/>
                </a:solidFill>
                <a:latin typeface="Calibri"/>
                <a:ea typeface="Calibri"/>
                <a:cs typeface="Calibri"/>
              </a:rPr>
              <a:t> les </a:t>
            </a:r>
            <a:r>
              <a:rPr sz="1400" b="0" dirty="0" err="1">
                <a:solidFill>
                  <a:srgbClr val="23334B"/>
                </a:solidFill>
                <a:latin typeface="Calibri"/>
                <a:ea typeface="Calibri"/>
                <a:cs typeface="Calibri"/>
              </a:rPr>
              <a:t>problèmes</a:t>
            </a:r>
            <a:r>
              <a:rPr sz="1400" b="0" dirty="0">
                <a:solidFill>
                  <a:srgbClr val="23334B"/>
                </a:solidFill>
                <a:latin typeface="Calibri"/>
                <a:ea typeface="Calibri"/>
                <a:cs typeface="Calibri"/>
              </a:rPr>
              <a:t> de </a:t>
            </a:r>
            <a:r>
              <a:rPr sz="1400" b="0" dirty="0" err="1">
                <a:solidFill>
                  <a:srgbClr val="23334B"/>
                </a:solidFill>
                <a:latin typeface="Calibri"/>
                <a:ea typeface="Calibri"/>
                <a:cs typeface="Calibri"/>
              </a:rPr>
              <a:t>sa</a:t>
            </a:r>
            <a:r>
              <a:rPr sz="1400" b="0" dirty="0">
                <a:solidFill>
                  <a:srgbClr val="23334B"/>
                </a:solidFill>
                <a:latin typeface="Calibri"/>
                <a:ea typeface="Calibri"/>
                <a:cs typeface="Calibri"/>
              </a:rPr>
              <a:t> salle</a:t>
            </a:r>
            <a:r>
              <a:rPr lang="fr-FR" sz="1400" b="0" dirty="0">
                <a:solidFill>
                  <a:srgbClr val="23334B"/>
                </a:solidFill>
                <a:latin typeface="Calibri"/>
                <a:ea typeface="Calibri"/>
                <a:cs typeface="Calibri"/>
              </a:rPr>
              <a:t> et supervise sa salle. Le stagiaire peut signaler un probl</a:t>
            </a:r>
            <a:r>
              <a:rPr lang="fr-FR" sz="1400" dirty="0">
                <a:solidFill>
                  <a:srgbClr val="23334B"/>
                </a:solidFill>
                <a:latin typeface="Calibri"/>
                <a:ea typeface="Calibri"/>
                <a:cs typeface="Calibri"/>
              </a:rPr>
              <a:t>ème sur son pc.</a:t>
            </a:r>
            <a:endParaRPr sz="1400" b="0" dirty="0">
              <a:solidFill>
                <a:srgbClr val="23334B"/>
              </a:solidFill>
              <a:latin typeface="Calibri"/>
              <a:ea typeface="Calibri"/>
              <a:cs typeface="Calibri"/>
            </a:endParaRPr>
          </a:p>
        </p:txBody>
      </p:sp>
      <p:sp>
        <p:nvSpPr>
          <p:cNvPr id="10" name="Carte - Questions ouvertes au client">
            <a:extLst>
              <a:ext uri="{FF2B5EF4-FFF2-40B4-BE49-F238E27FC236}">
                <a16:creationId xmlns:a16="http://schemas.microsoft.com/office/drawing/2014/main" id="{DB8D9694-F849-401B-8893-72DAC24387B3}"/>
              </a:ext>
            </a:extLst>
          </p:cNvPr>
          <p:cNvSpPr>
            <a:spLocks noGrp="1"/>
          </p:cNvSpPr>
          <p:nvPr/>
        </p:nvSpPr>
        <p:spPr>
          <a:xfrm>
            <a:off x="3391662" y="3919188"/>
            <a:ext cx="5408676" cy="2148840"/>
          </a:xfrm>
          <a:prstGeom prst="roundRect">
            <a:avLst>
              <a:gd name="adj" fmla="val 5106"/>
            </a:avLst>
          </a:prstGeom>
          <a:solidFill>
            <a:schemeClr val="bg2"/>
          </a:solidFill>
        </p:spPr>
        <p:txBody>
          <a:bodyPr wrap="square" lIns="177800" tIns="177800" rIns="177800" bIns="177800" anchor="t"/>
          <a:lstStyle/>
          <a:p>
            <a:r>
              <a:rPr sz="1600" b="1" dirty="0">
                <a:solidFill>
                  <a:srgbClr val="0E2340"/>
                </a:solidFill>
                <a:latin typeface="Calibri"/>
                <a:ea typeface="Calibri"/>
                <a:cs typeface="Calibri"/>
              </a:rPr>
              <a:t>Supervision et </a:t>
            </a:r>
            <a:r>
              <a:rPr sz="1600" b="1" dirty="0" err="1">
                <a:solidFill>
                  <a:srgbClr val="0E2340"/>
                </a:solidFill>
                <a:latin typeface="Calibri"/>
                <a:ea typeface="Calibri"/>
                <a:cs typeface="Calibri"/>
              </a:rPr>
              <a:t>statistiques</a:t>
            </a:r>
            <a:endParaRPr sz="1600" b="1" dirty="0">
              <a:solidFill>
                <a:srgbClr val="0E2340"/>
              </a:solidFill>
              <a:latin typeface="Calibri"/>
              <a:ea typeface="Calibri"/>
              <a:cs typeface="Calibri"/>
            </a:endParaRPr>
          </a:p>
          <a:p>
            <a:endParaRPr lang="fr-FR" sz="1400" b="0" dirty="0">
              <a:solidFill>
                <a:srgbClr val="23334B"/>
              </a:solidFill>
              <a:latin typeface="Calibri"/>
              <a:ea typeface="Calibri"/>
              <a:cs typeface="Calibri"/>
            </a:endParaRPr>
          </a:p>
          <a:p>
            <a:r>
              <a:rPr sz="1400" b="0" dirty="0">
                <a:solidFill>
                  <a:srgbClr val="23334B"/>
                </a:solidFill>
                <a:latin typeface="Calibri"/>
                <a:ea typeface="Calibri"/>
                <a:cs typeface="Calibri"/>
              </a:rPr>
              <a:t>les </a:t>
            </a:r>
            <a:r>
              <a:rPr sz="1400" b="0" dirty="0" err="1">
                <a:solidFill>
                  <a:srgbClr val="23334B"/>
                </a:solidFill>
                <a:latin typeface="Calibri"/>
                <a:ea typeface="Calibri"/>
                <a:cs typeface="Calibri"/>
              </a:rPr>
              <a:t>processus</a:t>
            </a:r>
            <a:r>
              <a:rPr sz="1400" b="0" dirty="0">
                <a:solidFill>
                  <a:srgbClr val="23334B"/>
                </a:solidFill>
                <a:latin typeface="Calibri"/>
                <a:ea typeface="Calibri"/>
                <a:cs typeface="Calibri"/>
              </a:rPr>
              <a:t> de </a:t>
            </a:r>
            <a:r>
              <a:rPr sz="1400" b="0" dirty="0" err="1">
                <a:solidFill>
                  <a:srgbClr val="23334B"/>
                </a:solidFill>
                <a:latin typeface="Calibri"/>
                <a:ea typeface="Calibri"/>
                <a:cs typeface="Calibri"/>
              </a:rPr>
              <a:t>chaque</a:t>
            </a:r>
            <a:r>
              <a:rPr sz="1400" b="0" dirty="0">
                <a:solidFill>
                  <a:srgbClr val="23334B"/>
                </a:solidFill>
                <a:latin typeface="Calibri"/>
                <a:ea typeface="Calibri"/>
                <a:cs typeface="Calibri"/>
              </a:rPr>
              <a:t> poste, le </a:t>
            </a:r>
            <a:r>
              <a:rPr sz="1400" b="0" dirty="0" err="1">
                <a:solidFill>
                  <a:srgbClr val="23334B"/>
                </a:solidFill>
                <a:latin typeface="Calibri"/>
                <a:ea typeface="Calibri"/>
                <a:cs typeface="Calibri"/>
              </a:rPr>
              <a:t>pourcentage</a:t>
            </a:r>
            <a:r>
              <a:rPr sz="1400" b="0" dirty="0">
                <a:solidFill>
                  <a:srgbClr val="23334B"/>
                </a:solidFill>
                <a:latin typeface="Calibri"/>
                <a:ea typeface="Calibri"/>
                <a:cs typeface="Calibri"/>
              </a:rPr>
              <a:t> de </a:t>
            </a:r>
            <a:r>
              <a:rPr sz="1400" b="0" dirty="0" err="1">
                <a:solidFill>
                  <a:srgbClr val="23334B"/>
                </a:solidFill>
                <a:latin typeface="Calibri"/>
                <a:ea typeface="Calibri"/>
                <a:cs typeface="Calibri"/>
              </a:rPr>
              <a:t>postes</a:t>
            </a:r>
            <a:r>
              <a:rPr sz="1400" b="0" dirty="0">
                <a:solidFill>
                  <a:srgbClr val="23334B"/>
                </a:solidFill>
                <a:latin typeface="Calibri"/>
                <a:ea typeface="Calibri"/>
                <a:cs typeface="Calibri"/>
              </a:rPr>
              <a:t> </a:t>
            </a:r>
            <a:r>
              <a:rPr sz="1400" b="0" dirty="0" err="1">
                <a:solidFill>
                  <a:srgbClr val="23334B"/>
                </a:solidFill>
                <a:latin typeface="Calibri"/>
                <a:ea typeface="Calibri"/>
                <a:cs typeface="Calibri"/>
              </a:rPr>
              <a:t>disponibles</a:t>
            </a:r>
            <a:r>
              <a:rPr sz="1400" b="0" dirty="0">
                <a:solidFill>
                  <a:srgbClr val="23334B"/>
                </a:solidFill>
                <a:latin typeface="Calibri"/>
                <a:ea typeface="Calibri"/>
                <a:cs typeface="Calibri"/>
              </a:rPr>
              <a:t> et le </a:t>
            </a:r>
            <a:r>
              <a:rPr sz="1400" b="0" dirty="0" err="1">
                <a:solidFill>
                  <a:srgbClr val="23334B"/>
                </a:solidFill>
                <a:latin typeface="Calibri"/>
                <a:ea typeface="Calibri"/>
                <a:cs typeface="Calibri"/>
              </a:rPr>
              <a:t>nombre</a:t>
            </a:r>
            <a:r>
              <a:rPr sz="1400" b="0" dirty="0">
                <a:solidFill>
                  <a:srgbClr val="23334B"/>
                </a:solidFill>
                <a:latin typeface="Calibri"/>
                <a:ea typeface="Calibri"/>
                <a:cs typeface="Calibri"/>
              </a:rPr>
              <a:t> de </a:t>
            </a:r>
            <a:r>
              <a:rPr sz="1400" b="0" dirty="0" err="1">
                <a:solidFill>
                  <a:srgbClr val="23334B"/>
                </a:solidFill>
                <a:latin typeface="Calibri"/>
                <a:ea typeface="Calibri"/>
                <a:cs typeface="Calibri"/>
              </a:rPr>
              <a:t>postes</a:t>
            </a:r>
            <a:r>
              <a:rPr sz="1400" b="0" dirty="0">
                <a:solidFill>
                  <a:srgbClr val="23334B"/>
                </a:solidFill>
                <a:latin typeface="Calibri"/>
                <a:ea typeface="Calibri"/>
                <a:cs typeface="Calibri"/>
              </a:rPr>
              <a:t> </a:t>
            </a:r>
            <a:r>
              <a:rPr sz="1400" b="0" dirty="0" err="1">
                <a:solidFill>
                  <a:srgbClr val="23334B"/>
                </a:solidFill>
                <a:latin typeface="Calibri"/>
                <a:ea typeface="Calibri"/>
                <a:cs typeface="Calibri"/>
              </a:rPr>
              <a:t>défaillants</a:t>
            </a:r>
            <a:r>
              <a:rPr sz="1400" b="0" dirty="0">
                <a:solidFill>
                  <a:srgbClr val="23334B"/>
                </a:solidFill>
                <a:latin typeface="Calibri"/>
                <a:ea typeface="Calibri"/>
                <a:cs typeface="Calibri"/>
              </a:rPr>
              <a:t> par salle.</a:t>
            </a:r>
          </a:p>
        </p:txBody>
      </p:sp>
      <p:sp>
        <p:nvSpPr>
          <p:cNvPr id="25" name="Slide Number Placeholder 0">
            <a:extLst>
              <a:ext uri="{FF2B5EF4-FFF2-40B4-BE49-F238E27FC236}">
                <a16:creationId xmlns:a16="http://schemas.microsoft.com/office/drawing/2014/main" id="{40DFBF02-AFE4-4FED-9442-3EBBEA380FCA}"/>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accent3"/>
                </a:solidFill>
              </a:defRPr>
            </a:lvl1pPr>
          </a:lstStyle>
          <a:p>
            <a:pPr algn="r">
              <a:buNone/>
            </a:pPr>
            <a:fld id="{EE5B3003-2C54-13C6-9832-7637201064DE}" type="slidenum">
              <a:rPr b="0"/>
              <a:t>5</a:t>
            </a:fld>
            <a:endParaRPr/>
          </a:p>
        </p:txBody>
      </p:sp>
    </p:spTree>
    <p:extLst>
      <p:ext uri="{BB962C8B-B14F-4D97-AF65-F5344CB8AC3E}">
        <p14:creationId xmlns:p14="http://schemas.microsoft.com/office/powerpoint/2010/main" val="1077202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uméro de section">
            <a:extLst>
              <a:ext uri="{FF2B5EF4-FFF2-40B4-BE49-F238E27FC236}">
                <a16:creationId xmlns:a16="http://schemas.microsoft.com/office/drawing/2014/main" id="{1C1F1A67-4629-45E9-8928-566D13738B2D}"/>
              </a:ext>
            </a:extLst>
          </p:cNvPr>
          <p:cNvSpPr>
            <a:spLocks noGrp="1"/>
          </p:cNvSpPr>
          <p:nvPr/>
        </p:nvSpPr>
        <p:spPr>
          <a:xfrm>
            <a:off x="548640" y="457200"/>
            <a:ext cx="822960" cy="822960"/>
          </a:xfrm>
          <a:prstGeom prst="ellipse">
            <a:avLst/>
          </a:prstGeom>
          <a:solidFill>
            <a:schemeClr val="accent1"/>
          </a:solidFill>
        </p:spPr>
        <p:txBody>
          <a:bodyPr wrap="square" lIns="0" tIns="0" rIns="0" bIns="0" anchor="ctr"/>
          <a:lstStyle/>
          <a:p>
            <a:pPr marL="0" indent="0" algn="ctr">
              <a:buNone/>
            </a:pPr>
            <a:r>
              <a:rPr sz="2600" b="1">
                <a:solidFill>
                  <a:schemeClr val="bg1"/>
                </a:solidFill>
              </a:rPr>
              <a:t>4</a:t>
            </a:r>
            <a:endParaRPr sz="2600"/>
          </a:p>
        </p:txBody>
      </p:sp>
      <p:sp>
        <p:nvSpPr>
          <p:cNvPr id="3" name="Text 0">
            <a:extLst>
              <a:ext uri="{FF2B5EF4-FFF2-40B4-BE49-F238E27FC236}">
                <a16:creationId xmlns:a16="http://schemas.microsoft.com/office/drawing/2014/main" id="{CE283504-BC6C-46A6-AE55-4184DE7477AA}"/>
              </a:ext>
            </a:extLst>
          </p:cNvPr>
          <p:cNvSpPr>
            <a:spLocks noGrp="1"/>
          </p:cNvSpPr>
          <p:nvPr>
            <p:ph type="title" idx="100" hasCustomPrompt="1"/>
          </p:nvPr>
        </p:nvSpPr>
        <p:spPr>
          <a:xfrm>
            <a:off x="1600200" y="457200"/>
            <a:ext cx="8138160" cy="822960"/>
          </a:xfrm>
          <a:prstGeom prst="rect">
            <a:avLst/>
          </a:prstGeom>
          <a:noFill/>
        </p:spPr>
        <p:txBody>
          <a:bodyPr wrap="square" lIns="0" tIns="0" rIns="0" bIns="0" anchor="ctr"/>
          <a:lstStyle/>
          <a:p>
            <a:pPr marL="0" indent="0" algn="l">
              <a:buNone/>
            </a:pPr>
            <a:r>
              <a:rPr sz="3600" b="1">
                <a:solidFill>
                  <a:schemeClr val="tx2"/>
                </a:solidFill>
              </a:rPr>
              <a:t>Présentation des personas</a:t>
            </a:r>
            <a:endParaRPr sz="3600"/>
          </a:p>
        </p:txBody>
      </p:sp>
      <p:sp>
        <p:nvSpPr>
          <p:cNvPr id="6" name="Carte - Persona 2 :">
            <a:extLst>
              <a:ext uri="{FF2B5EF4-FFF2-40B4-BE49-F238E27FC236}">
                <a16:creationId xmlns:a16="http://schemas.microsoft.com/office/drawing/2014/main" id="{FBC331A7-7771-4148-A1A1-863B93CB172C}"/>
              </a:ext>
            </a:extLst>
          </p:cNvPr>
          <p:cNvSpPr>
            <a:spLocks noGrp="1"/>
          </p:cNvSpPr>
          <p:nvPr/>
        </p:nvSpPr>
        <p:spPr>
          <a:xfrm>
            <a:off x="548640" y="1600200"/>
            <a:ext cx="11091672" cy="640080"/>
          </a:xfrm>
          <a:prstGeom prst="roundRect">
            <a:avLst>
              <a:gd name="adj" fmla="val 17143"/>
            </a:avLst>
          </a:prstGeom>
          <a:solidFill>
            <a:schemeClr val="tx2"/>
          </a:solidFill>
        </p:spPr>
        <p:txBody>
          <a:bodyPr wrap="square" lIns="177800" tIns="177800" rIns="177800" bIns="177800" anchor="t"/>
          <a:lstStyle/>
          <a:p>
            <a:pPr marL="0" indent="0" algn="l">
              <a:buNone/>
            </a:pPr>
            <a:r>
              <a:rPr lang="fr-FR" sz="1800" b="1" dirty="0">
                <a:solidFill>
                  <a:schemeClr val="bg1"/>
                </a:solidFill>
              </a:rPr>
              <a:t>Stagiaire</a:t>
            </a:r>
            <a:br>
              <a:rPr sz="1800" b="1" dirty="0">
                <a:solidFill>
                  <a:schemeClr val="bg1"/>
                </a:solidFill>
              </a:rPr>
            </a:br>
            <a:endParaRPr sz="1800" dirty="0"/>
          </a:p>
          <a:p>
            <a:pPr marL="0" indent="0" algn="l">
              <a:buNone/>
            </a:pPr>
            <a:endParaRPr sz="1800" dirty="0"/>
          </a:p>
        </p:txBody>
      </p:sp>
      <p:sp>
        <p:nvSpPr>
          <p:cNvPr id="25" name="Slide Number Placeholder 0">
            <a:extLst>
              <a:ext uri="{FF2B5EF4-FFF2-40B4-BE49-F238E27FC236}">
                <a16:creationId xmlns:a16="http://schemas.microsoft.com/office/drawing/2014/main" id="{5D89DD85-0064-4674-9E86-AAB758ACABCB}"/>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accent3"/>
                </a:solidFill>
              </a:defRPr>
            </a:lvl1pPr>
          </a:lstStyle>
          <a:p>
            <a:pPr algn="r">
              <a:buNone/>
            </a:pPr>
            <a:fld id="{D3D7D1C8-AE23-AA48-DF65-C742588DBE47}" type="slidenum">
              <a:rPr b="0"/>
              <a:t>6</a:t>
            </a:fld>
            <a:endParaRPr/>
          </a:p>
        </p:txBody>
      </p:sp>
      <p:sp>
        <p:nvSpPr>
          <p:cNvPr id="11" name="Carte - Persona 2 :">
            <a:extLst>
              <a:ext uri="{FF2B5EF4-FFF2-40B4-BE49-F238E27FC236}">
                <a16:creationId xmlns:a16="http://schemas.microsoft.com/office/drawing/2014/main" id="{1ECDEE34-1832-4E01-8B19-ED5DEC06ABD6}"/>
              </a:ext>
            </a:extLst>
          </p:cNvPr>
          <p:cNvSpPr>
            <a:spLocks noGrp="1"/>
          </p:cNvSpPr>
          <p:nvPr/>
        </p:nvSpPr>
        <p:spPr>
          <a:xfrm>
            <a:off x="548640" y="2589276"/>
            <a:ext cx="11091672" cy="640080"/>
          </a:xfrm>
          <a:prstGeom prst="roundRect">
            <a:avLst>
              <a:gd name="adj" fmla="val 17143"/>
            </a:avLst>
          </a:prstGeom>
          <a:solidFill>
            <a:schemeClr val="tx2"/>
          </a:solidFill>
        </p:spPr>
        <p:txBody>
          <a:bodyPr wrap="square" lIns="177800" tIns="177800" rIns="177800" bIns="177800" anchor="t"/>
          <a:lstStyle/>
          <a:p>
            <a:pPr marL="0" indent="0" algn="l">
              <a:buNone/>
            </a:pPr>
            <a:r>
              <a:rPr lang="fr-FR" sz="1800" b="1" dirty="0">
                <a:solidFill>
                  <a:schemeClr val="bg1"/>
                </a:solidFill>
              </a:rPr>
              <a:t>Formateur</a:t>
            </a:r>
            <a:br>
              <a:rPr sz="1800" b="1" dirty="0">
                <a:solidFill>
                  <a:schemeClr val="bg1"/>
                </a:solidFill>
              </a:rPr>
            </a:br>
            <a:endParaRPr sz="1800" dirty="0"/>
          </a:p>
          <a:p>
            <a:pPr marL="0" indent="0" algn="l">
              <a:buNone/>
            </a:pPr>
            <a:endParaRPr sz="1800" dirty="0"/>
          </a:p>
        </p:txBody>
      </p:sp>
      <p:sp>
        <p:nvSpPr>
          <p:cNvPr id="12" name="Carte - Persona 2 :">
            <a:extLst>
              <a:ext uri="{FF2B5EF4-FFF2-40B4-BE49-F238E27FC236}">
                <a16:creationId xmlns:a16="http://schemas.microsoft.com/office/drawing/2014/main" id="{3A8AEBF8-CA16-4AB3-BE4D-ABF7B51C644D}"/>
              </a:ext>
            </a:extLst>
          </p:cNvPr>
          <p:cNvSpPr>
            <a:spLocks noGrp="1"/>
          </p:cNvSpPr>
          <p:nvPr/>
        </p:nvSpPr>
        <p:spPr>
          <a:xfrm>
            <a:off x="548640" y="4567428"/>
            <a:ext cx="11091672" cy="640080"/>
          </a:xfrm>
          <a:prstGeom prst="roundRect">
            <a:avLst>
              <a:gd name="adj" fmla="val 17143"/>
            </a:avLst>
          </a:prstGeom>
          <a:solidFill>
            <a:schemeClr val="tx2"/>
          </a:solidFill>
        </p:spPr>
        <p:txBody>
          <a:bodyPr wrap="square" lIns="177800" tIns="177800" rIns="177800" bIns="177800" anchor="t"/>
          <a:lstStyle/>
          <a:p>
            <a:pPr marL="0" indent="0" algn="l">
              <a:buNone/>
            </a:pPr>
            <a:r>
              <a:rPr lang="fr-FR" sz="1800" b="1" dirty="0">
                <a:solidFill>
                  <a:schemeClr val="bg1"/>
                </a:solidFill>
              </a:rPr>
              <a:t>Administrateur</a:t>
            </a:r>
            <a:br>
              <a:rPr sz="1800" b="1" dirty="0">
                <a:solidFill>
                  <a:schemeClr val="bg1"/>
                </a:solidFill>
              </a:rPr>
            </a:br>
            <a:endParaRPr sz="1800" dirty="0"/>
          </a:p>
          <a:p>
            <a:pPr marL="0" indent="0" algn="l">
              <a:buNone/>
            </a:pPr>
            <a:endParaRPr sz="1800" dirty="0"/>
          </a:p>
        </p:txBody>
      </p:sp>
      <p:sp>
        <p:nvSpPr>
          <p:cNvPr id="13" name="Carte - Persona 2 :">
            <a:extLst>
              <a:ext uri="{FF2B5EF4-FFF2-40B4-BE49-F238E27FC236}">
                <a16:creationId xmlns:a16="http://schemas.microsoft.com/office/drawing/2014/main" id="{BE2FCE0C-A732-4464-942A-53E0EAD3CF0A}"/>
              </a:ext>
            </a:extLst>
          </p:cNvPr>
          <p:cNvSpPr>
            <a:spLocks noGrp="1"/>
          </p:cNvSpPr>
          <p:nvPr/>
        </p:nvSpPr>
        <p:spPr>
          <a:xfrm>
            <a:off x="548640" y="3578352"/>
            <a:ext cx="11091672" cy="640080"/>
          </a:xfrm>
          <a:prstGeom prst="roundRect">
            <a:avLst>
              <a:gd name="adj" fmla="val 17143"/>
            </a:avLst>
          </a:prstGeom>
          <a:solidFill>
            <a:schemeClr val="tx2"/>
          </a:solidFill>
        </p:spPr>
        <p:txBody>
          <a:bodyPr wrap="square" lIns="177800" tIns="177800" rIns="177800" bIns="177800" anchor="t"/>
          <a:lstStyle/>
          <a:p>
            <a:pPr marL="0" indent="0" algn="l">
              <a:buNone/>
            </a:pPr>
            <a:r>
              <a:rPr lang="fr-FR" sz="1800" b="1" dirty="0">
                <a:solidFill>
                  <a:schemeClr val="bg1"/>
                </a:solidFill>
              </a:rPr>
              <a:t>Gestionnaire</a:t>
            </a:r>
            <a:br>
              <a:rPr sz="1800" b="1" dirty="0">
                <a:solidFill>
                  <a:schemeClr val="bg1"/>
                </a:solidFill>
              </a:rPr>
            </a:br>
            <a:endParaRPr sz="1800" dirty="0"/>
          </a:p>
          <a:p>
            <a:pPr marL="0" indent="0" algn="l">
              <a:buNone/>
            </a:pPr>
            <a:endParaRPr sz="1800" dirty="0"/>
          </a:p>
        </p:txBody>
      </p:sp>
    </p:spTree>
    <p:extLst>
      <p:ext uri="{BB962C8B-B14F-4D97-AF65-F5344CB8AC3E}">
        <p14:creationId xmlns:p14="http://schemas.microsoft.com/office/powerpoint/2010/main" val="19131834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uméro de section">
            <a:extLst>
              <a:ext uri="{FF2B5EF4-FFF2-40B4-BE49-F238E27FC236}">
                <a16:creationId xmlns:a16="http://schemas.microsoft.com/office/drawing/2014/main" id="{1C1F1A67-4629-45E9-8928-566D13738B2D}"/>
              </a:ext>
            </a:extLst>
          </p:cNvPr>
          <p:cNvSpPr>
            <a:spLocks noGrp="1"/>
          </p:cNvSpPr>
          <p:nvPr/>
        </p:nvSpPr>
        <p:spPr>
          <a:xfrm>
            <a:off x="548640" y="457200"/>
            <a:ext cx="822960" cy="822960"/>
          </a:xfrm>
          <a:prstGeom prst="ellipse">
            <a:avLst/>
          </a:prstGeom>
          <a:solidFill>
            <a:schemeClr val="accent1"/>
          </a:solidFill>
        </p:spPr>
        <p:txBody>
          <a:bodyPr wrap="square" lIns="0" tIns="0" rIns="0" bIns="0" anchor="ctr"/>
          <a:lstStyle/>
          <a:p>
            <a:pPr marL="0" indent="0" algn="ctr">
              <a:buNone/>
            </a:pPr>
            <a:r>
              <a:rPr sz="2600" b="1">
                <a:solidFill>
                  <a:schemeClr val="bg1"/>
                </a:solidFill>
              </a:rPr>
              <a:t>4</a:t>
            </a:r>
            <a:endParaRPr sz="2600"/>
          </a:p>
        </p:txBody>
      </p:sp>
      <p:sp>
        <p:nvSpPr>
          <p:cNvPr id="3" name="Text 0">
            <a:extLst>
              <a:ext uri="{FF2B5EF4-FFF2-40B4-BE49-F238E27FC236}">
                <a16:creationId xmlns:a16="http://schemas.microsoft.com/office/drawing/2014/main" id="{CE283504-BC6C-46A6-AE55-4184DE7477AA}"/>
              </a:ext>
            </a:extLst>
          </p:cNvPr>
          <p:cNvSpPr>
            <a:spLocks noGrp="1"/>
          </p:cNvSpPr>
          <p:nvPr>
            <p:ph type="title" idx="100" hasCustomPrompt="1"/>
          </p:nvPr>
        </p:nvSpPr>
        <p:spPr>
          <a:xfrm>
            <a:off x="1600200" y="457200"/>
            <a:ext cx="8138160" cy="822960"/>
          </a:xfrm>
          <a:prstGeom prst="rect">
            <a:avLst/>
          </a:prstGeom>
          <a:noFill/>
        </p:spPr>
        <p:txBody>
          <a:bodyPr wrap="square" lIns="0" tIns="0" rIns="0" bIns="0" anchor="ctr"/>
          <a:lstStyle/>
          <a:p>
            <a:pPr marL="0" indent="0" algn="l">
              <a:buNone/>
            </a:pPr>
            <a:r>
              <a:rPr sz="3600" b="1">
                <a:solidFill>
                  <a:schemeClr val="tx2"/>
                </a:solidFill>
              </a:rPr>
              <a:t>Présentation des personas</a:t>
            </a:r>
            <a:endParaRPr sz="3600"/>
          </a:p>
        </p:txBody>
      </p:sp>
      <p:sp>
        <p:nvSpPr>
          <p:cNvPr id="6" name="Carte - Persona 2 :">
            <a:extLst>
              <a:ext uri="{FF2B5EF4-FFF2-40B4-BE49-F238E27FC236}">
                <a16:creationId xmlns:a16="http://schemas.microsoft.com/office/drawing/2014/main" id="{FBC331A7-7771-4148-A1A1-863B93CB172C}"/>
              </a:ext>
            </a:extLst>
          </p:cNvPr>
          <p:cNvSpPr>
            <a:spLocks noGrp="1"/>
          </p:cNvSpPr>
          <p:nvPr/>
        </p:nvSpPr>
        <p:spPr>
          <a:xfrm>
            <a:off x="548640" y="1600200"/>
            <a:ext cx="11091672" cy="640080"/>
          </a:xfrm>
          <a:prstGeom prst="roundRect">
            <a:avLst>
              <a:gd name="adj" fmla="val 17143"/>
            </a:avLst>
          </a:prstGeom>
          <a:solidFill>
            <a:schemeClr val="tx2"/>
          </a:solidFill>
        </p:spPr>
        <p:txBody>
          <a:bodyPr wrap="square" lIns="177800" tIns="177800" rIns="177800" bIns="177800" anchor="t"/>
          <a:lstStyle/>
          <a:p>
            <a:pPr marL="0" indent="0" algn="l">
              <a:buNone/>
            </a:pPr>
            <a:r>
              <a:rPr lang="fr-FR" sz="1800" b="1" dirty="0">
                <a:solidFill>
                  <a:schemeClr val="bg1"/>
                </a:solidFill>
              </a:rPr>
              <a:t>Stagiaire</a:t>
            </a:r>
            <a:br>
              <a:rPr sz="1800" b="1" dirty="0">
                <a:solidFill>
                  <a:schemeClr val="bg1"/>
                </a:solidFill>
              </a:rPr>
            </a:br>
            <a:endParaRPr sz="1800" dirty="0"/>
          </a:p>
          <a:p>
            <a:pPr marL="0" indent="0" algn="l">
              <a:buNone/>
            </a:pPr>
            <a:endParaRPr sz="1800" dirty="0"/>
          </a:p>
        </p:txBody>
      </p:sp>
      <p:sp>
        <p:nvSpPr>
          <p:cNvPr id="7" name="Carte - Profil rapide">
            <a:extLst>
              <a:ext uri="{FF2B5EF4-FFF2-40B4-BE49-F238E27FC236}">
                <a16:creationId xmlns:a16="http://schemas.microsoft.com/office/drawing/2014/main" id="{C20F7F81-3BE4-48C5-9961-FC71B54E3DCB}"/>
              </a:ext>
            </a:extLst>
          </p:cNvPr>
          <p:cNvSpPr>
            <a:spLocks noGrp="1"/>
          </p:cNvSpPr>
          <p:nvPr/>
        </p:nvSpPr>
        <p:spPr>
          <a:xfrm>
            <a:off x="548640" y="2423160"/>
            <a:ext cx="5408676" cy="1737360"/>
          </a:xfrm>
          <a:prstGeom prst="roundRect">
            <a:avLst>
              <a:gd name="adj" fmla="val 6316"/>
            </a:avLst>
          </a:prstGeom>
          <a:solidFill>
            <a:schemeClr val="bg2"/>
          </a:solidFill>
        </p:spPr>
        <p:txBody>
          <a:bodyPr wrap="square" lIns="177800" tIns="177800" rIns="177800" bIns="177800" anchor="t"/>
          <a:lstStyle/>
          <a:p>
            <a:pPr marL="0" indent="0" algn="l">
              <a:buNone/>
            </a:pPr>
            <a:r>
              <a:rPr sz="1600" b="1">
                <a:solidFill>
                  <a:schemeClr val="tx2"/>
                </a:solidFill>
              </a:rPr>
              <a:t>Profil rapide</a:t>
            </a:r>
          </a:p>
          <a:p>
            <a:pPr marL="0" indent="0" algn="l">
              <a:buNone/>
            </a:pPr>
            <a:r>
              <a:rPr sz="1400">
                <a:solidFill>
                  <a:schemeClr val="tx1"/>
                </a:solidFill>
              </a:rPr>
              <a:t>Anime les formations dans sa salle et utilise le matériel avec les stagiaires.</a:t>
            </a:r>
          </a:p>
        </p:txBody>
      </p:sp>
      <p:sp>
        <p:nvSpPr>
          <p:cNvPr id="8" name="Carte - Objectifs">
            <a:extLst>
              <a:ext uri="{FF2B5EF4-FFF2-40B4-BE49-F238E27FC236}">
                <a16:creationId xmlns:a16="http://schemas.microsoft.com/office/drawing/2014/main" id="{5FECE3AA-59C4-44A3-A235-6E8E4B2CC80A}"/>
              </a:ext>
            </a:extLst>
          </p:cNvPr>
          <p:cNvSpPr>
            <a:spLocks noGrp="1"/>
          </p:cNvSpPr>
          <p:nvPr/>
        </p:nvSpPr>
        <p:spPr>
          <a:xfrm>
            <a:off x="6231636" y="2423160"/>
            <a:ext cx="5408676" cy="1737360"/>
          </a:xfrm>
          <a:prstGeom prst="roundRect">
            <a:avLst>
              <a:gd name="adj" fmla="val 6316"/>
            </a:avLst>
          </a:prstGeom>
          <a:solidFill>
            <a:schemeClr val="bg2"/>
          </a:solidFill>
        </p:spPr>
        <p:txBody>
          <a:bodyPr wrap="square" lIns="177800" tIns="177800" rIns="177800" bIns="177800" anchor="t"/>
          <a:lstStyle/>
          <a:p>
            <a:pPr marL="0" indent="0" algn="l">
              <a:buNone/>
            </a:pPr>
            <a:r>
              <a:rPr sz="1600" b="1">
                <a:solidFill>
                  <a:schemeClr val="tx2"/>
                </a:solidFill>
              </a:rPr>
              <a:t>Objectifs</a:t>
            </a:r>
          </a:p>
          <a:p>
            <a:pPr marL="0" indent="0" algn="l">
              <a:buNone/>
            </a:pPr>
            <a:r>
              <a:rPr sz="1400">
                <a:solidFill>
                  <a:schemeClr val="tx1"/>
                </a:solidFill>
              </a:rPr>
              <a:t>Connaître l’état du matériel de sa salle et signaler les problèmes.</a:t>
            </a:r>
          </a:p>
        </p:txBody>
      </p:sp>
      <p:sp>
        <p:nvSpPr>
          <p:cNvPr id="9" name="Carte - Scénarios d'usage clés">
            <a:extLst>
              <a:ext uri="{FF2B5EF4-FFF2-40B4-BE49-F238E27FC236}">
                <a16:creationId xmlns:a16="http://schemas.microsoft.com/office/drawing/2014/main" id="{74195AF9-B8D4-4B04-AD4F-B45EA6CE3963}"/>
              </a:ext>
            </a:extLst>
          </p:cNvPr>
          <p:cNvSpPr>
            <a:spLocks noGrp="1"/>
          </p:cNvSpPr>
          <p:nvPr/>
        </p:nvSpPr>
        <p:spPr>
          <a:xfrm>
            <a:off x="548640" y="4434840"/>
            <a:ext cx="5408676" cy="1737360"/>
          </a:xfrm>
          <a:prstGeom prst="roundRect">
            <a:avLst>
              <a:gd name="adj" fmla="val 6316"/>
            </a:avLst>
          </a:prstGeom>
          <a:solidFill>
            <a:schemeClr val="bg2"/>
          </a:solidFill>
        </p:spPr>
        <p:txBody>
          <a:bodyPr wrap="square" lIns="177800" tIns="177800" rIns="177800" bIns="177800" anchor="t"/>
          <a:lstStyle/>
          <a:p>
            <a:pPr marL="0" indent="0" algn="l">
              <a:buNone/>
            </a:pPr>
            <a:r>
              <a:rPr sz="1600" b="1">
                <a:solidFill>
                  <a:schemeClr val="tx2"/>
                </a:solidFill>
              </a:rPr>
              <a:t>Scénarios d’usage clés</a:t>
            </a:r>
          </a:p>
          <a:p>
            <a:pPr marL="0" indent="0" algn="l">
              <a:buNone/>
            </a:pPr>
            <a:r>
              <a:rPr sz="1400">
                <a:solidFill>
                  <a:schemeClr val="tx1"/>
                </a:solidFill>
              </a:rPr>
              <a:t>Consulter sa salle ; consulter l’état de ses postes ; faire un feedback sur sa salle.</a:t>
            </a:r>
          </a:p>
        </p:txBody>
      </p:sp>
      <p:sp>
        <p:nvSpPr>
          <p:cNvPr id="10" name="Carte - Priorités pour l'application">
            <a:extLst>
              <a:ext uri="{FF2B5EF4-FFF2-40B4-BE49-F238E27FC236}">
                <a16:creationId xmlns:a16="http://schemas.microsoft.com/office/drawing/2014/main" id="{9122F21E-378F-4E25-82CC-2210981F888A}"/>
              </a:ext>
            </a:extLst>
          </p:cNvPr>
          <p:cNvSpPr>
            <a:spLocks noGrp="1"/>
          </p:cNvSpPr>
          <p:nvPr/>
        </p:nvSpPr>
        <p:spPr>
          <a:xfrm>
            <a:off x="6231636" y="4434840"/>
            <a:ext cx="5408676" cy="1737360"/>
          </a:xfrm>
          <a:prstGeom prst="roundRect">
            <a:avLst>
              <a:gd name="adj" fmla="val 6316"/>
            </a:avLst>
          </a:prstGeom>
          <a:solidFill>
            <a:schemeClr val="bg2"/>
          </a:solidFill>
        </p:spPr>
        <p:txBody>
          <a:bodyPr wrap="square" lIns="177800" tIns="177800" rIns="177800" bIns="177800" anchor="t"/>
          <a:lstStyle/>
          <a:p>
            <a:pPr marL="0" indent="0" algn="l">
              <a:buNone/>
            </a:pPr>
            <a:r>
              <a:rPr sz="1600" b="1">
                <a:solidFill>
                  <a:schemeClr val="tx2"/>
                </a:solidFill>
              </a:rPr>
              <a:t>Priorités pour l’application</a:t>
            </a:r>
          </a:p>
          <a:p>
            <a:pPr marL="0" indent="0" algn="l">
              <a:buNone/>
            </a:pPr>
            <a:r>
              <a:rPr sz="1400">
                <a:solidFill>
                  <a:schemeClr val="tx1"/>
                </a:solidFill>
              </a:rPr>
              <a:t>Accès simple limité à sa salle ; feedback rapide.</a:t>
            </a:r>
          </a:p>
        </p:txBody>
      </p:sp>
      <p:sp>
        <p:nvSpPr>
          <p:cNvPr id="25" name="Slide Number Placeholder 0">
            <a:extLst>
              <a:ext uri="{FF2B5EF4-FFF2-40B4-BE49-F238E27FC236}">
                <a16:creationId xmlns:a16="http://schemas.microsoft.com/office/drawing/2014/main" id="{5D89DD85-0064-4674-9E86-AAB758ACABCB}"/>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accent3"/>
                </a:solidFill>
              </a:defRPr>
            </a:lvl1pPr>
          </a:lstStyle>
          <a:p>
            <a:pPr algn="r">
              <a:buNone/>
            </a:pPr>
            <a:fld id="{D3D7D1C8-AE23-AA48-DF65-C742588DBE47}" type="slidenum">
              <a:rPr b="0"/>
              <a:t>7</a:t>
            </a:fld>
            <a:endParaRPr/>
          </a:p>
        </p:txBody>
      </p:sp>
    </p:spTree>
    <p:extLst>
      <p:ext uri="{BB962C8B-B14F-4D97-AF65-F5344CB8AC3E}">
        <p14:creationId xmlns:p14="http://schemas.microsoft.com/office/powerpoint/2010/main" val="1708179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uméro de section">
            <a:extLst>
              <a:ext uri="{FF2B5EF4-FFF2-40B4-BE49-F238E27FC236}">
                <a16:creationId xmlns:a16="http://schemas.microsoft.com/office/drawing/2014/main" id="{1C1F1A67-4629-45E9-8928-566D13738B2D}"/>
              </a:ext>
            </a:extLst>
          </p:cNvPr>
          <p:cNvSpPr>
            <a:spLocks noGrp="1"/>
          </p:cNvSpPr>
          <p:nvPr/>
        </p:nvSpPr>
        <p:spPr>
          <a:xfrm>
            <a:off x="548640" y="457200"/>
            <a:ext cx="822960" cy="822960"/>
          </a:xfrm>
          <a:prstGeom prst="ellipse">
            <a:avLst/>
          </a:prstGeom>
          <a:solidFill>
            <a:schemeClr val="accent1"/>
          </a:solidFill>
        </p:spPr>
        <p:txBody>
          <a:bodyPr wrap="square" lIns="0" tIns="0" rIns="0" bIns="0" anchor="ctr"/>
          <a:lstStyle/>
          <a:p>
            <a:pPr marL="0" indent="0" algn="ctr">
              <a:buNone/>
            </a:pPr>
            <a:r>
              <a:rPr sz="2600" b="1">
                <a:solidFill>
                  <a:schemeClr val="bg1"/>
                </a:solidFill>
              </a:rPr>
              <a:t>4</a:t>
            </a:r>
            <a:endParaRPr sz="2600"/>
          </a:p>
        </p:txBody>
      </p:sp>
      <p:sp>
        <p:nvSpPr>
          <p:cNvPr id="3" name="Text 0">
            <a:extLst>
              <a:ext uri="{FF2B5EF4-FFF2-40B4-BE49-F238E27FC236}">
                <a16:creationId xmlns:a16="http://schemas.microsoft.com/office/drawing/2014/main" id="{CE283504-BC6C-46A6-AE55-4184DE7477AA}"/>
              </a:ext>
            </a:extLst>
          </p:cNvPr>
          <p:cNvSpPr>
            <a:spLocks noGrp="1"/>
          </p:cNvSpPr>
          <p:nvPr>
            <p:ph type="title" idx="100" hasCustomPrompt="1"/>
          </p:nvPr>
        </p:nvSpPr>
        <p:spPr>
          <a:xfrm>
            <a:off x="1600200" y="457200"/>
            <a:ext cx="8138160" cy="822960"/>
          </a:xfrm>
          <a:prstGeom prst="rect">
            <a:avLst/>
          </a:prstGeom>
          <a:noFill/>
        </p:spPr>
        <p:txBody>
          <a:bodyPr wrap="square" lIns="0" tIns="0" rIns="0" bIns="0" anchor="ctr"/>
          <a:lstStyle/>
          <a:p>
            <a:pPr marL="0" indent="0" algn="l">
              <a:buNone/>
            </a:pPr>
            <a:r>
              <a:rPr sz="3600" b="1">
                <a:solidFill>
                  <a:schemeClr val="tx2"/>
                </a:solidFill>
              </a:rPr>
              <a:t>Présentation des personas</a:t>
            </a:r>
            <a:endParaRPr sz="3600"/>
          </a:p>
        </p:txBody>
      </p:sp>
      <p:sp>
        <p:nvSpPr>
          <p:cNvPr id="6" name="Carte - Persona 2 :">
            <a:extLst>
              <a:ext uri="{FF2B5EF4-FFF2-40B4-BE49-F238E27FC236}">
                <a16:creationId xmlns:a16="http://schemas.microsoft.com/office/drawing/2014/main" id="{FBC331A7-7771-4148-A1A1-863B93CB172C}"/>
              </a:ext>
            </a:extLst>
          </p:cNvPr>
          <p:cNvSpPr>
            <a:spLocks noGrp="1"/>
          </p:cNvSpPr>
          <p:nvPr/>
        </p:nvSpPr>
        <p:spPr>
          <a:xfrm>
            <a:off x="548640" y="1600200"/>
            <a:ext cx="11091672" cy="640080"/>
          </a:xfrm>
          <a:prstGeom prst="roundRect">
            <a:avLst>
              <a:gd name="adj" fmla="val 17143"/>
            </a:avLst>
          </a:prstGeom>
          <a:solidFill>
            <a:schemeClr val="tx2"/>
          </a:solidFill>
        </p:spPr>
        <p:txBody>
          <a:bodyPr wrap="square" lIns="177800" tIns="177800" rIns="177800" bIns="177800" anchor="t"/>
          <a:lstStyle/>
          <a:p>
            <a:pPr marL="0" indent="0" algn="l">
              <a:buNone/>
            </a:pPr>
            <a:r>
              <a:rPr sz="1800" b="1" dirty="0">
                <a:solidFill>
                  <a:schemeClr val="bg1"/>
                </a:solidFill>
              </a:rPr>
              <a:t>Persona 2 : </a:t>
            </a:r>
            <a:r>
              <a:rPr sz="1800" b="1" dirty="0" err="1">
                <a:solidFill>
                  <a:schemeClr val="bg1"/>
                </a:solidFill>
              </a:rPr>
              <a:t>Formateur</a:t>
            </a:r>
            <a:br>
              <a:rPr sz="1800" b="1" dirty="0">
                <a:solidFill>
                  <a:schemeClr val="bg1"/>
                </a:solidFill>
              </a:rPr>
            </a:br>
            <a:endParaRPr sz="1800" dirty="0"/>
          </a:p>
          <a:p>
            <a:pPr marL="0" indent="0" algn="l">
              <a:buNone/>
            </a:pPr>
            <a:endParaRPr sz="1800" dirty="0"/>
          </a:p>
        </p:txBody>
      </p:sp>
      <p:sp>
        <p:nvSpPr>
          <p:cNvPr id="7" name="Carte - Profil rapide">
            <a:extLst>
              <a:ext uri="{FF2B5EF4-FFF2-40B4-BE49-F238E27FC236}">
                <a16:creationId xmlns:a16="http://schemas.microsoft.com/office/drawing/2014/main" id="{C20F7F81-3BE4-48C5-9961-FC71B54E3DCB}"/>
              </a:ext>
            </a:extLst>
          </p:cNvPr>
          <p:cNvSpPr>
            <a:spLocks noGrp="1"/>
          </p:cNvSpPr>
          <p:nvPr/>
        </p:nvSpPr>
        <p:spPr>
          <a:xfrm>
            <a:off x="548640" y="2423160"/>
            <a:ext cx="5408676" cy="1737360"/>
          </a:xfrm>
          <a:prstGeom prst="roundRect">
            <a:avLst>
              <a:gd name="adj" fmla="val 6316"/>
            </a:avLst>
          </a:prstGeom>
          <a:solidFill>
            <a:schemeClr val="bg2"/>
          </a:solidFill>
        </p:spPr>
        <p:txBody>
          <a:bodyPr wrap="square" lIns="177800" tIns="177800" rIns="177800" bIns="177800" anchor="t"/>
          <a:lstStyle/>
          <a:p>
            <a:pPr marL="0" indent="0" algn="l">
              <a:buNone/>
            </a:pPr>
            <a:r>
              <a:rPr sz="1600" b="1">
                <a:solidFill>
                  <a:schemeClr val="tx2"/>
                </a:solidFill>
              </a:rPr>
              <a:t>Profil rapide</a:t>
            </a:r>
          </a:p>
          <a:p>
            <a:pPr marL="0" indent="0" algn="l">
              <a:buNone/>
            </a:pPr>
            <a:r>
              <a:rPr sz="1400">
                <a:solidFill>
                  <a:schemeClr val="tx1"/>
                </a:solidFill>
              </a:rPr>
              <a:t>Anime les formations dans sa salle et utilise le matériel avec les stagiaires.</a:t>
            </a:r>
          </a:p>
        </p:txBody>
      </p:sp>
      <p:sp>
        <p:nvSpPr>
          <p:cNvPr id="8" name="Carte - Objectifs">
            <a:extLst>
              <a:ext uri="{FF2B5EF4-FFF2-40B4-BE49-F238E27FC236}">
                <a16:creationId xmlns:a16="http://schemas.microsoft.com/office/drawing/2014/main" id="{5FECE3AA-59C4-44A3-A235-6E8E4B2CC80A}"/>
              </a:ext>
            </a:extLst>
          </p:cNvPr>
          <p:cNvSpPr>
            <a:spLocks noGrp="1"/>
          </p:cNvSpPr>
          <p:nvPr/>
        </p:nvSpPr>
        <p:spPr>
          <a:xfrm>
            <a:off x="6231636" y="2423160"/>
            <a:ext cx="5408676" cy="1737360"/>
          </a:xfrm>
          <a:prstGeom prst="roundRect">
            <a:avLst>
              <a:gd name="adj" fmla="val 6316"/>
            </a:avLst>
          </a:prstGeom>
          <a:solidFill>
            <a:schemeClr val="bg2"/>
          </a:solidFill>
        </p:spPr>
        <p:txBody>
          <a:bodyPr wrap="square" lIns="177800" tIns="177800" rIns="177800" bIns="177800" anchor="t"/>
          <a:lstStyle/>
          <a:p>
            <a:pPr marL="0" indent="0" algn="l">
              <a:buNone/>
            </a:pPr>
            <a:r>
              <a:rPr sz="1600" b="1">
                <a:solidFill>
                  <a:schemeClr val="tx2"/>
                </a:solidFill>
              </a:rPr>
              <a:t>Objectifs</a:t>
            </a:r>
          </a:p>
          <a:p>
            <a:pPr marL="0" indent="0" algn="l">
              <a:buNone/>
            </a:pPr>
            <a:r>
              <a:rPr sz="1400">
                <a:solidFill>
                  <a:schemeClr val="tx1"/>
                </a:solidFill>
              </a:rPr>
              <a:t>Connaître l’état du matériel de sa salle et signaler les problèmes.</a:t>
            </a:r>
          </a:p>
        </p:txBody>
      </p:sp>
      <p:sp>
        <p:nvSpPr>
          <p:cNvPr id="9" name="Carte - Scénarios d'usage clés">
            <a:extLst>
              <a:ext uri="{FF2B5EF4-FFF2-40B4-BE49-F238E27FC236}">
                <a16:creationId xmlns:a16="http://schemas.microsoft.com/office/drawing/2014/main" id="{74195AF9-B8D4-4B04-AD4F-B45EA6CE3963}"/>
              </a:ext>
            </a:extLst>
          </p:cNvPr>
          <p:cNvSpPr>
            <a:spLocks noGrp="1"/>
          </p:cNvSpPr>
          <p:nvPr/>
        </p:nvSpPr>
        <p:spPr>
          <a:xfrm>
            <a:off x="548640" y="4434840"/>
            <a:ext cx="5408676" cy="1737360"/>
          </a:xfrm>
          <a:prstGeom prst="roundRect">
            <a:avLst>
              <a:gd name="adj" fmla="val 6316"/>
            </a:avLst>
          </a:prstGeom>
          <a:solidFill>
            <a:schemeClr val="bg2"/>
          </a:solidFill>
        </p:spPr>
        <p:txBody>
          <a:bodyPr wrap="square" lIns="177800" tIns="177800" rIns="177800" bIns="177800" anchor="t"/>
          <a:lstStyle/>
          <a:p>
            <a:pPr marL="0" indent="0" algn="l">
              <a:buNone/>
            </a:pPr>
            <a:r>
              <a:rPr sz="1600" b="1">
                <a:solidFill>
                  <a:schemeClr val="tx2"/>
                </a:solidFill>
              </a:rPr>
              <a:t>Scénarios d’usage clés</a:t>
            </a:r>
          </a:p>
          <a:p>
            <a:pPr marL="0" indent="0" algn="l">
              <a:buNone/>
            </a:pPr>
            <a:r>
              <a:rPr sz="1400">
                <a:solidFill>
                  <a:schemeClr val="tx1"/>
                </a:solidFill>
              </a:rPr>
              <a:t>Consulter sa salle ; consulter l’état de ses postes ; faire un feedback sur sa salle.</a:t>
            </a:r>
          </a:p>
        </p:txBody>
      </p:sp>
      <p:sp>
        <p:nvSpPr>
          <p:cNvPr id="10" name="Carte - Priorités pour l'application">
            <a:extLst>
              <a:ext uri="{FF2B5EF4-FFF2-40B4-BE49-F238E27FC236}">
                <a16:creationId xmlns:a16="http://schemas.microsoft.com/office/drawing/2014/main" id="{9122F21E-378F-4E25-82CC-2210981F888A}"/>
              </a:ext>
            </a:extLst>
          </p:cNvPr>
          <p:cNvSpPr>
            <a:spLocks noGrp="1"/>
          </p:cNvSpPr>
          <p:nvPr/>
        </p:nvSpPr>
        <p:spPr>
          <a:xfrm>
            <a:off x="6231636" y="4434840"/>
            <a:ext cx="5408676" cy="1737360"/>
          </a:xfrm>
          <a:prstGeom prst="roundRect">
            <a:avLst>
              <a:gd name="adj" fmla="val 6316"/>
            </a:avLst>
          </a:prstGeom>
          <a:solidFill>
            <a:schemeClr val="bg2"/>
          </a:solidFill>
        </p:spPr>
        <p:txBody>
          <a:bodyPr wrap="square" lIns="177800" tIns="177800" rIns="177800" bIns="177800" anchor="t"/>
          <a:lstStyle/>
          <a:p>
            <a:pPr marL="0" indent="0" algn="l">
              <a:buNone/>
            </a:pPr>
            <a:r>
              <a:rPr sz="1600" b="1">
                <a:solidFill>
                  <a:schemeClr val="tx2"/>
                </a:solidFill>
              </a:rPr>
              <a:t>Priorités pour l’application</a:t>
            </a:r>
          </a:p>
          <a:p>
            <a:pPr marL="0" indent="0" algn="l">
              <a:buNone/>
            </a:pPr>
            <a:r>
              <a:rPr sz="1400">
                <a:solidFill>
                  <a:schemeClr val="tx1"/>
                </a:solidFill>
              </a:rPr>
              <a:t>Accès simple limité à sa salle ; feedback rapide.</a:t>
            </a:r>
          </a:p>
        </p:txBody>
      </p:sp>
      <p:sp>
        <p:nvSpPr>
          <p:cNvPr id="25" name="Slide Number Placeholder 0">
            <a:extLst>
              <a:ext uri="{FF2B5EF4-FFF2-40B4-BE49-F238E27FC236}">
                <a16:creationId xmlns:a16="http://schemas.microsoft.com/office/drawing/2014/main" id="{5D89DD85-0064-4674-9E86-AAB758ACABCB}"/>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accent3"/>
                </a:solidFill>
              </a:defRPr>
            </a:lvl1pPr>
          </a:lstStyle>
          <a:p>
            <a:pPr algn="r">
              <a:buNone/>
            </a:pPr>
            <a:fld id="{D3D7D1C8-AE23-AA48-DF65-C742588DBE47}" type="slidenum">
              <a:rPr b="0"/>
              <a:t>8</a:t>
            </a:fld>
            <a:endParaRPr/>
          </a:p>
        </p:txBody>
      </p:sp>
    </p:spTree>
    <p:extLst>
      <p:ext uri="{BB962C8B-B14F-4D97-AF65-F5344CB8AC3E}">
        <p14:creationId xmlns:p14="http://schemas.microsoft.com/office/powerpoint/2010/main" val="5731655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uméro de section">
            <a:extLst>
              <a:ext uri="{FF2B5EF4-FFF2-40B4-BE49-F238E27FC236}">
                <a16:creationId xmlns:a16="http://schemas.microsoft.com/office/drawing/2014/main" id="{1C1F1A67-4629-45E9-8928-566D13738B2D}"/>
              </a:ext>
            </a:extLst>
          </p:cNvPr>
          <p:cNvSpPr>
            <a:spLocks noGrp="1"/>
          </p:cNvSpPr>
          <p:nvPr/>
        </p:nvSpPr>
        <p:spPr>
          <a:xfrm>
            <a:off x="548640" y="457200"/>
            <a:ext cx="822960" cy="822960"/>
          </a:xfrm>
          <a:prstGeom prst="ellipse">
            <a:avLst/>
          </a:prstGeom>
          <a:solidFill>
            <a:schemeClr val="accent1"/>
          </a:solidFill>
        </p:spPr>
        <p:txBody>
          <a:bodyPr wrap="square" lIns="0" tIns="0" rIns="0" bIns="0" anchor="ctr"/>
          <a:lstStyle/>
          <a:p>
            <a:pPr marL="0" indent="0" algn="ctr">
              <a:buNone/>
            </a:pPr>
            <a:r>
              <a:rPr sz="2600" b="1">
                <a:solidFill>
                  <a:schemeClr val="bg1"/>
                </a:solidFill>
              </a:rPr>
              <a:t>4</a:t>
            </a:r>
            <a:endParaRPr sz="2600"/>
          </a:p>
        </p:txBody>
      </p:sp>
      <p:sp>
        <p:nvSpPr>
          <p:cNvPr id="3" name="Text 0">
            <a:extLst>
              <a:ext uri="{FF2B5EF4-FFF2-40B4-BE49-F238E27FC236}">
                <a16:creationId xmlns:a16="http://schemas.microsoft.com/office/drawing/2014/main" id="{CE283504-BC6C-46A6-AE55-4184DE7477AA}"/>
              </a:ext>
            </a:extLst>
          </p:cNvPr>
          <p:cNvSpPr>
            <a:spLocks noGrp="1"/>
          </p:cNvSpPr>
          <p:nvPr>
            <p:ph type="title" idx="100" hasCustomPrompt="1"/>
          </p:nvPr>
        </p:nvSpPr>
        <p:spPr>
          <a:xfrm>
            <a:off x="1600200" y="457200"/>
            <a:ext cx="8138160" cy="822960"/>
          </a:xfrm>
          <a:prstGeom prst="rect">
            <a:avLst/>
          </a:prstGeom>
          <a:noFill/>
        </p:spPr>
        <p:txBody>
          <a:bodyPr wrap="square" lIns="0" tIns="0" rIns="0" bIns="0" anchor="ctr"/>
          <a:lstStyle/>
          <a:p>
            <a:pPr marL="0" indent="0" algn="l">
              <a:buNone/>
            </a:pPr>
            <a:r>
              <a:rPr sz="3600" b="1">
                <a:solidFill>
                  <a:schemeClr val="tx2"/>
                </a:solidFill>
              </a:rPr>
              <a:t>Présentation des personas</a:t>
            </a:r>
            <a:endParaRPr sz="3600"/>
          </a:p>
        </p:txBody>
      </p:sp>
      <p:sp>
        <p:nvSpPr>
          <p:cNvPr id="6" name="Carte - Persona 2 :">
            <a:extLst>
              <a:ext uri="{FF2B5EF4-FFF2-40B4-BE49-F238E27FC236}">
                <a16:creationId xmlns:a16="http://schemas.microsoft.com/office/drawing/2014/main" id="{FBC331A7-7771-4148-A1A1-863B93CB172C}"/>
              </a:ext>
            </a:extLst>
          </p:cNvPr>
          <p:cNvSpPr>
            <a:spLocks noGrp="1"/>
          </p:cNvSpPr>
          <p:nvPr/>
        </p:nvSpPr>
        <p:spPr>
          <a:xfrm>
            <a:off x="548640" y="1600200"/>
            <a:ext cx="11091672" cy="640080"/>
          </a:xfrm>
          <a:prstGeom prst="roundRect">
            <a:avLst>
              <a:gd name="adj" fmla="val 17143"/>
            </a:avLst>
          </a:prstGeom>
          <a:solidFill>
            <a:schemeClr val="tx2"/>
          </a:solidFill>
        </p:spPr>
        <p:txBody>
          <a:bodyPr wrap="square" lIns="177800" tIns="177800" rIns="177800" bIns="177800" anchor="t"/>
          <a:lstStyle/>
          <a:p>
            <a:pPr marL="0" indent="0" algn="l">
              <a:buNone/>
            </a:pPr>
            <a:r>
              <a:rPr sz="1800" b="1">
                <a:solidFill>
                  <a:schemeClr val="bg1"/>
                </a:solidFill>
              </a:rPr>
              <a:t>Persona 2 : Formateur</a:t>
            </a:r>
            <a:br>
              <a:rPr sz="1800" b="1">
                <a:solidFill>
                  <a:schemeClr val="bg1"/>
                </a:solidFill>
              </a:rPr>
            </a:br>
            <a:endParaRPr sz="1800"/>
          </a:p>
          <a:p>
            <a:pPr marL="0" indent="0" algn="l">
              <a:buNone/>
            </a:pPr>
            <a:endParaRPr sz="1800"/>
          </a:p>
        </p:txBody>
      </p:sp>
      <p:sp>
        <p:nvSpPr>
          <p:cNvPr id="7" name="Carte - Profil rapide">
            <a:extLst>
              <a:ext uri="{FF2B5EF4-FFF2-40B4-BE49-F238E27FC236}">
                <a16:creationId xmlns:a16="http://schemas.microsoft.com/office/drawing/2014/main" id="{C20F7F81-3BE4-48C5-9961-FC71B54E3DCB}"/>
              </a:ext>
            </a:extLst>
          </p:cNvPr>
          <p:cNvSpPr>
            <a:spLocks noGrp="1"/>
          </p:cNvSpPr>
          <p:nvPr/>
        </p:nvSpPr>
        <p:spPr>
          <a:xfrm>
            <a:off x="548640" y="2423160"/>
            <a:ext cx="5408676" cy="1737360"/>
          </a:xfrm>
          <a:prstGeom prst="roundRect">
            <a:avLst>
              <a:gd name="adj" fmla="val 6316"/>
            </a:avLst>
          </a:prstGeom>
          <a:solidFill>
            <a:schemeClr val="bg2"/>
          </a:solidFill>
        </p:spPr>
        <p:txBody>
          <a:bodyPr wrap="square" lIns="177800" tIns="177800" rIns="177800" bIns="177800" anchor="t"/>
          <a:lstStyle/>
          <a:p>
            <a:pPr marL="0" indent="0" algn="l">
              <a:buNone/>
            </a:pPr>
            <a:r>
              <a:rPr sz="1600" b="1">
                <a:solidFill>
                  <a:schemeClr val="tx2"/>
                </a:solidFill>
              </a:rPr>
              <a:t>Profil rapide</a:t>
            </a:r>
          </a:p>
          <a:p>
            <a:pPr marL="0" indent="0" algn="l">
              <a:buNone/>
            </a:pPr>
            <a:r>
              <a:rPr sz="1400">
                <a:solidFill>
                  <a:schemeClr val="tx1"/>
                </a:solidFill>
              </a:rPr>
              <a:t>Anime les formations dans sa salle et utilise le matériel avec les stagiaires.</a:t>
            </a:r>
          </a:p>
        </p:txBody>
      </p:sp>
      <p:sp>
        <p:nvSpPr>
          <p:cNvPr id="8" name="Carte - Objectifs">
            <a:extLst>
              <a:ext uri="{FF2B5EF4-FFF2-40B4-BE49-F238E27FC236}">
                <a16:creationId xmlns:a16="http://schemas.microsoft.com/office/drawing/2014/main" id="{5FECE3AA-59C4-44A3-A235-6E8E4B2CC80A}"/>
              </a:ext>
            </a:extLst>
          </p:cNvPr>
          <p:cNvSpPr>
            <a:spLocks noGrp="1"/>
          </p:cNvSpPr>
          <p:nvPr/>
        </p:nvSpPr>
        <p:spPr>
          <a:xfrm>
            <a:off x="6231636" y="2423160"/>
            <a:ext cx="5408676" cy="1737360"/>
          </a:xfrm>
          <a:prstGeom prst="roundRect">
            <a:avLst>
              <a:gd name="adj" fmla="val 6316"/>
            </a:avLst>
          </a:prstGeom>
          <a:solidFill>
            <a:schemeClr val="bg2"/>
          </a:solidFill>
        </p:spPr>
        <p:txBody>
          <a:bodyPr wrap="square" lIns="177800" tIns="177800" rIns="177800" bIns="177800" anchor="t"/>
          <a:lstStyle/>
          <a:p>
            <a:pPr marL="0" indent="0" algn="l">
              <a:buNone/>
            </a:pPr>
            <a:r>
              <a:rPr sz="1600" b="1">
                <a:solidFill>
                  <a:schemeClr val="tx2"/>
                </a:solidFill>
              </a:rPr>
              <a:t>Objectifs</a:t>
            </a:r>
          </a:p>
          <a:p>
            <a:pPr marL="0" indent="0" algn="l">
              <a:buNone/>
            </a:pPr>
            <a:r>
              <a:rPr sz="1400">
                <a:solidFill>
                  <a:schemeClr val="tx1"/>
                </a:solidFill>
              </a:rPr>
              <a:t>Connaître l’état du matériel de sa salle et signaler les problèmes.</a:t>
            </a:r>
          </a:p>
        </p:txBody>
      </p:sp>
      <p:sp>
        <p:nvSpPr>
          <p:cNvPr id="9" name="Carte - Scénarios d'usage clés">
            <a:extLst>
              <a:ext uri="{FF2B5EF4-FFF2-40B4-BE49-F238E27FC236}">
                <a16:creationId xmlns:a16="http://schemas.microsoft.com/office/drawing/2014/main" id="{74195AF9-B8D4-4B04-AD4F-B45EA6CE3963}"/>
              </a:ext>
            </a:extLst>
          </p:cNvPr>
          <p:cNvSpPr>
            <a:spLocks noGrp="1"/>
          </p:cNvSpPr>
          <p:nvPr/>
        </p:nvSpPr>
        <p:spPr>
          <a:xfrm>
            <a:off x="548640" y="4434840"/>
            <a:ext cx="5408676" cy="1737360"/>
          </a:xfrm>
          <a:prstGeom prst="roundRect">
            <a:avLst>
              <a:gd name="adj" fmla="val 6316"/>
            </a:avLst>
          </a:prstGeom>
          <a:solidFill>
            <a:schemeClr val="bg2"/>
          </a:solidFill>
        </p:spPr>
        <p:txBody>
          <a:bodyPr wrap="square" lIns="177800" tIns="177800" rIns="177800" bIns="177800" anchor="t"/>
          <a:lstStyle/>
          <a:p>
            <a:pPr marL="0" indent="0" algn="l">
              <a:buNone/>
            </a:pPr>
            <a:r>
              <a:rPr sz="1600" b="1">
                <a:solidFill>
                  <a:schemeClr val="tx2"/>
                </a:solidFill>
              </a:rPr>
              <a:t>Scénarios d’usage clés</a:t>
            </a:r>
          </a:p>
          <a:p>
            <a:pPr marL="0" indent="0" algn="l">
              <a:buNone/>
            </a:pPr>
            <a:r>
              <a:rPr sz="1400">
                <a:solidFill>
                  <a:schemeClr val="tx1"/>
                </a:solidFill>
              </a:rPr>
              <a:t>Consulter sa salle ; consulter l’état de ses postes ; faire un feedback sur sa salle.</a:t>
            </a:r>
          </a:p>
        </p:txBody>
      </p:sp>
      <p:sp>
        <p:nvSpPr>
          <p:cNvPr id="10" name="Carte - Priorités pour l'application">
            <a:extLst>
              <a:ext uri="{FF2B5EF4-FFF2-40B4-BE49-F238E27FC236}">
                <a16:creationId xmlns:a16="http://schemas.microsoft.com/office/drawing/2014/main" id="{9122F21E-378F-4E25-82CC-2210981F888A}"/>
              </a:ext>
            </a:extLst>
          </p:cNvPr>
          <p:cNvSpPr>
            <a:spLocks noGrp="1"/>
          </p:cNvSpPr>
          <p:nvPr/>
        </p:nvSpPr>
        <p:spPr>
          <a:xfrm>
            <a:off x="6231636" y="4434840"/>
            <a:ext cx="5408676" cy="1737360"/>
          </a:xfrm>
          <a:prstGeom prst="roundRect">
            <a:avLst>
              <a:gd name="adj" fmla="val 6316"/>
            </a:avLst>
          </a:prstGeom>
          <a:solidFill>
            <a:schemeClr val="bg2"/>
          </a:solidFill>
        </p:spPr>
        <p:txBody>
          <a:bodyPr wrap="square" lIns="177800" tIns="177800" rIns="177800" bIns="177800" anchor="t"/>
          <a:lstStyle/>
          <a:p>
            <a:pPr marL="0" indent="0" algn="l">
              <a:buNone/>
            </a:pPr>
            <a:r>
              <a:rPr sz="1600" b="1">
                <a:solidFill>
                  <a:schemeClr val="tx2"/>
                </a:solidFill>
              </a:rPr>
              <a:t>Priorités pour l’application</a:t>
            </a:r>
          </a:p>
          <a:p>
            <a:pPr marL="0" indent="0" algn="l">
              <a:buNone/>
            </a:pPr>
            <a:r>
              <a:rPr sz="1400">
                <a:solidFill>
                  <a:schemeClr val="tx1"/>
                </a:solidFill>
              </a:rPr>
              <a:t>Accès simple limité à sa salle ; feedback rapide.</a:t>
            </a:r>
          </a:p>
        </p:txBody>
      </p:sp>
      <p:sp>
        <p:nvSpPr>
          <p:cNvPr id="25" name="Slide Number Placeholder 0">
            <a:extLst>
              <a:ext uri="{FF2B5EF4-FFF2-40B4-BE49-F238E27FC236}">
                <a16:creationId xmlns:a16="http://schemas.microsoft.com/office/drawing/2014/main" id="{5D89DD85-0064-4674-9E86-AAB758ACABCB}"/>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accent3"/>
                </a:solidFill>
              </a:defRPr>
            </a:lvl1pPr>
          </a:lstStyle>
          <a:p>
            <a:pPr algn="r">
              <a:buNone/>
            </a:pPr>
            <a:fld id="{D3D7D1C8-AE23-AA48-DF65-C742588DBE47}" type="slidenum">
              <a:rPr b="0"/>
              <a:t>9</a:t>
            </a:fld>
            <a:endParaRPr/>
          </a:p>
        </p:txBody>
      </p:sp>
    </p:spTree>
    <p:extLst>
      <p:ext uri="{BB962C8B-B14F-4D97-AF65-F5344CB8AC3E}">
        <p14:creationId xmlns:p14="http://schemas.microsoft.com/office/powerpoint/2010/main" val="857308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uméro de section">
            <a:extLst>
              <a:ext uri="{FF2B5EF4-FFF2-40B4-BE49-F238E27FC236}">
                <a16:creationId xmlns:a16="http://schemas.microsoft.com/office/drawing/2014/main" id="{915286AE-A4F2-492E-AA71-F0B00A4C7826}"/>
              </a:ext>
            </a:extLst>
          </p:cNvPr>
          <p:cNvSpPr>
            <a:spLocks noGrp="1"/>
          </p:cNvSpPr>
          <p:nvPr/>
        </p:nvSpPr>
        <p:spPr>
          <a:xfrm>
            <a:off x="548640" y="457200"/>
            <a:ext cx="822960" cy="822960"/>
          </a:xfrm>
          <a:prstGeom prst="ellipse">
            <a:avLst/>
          </a:prstGeom>
          <a:solidFill>
            <a:schemeClr val="accent1"/>
          </a:solidFill>
        </p:spPr>
        <p:txBody>
          <a:bodyPr wrap="square" lIns="0" tIns="0" rIns="0" bIns="0" anchor="ctr"/>
          <a:lstStyle/>
          <a:p>
            <a:pPr marL="0" indent="0" algn="ctr">
              <a:buNone/>
            </a:pPr>
            <a:r>
              <a:rPr sz="2600" b="1">
                <a:solidFill>
                  <a:schemeClr val="bg1"/>
                </a:solidFill>
              </a:rPr>
              <a:t>4</a:t>
            </a:r>
            <a:endParaRPr sz="2600"/>
          </a:p>
        </p:txBody>
      </p:sp>
      <p:sp>
        <p:nvSpPr>
          <p:cNvPr id="3" name="Text 0">
            <a:extLst>
              <a:ext uri="{FF2B5EF4-FFF2-40B4-BE49-F238E27FC236}">
                <a16:creationId xmlns:a16="http://schemas.microsoft.com/office/drawing/2014/main" id="{227BF60B-FAEF-4A43-B1DB-9CBE77A33465}"/>
              </a:ext>
            </a:extLst>
          </p:cNvPr>
          <p:cNvSpPr>
            <a:spLocks noGrp="1"/>
          </p:cNvSpPr>
          <p:nvPr>
            <p:ph type="title" idx="100" hasCustomPrompt="1"/>
          </p:nvPr>
        </p:nvSpPr>
        <p:spPr>
          <a:xfrm>
            <a:off x="1600200" y="457200"/>
            <a:ext cx="8138160" cy="822960"/>
          </a:xfrm>
          <a:prstGeom prst="rect">
            <a:avLst/>
          </a:prstGeom>
          <a:noFill/>
        </p:spPr>
        <p:txBody>
          <a:bodyPr wrap="square" lIns="0" tIns="0" rIns="0" bIns="0" anchor="ctr"/>
          <a:lstStyle/>
          <a:p>
            <a:pPr marL="0" indent="0" algn="l">
              <a:buNone/>
            </a:pPr>
            <a:r>
              <a:rPr sz="3600" b="1">
                <a:solidFill>
                  <a:schemeClr val="tx2"/>
                </a:solidFill>
              </a:rPr>
              <a:t>Présentation des personas</a:t>
            </a:r>
            <a:endParaRPr sz="3600"/>
          </a:p>
        </p:txBody>
      </p:sp>
      <p:sp>
        <p:nvSpPr>
          <p:cNvPr id="6" name="Carte - Persona 1 :">
            <a:extLst>
              <a:ext uri="{FF2B5EF4-FFF2-40B4-BE49-F238E27FC236}">
                <a16:creationId xmlns:a16="http://schemas.microsoft.com/office/drawing/2014/main" id="{E13CB987-6F5B-4002-A7AA-25BBBBA43D9E}"/>
              </a:ext>
            </a:extLst>
          </p:cNvPr>
          <p:cNvSpPr>
            <a:spLocks noGrp="1"/>
          </p:cNvSpPr>
          <p:nvPr/>
        </p:nvSpPr>
        <p:spPr>
          <a:xfrm>
            <a:off x="548640" y="1600200"/>
            <a:ext cx="11091672" cy="640080"/>
          </a:xfrm>
          <a:prstGeom prst="roundRect">
            <a:avLst>
              <a:gd name="adj" fmla="val 17143"/>
            </a:avLst>
          </a:prstGeom>
          <a:solidFill>
            <a:schemeClr val="tx2"/>
          </a:solidFill>
        </p:spPr>
        <p:txBody>
          <a:bodyPr wrap="square" lIns="177800" tIns="177800" rIns="177800" bIns="177800" anchor="t"/>
          <a:lstStyle/>
          <a:p>
            <a:pPr marL="0" indent="0" algn="l">
              <a:buNone/>
            </a:pPr>
            <a:r>
              <a:rPr sz="1800" b="1">
                <a:solidFill>
                  <a:schemeClr val="bg1"/>
                </a:solidFill>
              </a:rPr>
              <a:t>Persona 1 : Gestionnaire</a:t>
            </a:r>
            <a:br>
              <a:rPr sz="1800" b="1">
                <a:solidFill>
                  <a:schemeClr val="bg1"/>
                </a:solidFill>
              </a:rPr>
            </a:br>
            <a:endParaRPr sz="1800"/>
          </a:p>
          <a:p>
            <a:pPr marL="0" indent="0" algn="l">
              <a:buNone/>
            </a:pPr>
            <a:endParaRPr sz="1800"/>
          </a:p>
        </p:txBody>
      </p:sp>
      <p:sp>
        <p:nvSpPr>
          <p:cNvPr id="7" name="Carte - Profil rapide">
            <a:extLst>
              <a:ext uri="{FF2B5EF4-FFF2-40B4-BE49-F238E27FC236}">
                <a16:creationId xmlns:a16="http://schemas.microsoft.com/office/drawing/2014/main" id="{F2FE04F2-155E-49F0-8877-0263F9D245F2}"/>
              </a:ext>
            </a:extLst>
          </p:cNvPr>
          <p:cNvSpPr>
            <a:spLocks noGrp="1"/>
          </p:cNvSpPr>
          <p:nvPr/>
        </p:nvSpPr>
        <p:spPr>
          <a:xfrm>
            <a:off x="548640" y="2423160"/>
            <a:ext cx="5408676" cy="1737360"/>
          </a:xfrm>
          <a:prstGeom prst="roundRect">
            <a:avLst>
              <a:gd name="adj" fmla="val 6316"/>
            </a:avLst>
          </a:prstGeom>
          <a:solidFill>
            <a:schemeClr val="bg2"/>
          </a:solidFill>
        </p:spPr>
        <p:txBody>
          <a:bodyPr wrap="square" lIns="177800" tIns="177800" rIns="177800" bIns="177800" anchor="t"/>
          <a:lstStyle/>
          <a:p>
            <a:pPr marL="0" indent="0" algn="l">
              <a:buNone/>
            </a:pPr>
            <a:r>
              <a:rPr sz="1600" b="1">
                <a:solidFill>
                  <a:schemeClr val="tx2"/>
                </a:solidFill>
              </a:rPr>
              <a:t>Profil rapide</a:t>
            </a:r>
          </a:p>
          <a:p>
            <a:pPr marL="0" indent="0" algn="l">
              <a:buNone/>
            </a:pPr>
            <a:r>
              <a:rPr sz="1400">
                <a:solidFill>
                  <a:schemeClr val="tx1"/>
                </a:solidFill>
              </a:rPr>
              <a:t>Gère le parc informatique et les salles.</a:t>
            </a:r>
          </a:p>
        </p:txBody>
      </p:sp>
      <p:sp>
        <p:nvSpPr>
          <p:cNvPr id="8" name="Carte - Objectifs">
            <a:extLst>
              <a:ext uri="{FF2B5EF4-FFF2-40B4-BE49-F238E27FC236}">
                <a16:creationId xmlns:a16="http://schemas.microsoft.com/office/drawing/2014/main" id="{A36F9310-B45F-43CF-982D-8C9259BA4661}"/>
              </a:ext>
            </a:extLst>
          </p:cNvPr>
          <p:cNvSpPr>
            <a:spLocks noGrp="1"/>
          </p:cNvSpPr>
          <p:nvPr/>
        </p:nvSpPr>
        <p:spPr>
          <a:xfrm>
            <a:off x="6231636" y="2423160"/>
            <a:ext cx="5408676" cy="1737360"/>
          </a:xfrm>
          <a:prstGeom prst="roundRect">
            <a:avLst>
              <a:gd name="adj" fmla="val 6316"/>
            </a:avLst>
          </a:prstGeom>
          <a:solidFill>
            <a:schemeClr val="bg2"/>
          </a:solidFill>
        </p:spPr>
        <p:txBody>
          <a:bodyPr wrap="square" lIns="177800" tIns="177800" rIns="177800" bIns="177800" anchor="t"/>
          <a:lstStyle/>
          <a:p>
            <a:pPr marL="0" indent="0" algn="l">
              <a:buNone/>
            </a:pPr>
            <a:r>
              <a:rPr sz="1600" b="1">
                <a:solidFill>
                  <a:schemeClr val="tx2"/>
                </a:solidFill>
              </a:rPr>
              <a:t>Objectifs</a:t>
            </a:r>
          </a:p>
          <a:p>
            <a:pPr marL="0" indent="0" algn="l">
              <a:buNone/>
            </a:pPr>
            <a:r>
              <a:rPr sz="1400">
                <a:solidFill>
                  <a:schemeClr val="tx1"/>
                </a:solidFill>
              </a:rPr>
              <a:t>Affecter les postes, gérer le matériel, faire les transferts.</a:t>
            </a:r>
          </a:p>
        </p:txBody>
      </p:sp>
      <p:sp>
        <p:nvSpPr>
          <p:cNvPr id="9" name="Carte - Scénarios d'usage clés">
            <a:extLst>
              <a:ext uri="{FF2B5EF4-FFF2-40B4-BE49-F238E27FC236}">
                <a16:creationId xmlns:a16="http://schemas.microsoft.com/office/drawing/2014/main" id="{B36C5A66-DDB0-4FFA-8E40-CC7C37464A75}"/>
              </a:ext>
            </a:extLst>
          </p:cNvPr>
          <p:cNvSpPr>
            <a:spLocks noGrp="1"/>
          </p:cNvSpPr>
          <p:nvPr/>
        </p:nvSpPr>
        <p:spPr>
          <a:xfrm>
            <a:off x="548640" y="4434840"/>
            <a:ext cx="5408676" cy="1737360"/>
          </a:xfrm>
          <a:prstGeom prst="roundRect">
            <a:avLst>
              <a:gd name="adj" fmla="val 6316"/>
            </a:avLst>
          </a:prstGeom>
          <a:solidFill>
            <a:schemeClr val="bg2"/>
          </a:solidFill>
        </p:spPr>
        <p:txBody>
          <a:bodyPr wrap="square" lIns="177800" tIns="177800" rIns="177800" bIns="177800" anchor="t"/>
          <a:lstStyle/>
          <a:p>
            <a:pPr marL="0" indent="0" algn="l">
              <a:buNone/>
            </a:pPr>
            <a:r>
              <a:rPr sz="1600" b="1">
                <a:solidFill>
                  <a:schemeClr val="tx2"/>
                </a:solidFill>
              </a:rPr>
              <a:t>Scénarios d’usage clés</a:t>
            </a:r>
          </a:p>
          <a:p>
            <a:pPr marL="0" indent="0" algn="l">
              <a:buNone/>
            </a:pPr>
            <a:r>
              <a:rPr sz="1400">
                <a:solidFill>
                  <a:schemeClr val="tx1"/>
                </a:solidFill>
              </a:rPr>
              <a:t>Affecter un poste à une salle ; transférer un matériel ; consulter l’état du parc.</a:t>
            </a:r>
          </a:p>
        </p:txBody>
      </p:sp>
      <p:sp>
        <p:nvSpPr>
          <p:cNvPr id="10" name="Carte - Priorités pour l'application">
            <a:extLst>
              <a:ext uri="{FF2B5EF4-FFF2-40B4-BE49-F238E27FC236}">
                <a16:creationId xmlns:a16="http://schemas.microsoft.com/office/drawing/2014/main" id="{DB44C195-4069-425E-B12E-82FA9C9E3BBB}"/>
              </a:ext>
            </a:extLst>
          </p:cNvPr>
          <p:cNvSpPr>
            <a:spLocks noGrp="1"/>
          </p:cNvSpPr>
          <p:nvPr/>
        </p:nvSpPr>
        <p:spPr>
          <a:xfrm>
            <a:off x="6231636" y="4434840"/>
            <a:ext cx="5408676" cy="1737360"/>
          </a:xfrm>
          <a:prstGeom prst="roundRect">
            <a:avLst>
              <a:gd name="adj" fmla="val 6316"/>
            </a:avLst>
          </a:prstGeom>
          <a:solidFill>
            <a:schemeClr val="bg2"/>
          </a:solidFill>
        </p:spPr>
        <p:txBody>
          <a:bodyPr wrap="square" lIns="177800" tIns="177800" rIns="177800" bIns="177800" anchor="t"/>
          <a:lstStyle/>
          <a:p>
            <a:pPr marL="0" indent="0" algn="l">
              <a:buNone/>
            </a:pPr>
            <a:r>
              <a:rPr sz="1600" b="1">
                <a:solidFill>
                  <a:schemeClr val="tx2"/>
                </a:solidFill>
              </a:rPr>
              <a:t>Priorités pour l’application</a:t>
            </a:r>
          </a:p>
          <a:p>
            <a:pPr marL="0" indent="0" algn="l">
              <a:buNone/>
            </a:pPr>
            <a:r>
              <a:rPr sz="1400">
                <a:solidFill>
                  <a:schemeClr val="tx1"/>
                </a:solidFill>
              </a:rPr>
              <a:t>Matériel, affectations, transferts, visibilité sur l’état des postes.</a:t>
            </a:r>
          </a:p>
        </p:txBody>
      </p:sp>
      <p:sp>
        <p:nvSpPr>
          <p:cNvPr id="25" name="Slide Number Placeholder 0">
            <a:extLst>
              <a:ext uri="{FF2B5EF4-FFF2-40B4-BE49-F238E27FC236}">
                <a16:creationId xmlns:a16="http://schemas.microsoft.com/office/drawing/2014/main" id="{92718992-0294-49BD-B284-45AB581A568E}"/>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accent3"/>
                </a:solidFill>
              </a:defRPr>
            </a:lvl1pPr>
          </a:lstStyle>
          <a:p>
            <a:pPr algn="r">
              <a:buNone/>
            </a:pPr>
            <a:fld id="{8C630A04-5A25-9E0C-9436-126091DB86B3}" type="slidenum">
              <a:rPr b="0"/>
              <a:t>10</a:t>
            </a:fld>
            <a:endParaRPr/>
          </a:p>
        </p:txBody>
      </p:sp>
    </p:spTree>
    <p:extLst>
      <p:ext uri="{BB962C8B-B14F-4D97-AF65-F5344CB8AC3E}">
        <p14:creationId xmlns:p14="http://schemas.microsoft.com/office/powerpoint/2010/main" val="1749608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uméro de section">
            <a:extLst>
              <a:ext uri="{FF2B5EF4-FFF2-40B4-BE49-F238E27FC236}">
                <a16:creationId xmlns:a16="http://schemas.microsoft.com/office/drawing/2014/main" id="{1F78A729-7E97-4B52-9F3E-AE8DCA97C20F}"/>
              </a:ext>
            </a:extLst>
          </p:cNvPr>
          <p:cNvSpPr>
            <a:spLocks noGrp="1"/>
          </p:cNvSpPr>
          <p:nvPr/>
        </p:nvSpPr>
        <p:spPr>
          <a:xfrm>
            <a:off x="548640" y="457200"/>
            <a:ext cx="822960" cy="822960"/>
          </a:xfrm>
          <a:prstGeom prst="ellipse">
            <a:avLst/>
          </a:prstGeom>
          <a:solidFill>
            <a:schemeClr val="accent1"/>
          </a:solidFill>
        </p:spPr>
        <p:txBody>
          <a:bodyPr wrap="square" lIns="0" tIns="0" rIns="0" bIns="0" anchor="ctr"/>
          <a:lstStyle/>
          <a:p>
            <a:pPr marL="0" indent="0" algn="ctr">
              <a:buNone/>
            </a:pPr>
            <a:r>
              <a:rPr sz="2600" b="1">
                <a:solidFill>
                  <a:schemeClr val="bg1"/>
                </a:solidFill>
              </a:rPr>
              <a:t>5</a:t>
            </a:r>
            <a:endParaRPr sz="2600"/>
          </a:p>
        </p:txBody>
      </p:sp>
      <p:sp>
        <p:nvSpPr>
          <p:cNvPr id="3" name="Text 0">
            <a:extLst>
              <a:ext uri="{FF2B5EF4-FFF2-40B4-BE49-F238E27FC236}">
                <a16:creationId xmlns:a16="http://schemas.microsoft.com/office/drawing/2014/main" id="{33C4AFA0-5130-4ED2-AD85-CC57F4A11849}"/>
              </a:ext>
            </a:extLst>
          </p:cNvPr>
          <p:cNvSpPr>
            <a:spLocks noGrp="1"/>
          </p:cNvSpPr>
          <p:nvPr>
            <p:ph type="title" idx="100" hasCustomPrompt="1"/>
          </p:nvPr>
        </p:nvSpPr>
        <p:spPr>
          <a:xfrm>
            <a:off x="1600200" y="457200"/>
            <a:ext cx="8138160" cy="822960"/>
          </a:xfrm>
          <a:prstGeom prst="rect">
            <a:avLst/>
          </a:prstGeom>
          <a:noFill/>
        </p:spPr>
        <p:txBody>
          <a:bodyPr wrap="square" lIns="0" tIns="0" rIns="0" bIns="0" anchor="ctr"/>
          <a:lstStyle/>
          <a:p>
            <a:pPr marL="0" indent="0" algn="l">
              <a:buNone/>
            </a:pPr>
            <a:r>
              <a:rPr sz="3600" b="1" dirty="0">
                <a:solidFill>
                  <a:schemeClr val="tx2"/>
                </a:solidFill>
              </a:rPr>
              <a:t>Roadmap </a:t>
            </a:r>
            <a:r>
              <a:rPr sz="3600" b="1" dirty="0" err="1">
                <a:solidFill>
                  <a:schemeClr val="tx2"/>
                </a:solidFill>
              </a:rPr>
              <a:t>produit</a:t>
            </a:r>
            <a:r>
              <a:rPr sz="3600" b="1" dirty="0">
                <a:solidFill>
                  <a:schemeClr val="tx2"/>
                </a:solidFill>
              </a:rPr>
              <a:t> </a:t>
            </a:r>
            <a:r>
              <a:rPr sz="3600" b="1" dirty="0" err="1">
                <a:solidFill>
                  <a:schemeClr val="tx2"/>
                </a:solidFill>
              </a:rPr>
              <a:t>initiale</a:t>
            </a:r>
            <a:endParaRPr sz="3600" dirty="0"/>
          </a:p>
        </p:txBody>
      </p:sp>
      <p:sp>
        <p:nvSpPr>
          <p:cNvPr id="6" name="Légende">
            <a:extLst>
              <a:ext uri="{FF2B5EF4-FFF2-40B4-BE49-F238E27FC236}">
                <a16:creationId xmlns:a16="http://schemas.microsoft.com/office/drawing/2014/main" id="{7EBC231E-31D5-45FC-94FD-D38701F8F296}"/>
              </a:ext>
            </a:extLst>
          </p:cNvPr>
          <p:cNvSpPr>
            <a:spLocks noGrp="1"/>
          </p:cNvSpPr>
          <p:nvPr/>
        </p:nvSpPr>
        <p:spPr>
          <a:xfrm>
            <a:off x="548640" y="1554480"/>
            <a:ext cx="11091672" cy="365760"/>
          </a:xfrm>
          <a:prstGeom prst="rect">
            <a:avLst/>
          </a:prstGeom>
          <a:noFill/>
        </p:spPr>
        <p:txBody>
          <a:bodyPr wrap="square" lIns="0" tIns="0" rIns="0" bIns="0" anchor="ctr"/>
          <a:lstStyle/>
          <a:p>
            <a:pPr marL="0" indent="0">
              <a:buNone/>
            </a:pPr>
            <a:r>
              <a:rPr sz="1600" b="1">
                <a:solidFill>
                  <a:schemeClr val="tx2"/>
                </a:solidFill>
              </a:rPr>
              <a:t>Vision globale : MVP → V1 → V2</a:t>
            </a:r>
            <a:endParaRPr sz="1600"/>
          </a:p>
        </p:txBody>
      </p:sp>
      <p:sp>
        <p:nvSpPr>
          <p:cNvPr id="7" name="Carte - MVP">
            <a:extLst>
              <a:ext uri="{FF2B5EF4-FFF2-40B4-BE49-F238E27FC236}">
                <a16:creationId xmlns:a16="http://schemas.microsoft.com/office/drawing/2014/main" id="{E3320A98-29F8-46A6-A831-4CC046A2FDB1}"/>
              </a:ext>
            </a:extLst>
          </p:cNvPr>
          <p:cNvSpPr>
            <a:spLocks noGrp="1"/>
          </p:cNvSpPr>
          <p:nvPr/>
        </p:nvSpPr>
        <p:spPr>
          <a:xfrm>
            <a:off x="548640" y="2128949"/>
            <a:ext cx="3392424" cy="1828800"/>
          </a:xfrm>
          <a:prstGeom prst="roundRect">
            <a:avLst>
              <a:gd name="adj" fmla="val 6000"/>
            </a:avLst>
          </a:prstGeom>
          <a:solidFill>
            <a:schemeClr val="bg2"/>
          </a:solidFill>
        </p:spPr>
        <p:txBody>
          <a:bodyPr wrap="square" lIns="177800" tIns="177800" rIns="177800" bIns="177800" anchor="t"/>
          <a:lstStyle/>
          <a:p>
            <a:pPr marL="0" indent="0" algn="l">
              <a:buNone/>
            </a:pPr>
            <a:r>
              <a:rPr sz="1600" b="1" dirty="0">
                <a:solidFill>
                  <a:schemeClr val="tx2"/>
                </a:solidFill>
              </a:rPr>
              <a:t>MVP</a:t>
            </a:r>
          </a:p>
          <a:p>
            <a:pPr marL="285750" indent="-285750">
              <a:buFont typeface="Arial" panose="020B0604020202020204" pitchFamily="34" charset="0"/>
              <a:buChar char="•"/>
            </a:pPr>
            <a:r>
              <a:rPr lang="fr-FR" sz="1400" dirty="0">
                <a:solidFill>
                  <a:schemeClr val="tx2"/>
                </a:solidFill>
              </a:rPr>
              <a:t>Pouvoir gérer le </a:t>
            </a:r>
            <a:r>
              <a:rPr lang="fr-FR" sz="1400" dirty="0" err="1">
                <a:solidFill>
                  <a:schemeClr val="tx2"/>
                </a:solidFill>
              </a:rPr>
              <a:t>materiel</a:t>
            </a:r>
            <a:r>
              <a:rPr lang="fr-FR" sz="1400" dirty="0">
                <a:solidFill>
                  <a:schemeClr val="tx2"/>
                </a:solidFill>
              </a:rPr>
              <a:t> du parc informatique </a:t>
            </a:r>
          </a:p>
          <a:p>
            <a:pPr marL="285750" indent="-285750">
              <a:buFont typeface="Arial" panose="020B0604020202020204" pitchFamily="34" charset="0"/>
              <a:buChar char="•"/>
            </a:pPr>
            <a:r>
              <a:rPr lang="fr-FR" sz="1400" dirty="0">
                <a:solidFill>
                  <a:schemeClr val="tx2"/>
                </a:solidFill>
              </a:rPr>
              <a:t>connexion</a:t>
            </a:r>
          </a:p>
        </p:txBody>
      </p:sp>
      <p:sp>
        <p:nvSpPr>
          <p:cNvPr id="8" name="Carte - V1">
            <a:extLst>
              <a:ext uri="{FF2B5EF4-FFF2-40B4-BE49-F238E27FC236}">
                <a16:creationId xmlns:a16="http://schemas.microsoft.com/office/drawing/2014/main" id="{C1E559DF-9546-42A5-8E4A-B209CF4032CE}"/>
              </a:ext>
            </a:extLst>
          </p:cNvPr>
          <p:cNvSpPr>
            <a:spLocks noGrp="1"/>
          </p:cNvSpPr>
          <p:nvPr/>
        </p:nvSpPr>
        <p:spPr>
          <a:xfrm>
            <a:off x="4398264" y="2020824"/>
            <a:ext cx="3392424" cy="1828800"/>
          </a:xfrm>
          <a:prstGeom prst="roundRect">
            <a:avLst>
              <a:gd name="adj" fmla="val 6000"/>
            </a:avLst>
          </a:prstGeom>
          <a:solidFill>
            <a:schemeClr val="bg2"/>
          </a:solidFill>
        </p:spPr>
        <p:txBody>
          <a:bodyPr wrap="square" lIns="177800" tIns="177800" rIns="177800" bIns="177800" anchor="t"/>
          <a:lstStyle/>
          <a:p>
            <a:pPr marL="0" indent="0" algn="l">
              <a:buNone/>
            </a:pPr>
            <a:r>
              <a:rPr sz="1600" b="1" dirty="0">
                <a:solidFill>
                  <a:schemeClr val="tx2"/>
                </a:solidFill>
              </a:rPr>
              <a:t>V1</a:t>
            </a:r>
          </a:p>
          <a:p>
            <a:pPr marL="0" indent="0" algn="l">
              <a:buNone/>
            </a:pPr>
            <a:endParaRPr sz="1600" b="1" dirty="0">
              <a:solidFill>
                <a:schemeClr val="tx2"/>
              </a:solidFill>
            </a:endParaRPr>
          </a:p>
          <a:p>
            <a:r>
              <a:rPr lang="fr-FR" sz="1600" dirty="0">
                <a:solidFill>
                  <a:schemeClr val="tx2"/>
                </a:solidFill>
              </a:rPr>
              <a:t>Gestion des stages et des salles</a:t>
            </a:r>
          </a:p>
          <a:p>
            <a:pPr marL="0" indent="0" algn="l">
              <a:buNone/>
            </a:pPr>
            <a:endParaRPr sz="1400" dirty="0">
              <a:solidFill>
                <a:schemeClr val="tx1"/>
              </a:solidFill>
            </a:endParaRPr>
          </a:p>
        </p:txBody>
      </p:sp>
      <p:sp>
        <p:nvSpPr>
          <p:cNvPr id="9" name="Carte - V2">
            <a:extLst>
              <a:ext uri="{FF2B5EF4-FFF2-40B4-BE49-F238E27FC236}">
                <a16:creationId xmlns:a16="http://schemas.microsoft.com/office/drawing/2014/main" id="{3D25F9F6-1665-44F4-817D-E6333D3DD175}"/>
              </a:ext>
            </a:extLst>
          </p:cNvPr>
          <p:cNvSpPr>
            <a:spLocks noGrp="1"/>
          </p:cNvSpPr>
          <p:nvPr/>
        </p:nvSpPr>
        <p:spPr>
          <a:xfrm>
            <a:off x="8247888" y="2011680"/>
            <a:ext cx="3392424" cy="1828800"/>
          </a:xfrm>
          <a:prstGeom prst="roundRect">
            <a:avLst>
              <a:gd name="adj" fmla="val 6000"/>
            </a:avLst>
          </a:prstGeom>
          <a:solidFill>
            <a:schemeClr val="bg2"/>
          </a:solidFill>
        </p:spPr>
        <p:txBody>
          <a:bodyPr wrap="square" lIns="177800" tIns="177800" rIns="177800" bIns="177800" anchor="t"/>
          <a:lstStyle/>
          <a:p>
            <a:pPr marL="0" indent="0" algn="l">
              <a:buNone/>
            </a:pPr>
            <a:r>
              <a:rPr sz="1600" b="1" dirty="0">
                <a:solidFill>
                  <a:schemeClr val="tx2"/>
                </a:solidFill>
              </a:rPr>
              <a:t>V2</a:t>
            </a:r>
          </a:p>
          <a:p>
            <a:pPr marL="0" indent="0" algn="l">
              <a:buNone/>
            </a:pPr>
            <a:endParaRPr lang="fr-FR" sz="1600" b="1" dirty="0">
              <a:solidFill>
                <a:schemeClr val="tx2"/>
              </a:solidFill>
            </a:endParaRPr>
          </a:p>
          <a:p>
            <a:r>
              <a:rPr lang="fr-FR" sz="1600" dirty="0">
                <a:solidFill>
                  <a:schemeClr val="tx2"/>
                </a:solidFill>
              </a:rPr>
              <a:t>Supervision des postes / processus</a:t>
            </a:r>
            <a:endParaRPr sz="1600" b="1" dirty="0">
              <a:solidFill>
                <a:schemeClr val="tx2"/>
              </a:solidFill>
            </a:endParaRPr>
          </a:p>
        </p:txBody>
      </p:sp>
      <p:sp>
        <p:nvSpPr>
          <p:cNvPr id="10" name="Flèche">
            <a:extLst>
              <a:ext uri="{FF2B5EF4-FFF2-40B4-BE49-F238E27FC236}">
                <a16:creationId xmlns:a16="http://schemas.microsoft.com/office/drawing/2014/main" id="{A22BDB1D-990F-4360-82F1-9E6E97E0DD1C}"/>
              </a:ext>
            </a:extLst>
          </p:cNvPr>
          <p:cNvSpPr>
            <a:spLocks noGrp="1"/>
          </p:cNvSpPr>
          <p:nvPr/>
        </p:nvSpPr>
        <p:spPr>
          <a:xfrm>
            <a:off x="4014216" y="2743200"/>
            <a:ext cx="310896" cy="384048"/>
          </a:xfrm>
          <a:prstGeom prst="rightArrow">
            <a:avLst/>
          </a:prstGeom>
          <a:solidFill>
            <a:schemeClr val="accent1"/>
          </a:solidFill>
        </p:spPr>
        <p:txBody>
          <a:bodyPr/>
          <a:lstStyle/>
          <a:p>
            <a:endParaRPr/>
          </a:p>
        </p:txBody>
      </p:sp>
      <p:sp>
        <p:nvSpPr>
          <p:cNvPr id="11" name="Flèche">
            <a:extLst>
              <a:ext uri="{FF2B5EF4-FFF2-40B4-BE49-F238E27FC236}">
                <a16:creationId xmlns:a16="http://schemas.microsoft.com/office/drawing/2014/main" id="{2A5F2678-34F7-4A56-A3B4-3255E259914B}"/>
              </a:ext>
            </a:extLst>
          </p:cNvPr>
          <p:cNvSpPr>
            <a:spLocks noGrp="1"/>
          </p:cNvSpPr>
          <p:nvPr/>
        </p:nvSpPr>
        <p:spPr>
          <a:xfrm>
            <a:off x="7863840" y="2743200"/>
            <a:ext cx="310896" cy="384048"/>
          </a:xfrm>
          <a:prstGeom prst="rightArrow">
            <a:avLst/>
          </a:prstGeom>
          <a:solidFill>
            <a:schemeClr val="accent1"/>
          </a:solidFill>
        </p:spPr>
        <p:txBody>
          <a:bodyPr/>
          <a:lstStyle/>
          <a:p>
            <a:endParaRPr/>
          </a:p>
        </p:txBody>
      </p:sp>
      <p:sp>
        <p:nvSpPr>
          <p:cNvPr id="25" name="Slide Number Placeholder 0">
            <a:extLst>
              <a:ext uri="{FF2B5EF4-FFF2-40B4-BE49-F238E27FC236}">
                <a16:creationId xmlns:a16="http://schemas.microsoft.com/office/drawing/2014/main" id="{2FB8B2C3-4862-46C4-A6D5-5C5CB6194467}"/>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accent3"/>
                </a:solidFill>
              </a:defRPr>
            </a:lvl1pPr>
          </a:lstStyle>
          <a:p>
            <a:pPr algn="r">
              <a:buNone/>
            </a:pPr>
            <a:fld id="{BA58DA2A-B818-18A9-29C1-B697728D5BCE}" type="slidenum">
              <a:rPr b="0"/>
              <a:t>11</a:t>
            </a:fld>
            <a:endParaRPr/>
          </a:p>
        </p:txBody>
      </p:sp>
    </p:spTree>
    <p:extLst>
      <p:ext uri="{BB962C8B-B14F-4D97-AF65-F5344CB8AC3E}">
        <p14:creationId xmlns:p14="http://schemas.microsoft.com/office/powerpoint/2010/main" val="422025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uméro de section">
            <a:extLst>
              <a:ext uri="{FF2B5EF4-FFF2-40B4-BE49-F238E27FC236}">
                <a16:creationId xmlns:a16="http://schemas.microsoft.com/office/drawing/2014/main" id="{6E73ABBB-685C-4041-AAC1-81D9AD94456C}"/>
              </a:ext>
            </a:extLst>
          </p:cNvPr>
          <p:cNvSpPr>
            <a:spLocks noGrp="1"/>
          </p:cNvSpPr>
          <p:nvPr/>
        </p:nvSpPr>
        <p:spPr>
          <a:xfrm>
            <a:off x="548640" y="457200"/>
            <a:ext cx="822960" cy="822960"/>
          </a:xfrm>
          <a:prstGeom prst="ellipse">
            <a:avLst/>
          </a:prstGeom>
          <a:solidFill>
            <a:schemeClr val="accent1"/>
          </a:solidFill>
        </p:spPr>
        <p:txBody>
          <a:bodyPr wrap="square" lIns="0" tIns="0" rIns="0" bIns="0" anchor="ctr"/>
          <a:lstStyle/>
          <a:p>
            <a:pPr marL="0" indent="0" algn="ctr">
              <a:buNone/>
            </a:pPr>
            <a:r>
              <a:rPr sz="2600" b="1">
                <a:solidFill>
                  <a:schemeClr val="bg1"/>
                </a:solidFill>
              </a:rPr>
              <a:t>6</a:t>
            </a:r>
            <a:endParaRPr sz="2600"/>
          </a:p>
        </p:txBody>
      </p:sp>
      <p:sp>
        <p:nvSpPr>
          <p:cNvPr id="3" name="Text 0">
            <a:extLst>
              <a:ext uri="{FF2B5EF4-FFF2-40B4-BE49-F238E27FC236}">
                <a16:creationId xmlns:a16="http://schemas.microsoft.com/office/drawing/2014/main" id="{FB3D68CA-FEDF-4CB4-ADD1-0FCD23A6AD0A}"/>
              </a:ext>
            </a:extLst>
          </p:cNvPr>
          <p:cNvSpPr>
            <a:spLocks noGrp="1"/>
          </p:cNvSpPr>
          <p:nvPr>
            <p:ph type="title" idx="100" hasCustomPrompt="1"/>
          </p:nvPr>
        </p:nvSpPr>
        <p:spPr>
          <a:xfrm>
            <a:off x="1600200" y="457200"/>
            <a:ext cx="8138160" cy="822960"/>
          </a:xfrm>
          <a:prstGeom prst="rect">
            <a:avLst/>
          </a:prstGeom>
          <a:noFill/>
        </p:spPr>
        <p:txBody>
          <a:bodyPr wrap="square" lIns="0" tIns="0" rIns="0" bIns="0" anchor="ctr"/>
          <a:lstStyle/>
          <a:p>
            <a:pPr marL="0" indent="0" algn="l">
              <a:buNone/>
            </a:pPr>
            <a:r>
              <a:rPr sz="3600" b="1" dirty="0">
                <a:solidFill>
                  <a:schemeClr val="tx2"/>
                </a:solidFill>
              </a:rPr>
              <a:t>Backlog </a:t>
            </a:r>
            <a:r>
              <a:rPr sz="3600" b="1" dirty="0" err="1">
                <a:solidFill>
                  <a:schemeClr val="tx2"/>
                </a:solidFill>
              </a:rPr>
              <a:t>produit</a:t>
            </a:r>
            <a:r>
              <a:rPr sz="3600" b="1" dirty="0">
                <a:solidFill>
                  <a:schemeClr val="tx2"/>
                </a:solidFill>
              </a:rPr>
              <a:t> initial</a:t>
            </a:r>
            <a:endParaRPr sz="3600" dirty="0"/>
          </a:p>
        </p:txBody>
      </p:sp>
      <p:sp>
        <p:nvSpPr>
          <p:cNvPr id="6" name="Carte - Présentation des fonctionnalités principales">
            <a:extLst>
              <a:ext uri="{FF2B5EF4-FFF2-40B4-BE49-F238E27FC236}">
                <a16:creationId xmlns:a16="http://schemas.microsoft.com/office/drawing/2014/main" id="{2072DD0B-A91B-4CC1-8937-5062A6CCD58B}"/>
              </a:ext>
            </a:extLst>
          </p:cNvPr>
          <p:cNvSpPr>
            <a:spLocks noGrp="1"/>
          </p:cNvSpPr>
          <p:nvPr/>
        </p:nvSpPr>
        <p:spPr>
          <a:xfrm>
            <a:off x="548640" y="1600199"/>
            <a:ext cx="11091672" cy="4600575"/>
          </a:xfrm>
          <a:prstGeom prst="roundRect">
            <a:avLst>
              <a:gd name="adj" fmla="val 5714"/>
            </a:avLst>
          </a:prstGeom>
          <a:solidFill>
            <a:schemeClr val="bg2"/>
          </a:solidFill>
        </p:spPr>
        <p:txBody>
          <a:bodyPr wrap="square" lIns="177800" tIns="177800" rIns="177800" bIns="177800" anchor="t"/>
          <a:lstStyle/>
          <a:p>
            <a:r>
              <a:rPr sz="1600" b="1" dirty="0" err="1">
                <a:solidFill>
                  <a:srgbClr val="0E2340"/>
                </a:solidFill>
                <a:latin typeface="Calibri"/>
                <a:ea typeface="Calibri"/>
                <a:cs typeface="Calibri"/>
              </a:rPr>
              <a:t>Fonctionnalité</a:t>
            </a:r>
            <a:endParaRPr sz="1600" b="1" dirty="0">
              <a:solidFill>
                <a:srgbClr val="0E2340"/>
              </a:solidFill>
              <a:latin typeface="Calibri"/>
              <a:ea typeface="Calibri"/>
              <a:cs typeface="Calibri"/>
            </a:endParaRPr>
          </a:p>
          <a:p>
            <a:pPr marL="285750" indent="-285750">
              <a:buFont typeface="Arial" panose="020B0604020202020204" pitchFamily="34" charset="0"/>
              <a:buChar char="•"/>
            </a:pPr>
            <a:r>
              <a:rPr lang="fr-FR" sz="1400" dirty="0">
                <a:solidFill>
                  <a:srgbClr val="23334B"/>
                </a:solidFill>
                <a:latin typeface="Calibri"/>
                <a:ea typeface="Calibri"/>
                <a:cs typeface="Calibri"/>
              </a:rPr>
              <a:t>Inventaire du matériels</a:t>
            </a:r>
          </a:p>
          <a:p>
            <a:pPr marL="285750" indent="-285750">
              <a:buFont typeface="Arial" panose="020B0604020202020204" pitchFamily="34" charset="0"/>
              <a:buChar char="•"/>
            </a:pPr>
            <a:r>
              <a:rPr lang="fr-FR" sz="1400" b="0" dirty="0">
                <a:solidFill>
                  <a:srgbClr val="23334B"/>
                </a:solidFill>
                <a:latin typeface="Calibri"/>
                <a:ea typeface="Calibri"/>
                <a:cs typeface="Calibri"/>
              </a:rPr>
              <a:t>Ajouter un matériel</a:t>
            </a:r>
          </a:p>
          <a:p>
            <a:pPr marL="285750" indent="-285750">
              <a:buFont typeface="Arial" panose="020B0604020202020204" pitchFamily="34" charset="0"/>
              <a:buChar char="•"/>
            </a:pPr>
            <a:r>
              <a:rPr lang="fr-FR" sz="1400" dirty="0">
                <a:solidFill>
                  <a:srgbClr val="23334B"/>
                </a:solidFill>
                <a:latin typeface="Calibri"/>
                <a:ea typeface="Calibri"/>
                <a:cs typeface="Calibri"/>
              </a:rPr>
              <a:t>Transfert de matériel</a:t>
            </a:r>
          </a:p>
          <a:p>
            <a:pPr marL="285750" indent="-285750">
              <a:buFont typeface="Arial" panose="020B0604020202020204" pitchFamily="34" charset="0"/>
              <a:buChar char="•"/>
            </a:pPr>
            <a:r>
              <a:rPr lang="fr-FR" sz="1400" b="0" dirty="0">
                <a:solidFill>
                  <a:srgbClr val="23334B"/>
                </a:solidFill>
                <a:latin typeface="Calibri"/>
                <a:ea typeface="Calibri"/>
                <a:cs typeface="Calibri"/>
              </a:rPr>
              <a:t>Connexion</a:t>
            </a:r>
          </a:p>
          <a:p>
            <a:pPr marL="285750" indent="-285750">
              <a:buFont typeface="Arial" panose="020B0604020202020204" pitchFamily="34" charset="0"/>
              <a:buChar char="•"/>
            </a:pPr>
            <a:r>
              <a:rPr lang="fr-FR" sz="1400" dirty="0">
                <a:solidFill>
                  <a:srgbClr val="23334B"/>
                </a:solidFill>
                <a:latin typeface="Calibri"/>
                <a:ea typeface="Calibri"/>
                <a:cs typeface="Calibri"/>
              </a:rPr>
              <a:t>Gérer les salles</a:t>
            </a:r>
          </a:p>
          <a:p>
            <a:pPr marL="285750" indent="-285750">
              <a:buFont typeface="Arial" panose="020B0604020202020204" pitchFamily="34" charset="0"/>
              <a:buChar char="•"/>
            </a:pPr>
            <a:r>
              <a:rPr lang="fr-FR" sz="1400" b="0" dirty="0">
                <a:solidFill>
                  <a:srgbClr val="23334B"/>
                </a:solidFill>
                <a:latin typeface="Calibri"/>
                <a:ea typeface="Calibri"/>
                <a:cs typeface="Calibri"/>
              </a:rPr>
              <a:t>Gérer les stages</a:t>
            </a:r>
          </a:p>
          <a:p>
            <a:pPr marL="285750" indent="-285750">
              <a:buFont typeface="Arial" panose="020B0604020202020204" pitchFamily="34" charset="0"/>
              <a:buChar char="•"/>
            </a:pPr>
            <a:r>
              <a:rPr lang="fr-FR" sz="1400" dirty="0">
                <a:solidFill>
                  <a:srgbClr val="23334B"/>
                </a:solidFill>
                <a:latin typeface="Calibri"/>
                <a:ea typeface="Calibri"/>
                <a:cs typeface="Calibri"/>
              </a:rPr>
              <a:t>Administration des utilisateurs</a:t>
            </a:r>
          </a:p>
          <a:p>
            <a:pPr marL="285750" indent="-285750">
              <a:buFont typeface="Arial" panose="020B0604020202020204" pitchFamily="34" charset="0"/>
              <a:buChar char="•"/>
            </a:pPr>
            <a:r>
              <a:rPr lang="fr-FR" sz="1400" b="0" dirty="0">
                <a:solidFill>
                  <a:srgbClr val="23334B"/>
                </a:solidFill>
                <a:latin typeface="Calibri"/>
                <a:ea typeface="Calibri"/>
                <a:cs typeface="Calibri"/>
              </a:rPr>
              <a:t>Administration</a:t>
            </a:r>
            <a:r>
              <a:rPr lang="fr-FR" sz="1400" dirty="0">
                <a:solidFill>
                  <a:srgbClr val="23334B"/>
                </a:solidFill>
                <a:latin typeface="Calibri"/>
                <a:ea typeface="Calibri"/>
                <a:cs typeface="Calibri"/>
              </a:rPr>
              <a:t> des postes</a:t>
            </a:r>
          </a:p>
          <a:p>
            <a:pPr marL="285750" indent="-285750">
              <a:buFont typeface="Arial" panose="020B0604020202020204" pitchFamily="34" charset="0"/>
              <a:buChar char="•"/>
            </a:pPr>
            <a:r>
              <a:rPr lang="fr-FR" sz="1400" dirty="0">
                <a:solidFill>
                  <a:srgbClr val="23334B"/>
                </a:solidFill>
              </a:rPr>
              <a:t>Signaler un problème</a:t>
            </a:r>
            <a:endParaRPr lang="fr-FR" sz="1400" dirty="0">
              <a:solidFill>
                <a:srgbClr val="23334B"/>
              </a:solidFill>
              <a:latin typeface="Calibri"/>
              <a:ea typeface="Calibri"/>
              <a:cs typeface="Calibri"/>
            </a:endParaRPr>
          </a:p>
          <a:p>
            <a:pPr marL="285750" indent="-285750">
              <a:buFont typeface="Arial" panose="020B0604020202020204" pitchFamily="34" charset="0"/>
              <a:buChar char="•"/>
            </a:pPr>
            <a:r>
              <a:rPr lang="fr-FR" sz="1400" dirty="0">
                <a:solidFill>
                  <a:srgbClr val="23334B"/>
                </a:solidFill>
                <a:latin typeface="Calibri"/>
                <a:ea typeface="Calibri"/>
                <a:cs typeface="Calibri"/>
              </a:rPr>
              <a:t>Supervision des salle</a:t>
            </a:r>
          </a:p>
          <a:p>
            <a:pPr marL="285750" indent="-285750">
              <a:buFont typeface="Arial" panose="020B0604020202020204" pitchFamily="34" charset="0"/>
              <a:buChar char="•"/>
            </a:pPr>
            <a:r>
              <a:rPr lang="fr-FR" sz="1400" dirty="0">
                <a:solidFill>
                  <a:srgbClr val="23334B"/>
                </a:solidFill>
                <a:latin typeface="Calibri"/>
                <a:ea typeface="Calibri"/>
                <a:cs typeface="Calibri"/>
              </a:rPr>
              <a:t>Processus interdit</a:t>
            </a:r>
          </a:p>
          <a:p>
            <a:pPr marL="285750" indent="-285750">
              <a:buFont typeface="Arial" panose="020B0604020202020204" pitchFamily="34" charset="0"/>
              <a:buChar char="•"/>
            </a:pPr>
            <a:endParaRPr lang="fr-FR" sz="1400" dirty="0">
              <a:solidFill>
                <a:srgbClr val="23334B"/>
              </a:solidFill>
              <a:latin typeface="Calibri"/>
              <a:ea typeface="Calibri"/>
              <a:cs typeface="Calibri"/>
            </a:endParaRPr>
          </a:p>
          <a:p>
            <a:pPr marL="285750" indent="-285750">
              <a:buFont typeface="Arial" panose="020B0604020202020204" pitchFamily="34" charset="0"/>
              <a:buChar char="•"/>
            </a:pPr>
            <a:r>
              <a:rPr lang="fr-FR" sz="1400" dirty="0">
                <a:solidFill>
                  <a:srgbClr val="23334B"/>
                </a:solidFill>
                <a:latin typeface="Calibri"/>
                <a:ea typeface="Calibri"/>
                <a:cs typeface="Calibri"/>
              </a:rPr>
              <a:t>Thème sombre</a:t>
            </a:r>
          </a:p>
        </p:txBody>
      </p:sp>
      <p:sp>
        <p:nvSpPr>
          <p:cNvPr id="25" name="Slide Number Placeholder 0">
            <a:extLst>
              <a:ext uri="{FF2B5EF4-FFF2-40B4-BE49-F238E27FC236}">
                <a16:creationId xmlns:a16="http://schemas.microsoft.com/office/drawing/2014/main" id="{2D346E7A-0A32-4713-BE8B-321AAA67184E}"/>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accent3"/>
                </a:solidFill>
              </a:defRPr>
            </a:lvl1pPr>
          </a:lstStyle>
          <a:p>
            <a:pPr algn="r">
              <a:buNone/>
            </a:pPr>
            <a:fld id="{388657AE-30A1-5A7A-6A7F-315D84436430}" type="slidenum">
              <a:rPr b="0"/>
              <a:t>12</a:t>
            </a:fld>
            <a:endParaRPr/>
          </a:p>
        </p:txBody>
      </p:sp>
    </p:spTree>
    <p:extLst>
      <p:ext uri="{BB962C8B-B14F-4D97-AF65-F5344CB8AC3E}">
        <p14:creationId xmlns:p14="http://schemas.microsoft.com/office/powerpoint/2010/main" val="229967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uméro de section">
            <a:extLst>
              <a:ext uri="{FF2B5EF4-FFF2-40B4-BE49-F238E27FC236}">
                <a16:creationId xmlns:a16="http://schemas.microsoft.com/office/drawing/2014/main" id="{E38B732A-4C30-4C50-9D63-AE934A29ABB8}"/>
              </a:ext>
            </a:extLst>
          </p:cNvPr>
          <p:cNvSpPr>
            <a:spLocks noGrp="1"/>
          </p:cNvSpPr>
          <p:nvPr/>
        </p:nvSpPr>
        <p:spPr>
          <a:xfrm>
            <a:off x="548640" y="457200"/>
            <a:ext cx="822960" cy="822960"/>
          </a:xfrm>
          <a:prstGeom prst="ellipse">
            <a:avLst/>
          </a:prstGeom>
          <a:solidFill>
            <a:schemeClr val="accent1"/>
          </a:solidFill>
        </p:spPr>
        <p:txBody>
          <a:bodyPr wrap="square" lIns="0" tIns="0" rIns="0" bIns="0" anchor="ctr"/>
          <a:lstStyle/>
          <a:p>
            <a:pPr marL="0" indent="0" algn="ctr">
              <a:buNone/>
            </a:pPr>
            <a:r>
              <a:rPr sz="2600" b="1">
                <a:solidFill>
                  <a:schemeClr val="bg1"/>
                </a:solidFill>
              </a:rPr>
              <a:t>6</a:t>
            </a:r>
            <a:endParaRPr sz="2600"/>
          </a:p>
        </p:txBody>
      </p:sp>
      <p:sp>
        <p:nvSpPr>
          <p:cNvPr id="3" name="Text 0">
            <a:extLst>
              <a:ext uri="{FF2B5EF4-FFF2-40B4-BE49-F238E27FC236}">
                <a16:creationId xmlns:a16="http://schemas.microsoft.com/office/drawing/2014/main" id="{5559ACED-8EFE-43F3-9582-7031BE775B45}"/>
              </a:ext>
            </a:extLst>
          </p:cNvPr>
          <p:cNvSpPr>
            <a:spLocks noGrp="1"/>
          </p:cNvSpPr>
          <p:nvPr>
            <p:ph type="title" idx="100" hasCustomPrompt="1"/>
          </p:nvPr>
        </p:nvSpPr>
        <p:spPr>
          <a:xfrm>
            <a:off x="1600200" y="457200"/>
            <a:ext cx="8138160" cy="822960"/>
          </a:xfrm>
          <a:prstGeom prst="rect">
            <a:avLst/>
          </a:prstGeom>
          <a:noFill/>
        </p:spPr>
        <p:txBody>
          <a:bodyPr wrap="square" lIns="0" tIns="0" rIns="0" bIns="0" anchor="ctr"/>
          <a:lstStyle/>
          <a:p>
            <a:pPr marL="0" indent="0" algn="l">
              <a:buNone/>
            </a:pPr>
            <a:r>
              <a:rPr sz="3600" b="1" dirty="0" err="1">
                <a:solidFill>
                  <a:schemeClr val="tx2"/>
                </a:solidFill>
              </a:rPr>
              <a:t>Bilan</a:t>
            </a:r>
            <a:r>
              <a:rPr sz="3600" b="1" dirty="0">
                <a:solidFill>
                  <a:schemeClr val="tx2"/>
                </a:solidFill>
              </a:rPr>
              <a:t> des travaux </a:t>
            </a:r>
            <a:r>
              <a:rPr sz="3600" b="1" dirty="0" err="1">
                <a:solidFill>
                  <a:schemeClr val="tx2"/>
                </a:solidFill>
              </a:rPr>
              <a:t>réalisés</a:t>
            </a:r>
            <a:endParaRPr sz="3600" dirty="0"/>
          </a:p>
        </p:txBody>
      </p:sp>
      <p:sp>
        <p:nvSpPr>
          <p:cNvPr id="6" name="Carte - Objectif de la revue">
            <a:extLst>
              <a:ext uri="{FF2B5EF4-FFF2-40B4-BE49-F238E27FC236}">
                <a16:creationId xmlns:a16="http://schemas.microsoft.com/office/drawing/2014/main" id="{DA38785D-CF14-4319-822B-60D7B7B44DB1}"/>
              </a:ext>
            </a:extLst>
          </p:cNvPr>
          <p:cNvSpPr>
            <a:spLocks noGrp="1"/>
          </p:cNvSpPr>
          <p:nvPr/>
        </p:nvSpPr>
        <p:spPr>
          <a:xfrm>
            <a:off x="548640" y="1600200"/>
            <a:ext cx="5408676" cy="2148840"/>
          </a:xfrm>
          <a:prstGeom prst="roundRect">
            <a:avLst>
              <a:gd name="adj" fmla="val 5106"/>
            </a:avLst>
          </a:prstGeom>
          <a:solidFill>
            <a:schemeClr val="bg2"/>
          </a:solidFill>
        </p:spPr>
        <p:txBody>
          <a:bodyPr wrap="square" lIns="177800" tIns="177800" rIns="177800" bIns="177800" anchor="t"/>
          <a:lstStyle/>
          <a:p>
            <a:r>
              <a:rPr sz="1600" b="1" dirty="0" err="1">
                <a:solidFill>
                  <a:srgbClr val="0E2340"/>
                </a:solidFill>
                <a:latin typeface="Calibri"/>
                <a:ea typeface="Calibri"/>
                <a:cs typeface="Calibri"/>
              </a:rPr>
              <a:t>Analyse</a:t>
            </a:r>
            <a:r>
              <a:rPr sz="1600" b="1" dirty="0">
                <a:solidFill>
                  <a:srgbClr val="0E2340"/>
                </a:solidFill>
                <a:latin typeface="Calibri"/>
                <a:ea typeface="Calibri"/>
                <a:cs typeface="Calibri"/>
              </a:rPr>
              <a:t> et </a:t>
            </a:r>
            <a:r>
              <a:rPr sz="1600" b="1" dirty="0" err="1">
                <a:solidFill>
                  <a:srgbClr val="0E2340"/>
                </a:solidFill>
                <a:latin typeface="Calibri"/>
                <a:ea typeface="Calibri"/>
                <a:cs typeface="Calibri"/>
              </a:rPr>
              <a:t>comptes</a:t>
            </a:r>
            <a:r>
              <a:rPr sz="1600" b="1" dirty="0">
                <a:solidFill>
                  <a:srgbClr val="0E2340"/>
                </a:solidFill>
                <a:latin typeface="Calibri"/>
                <a:ea typeface="Calibri"/>
                <a:cs typeface="Calibri"/>
              </a:rPr>
              <a:t> </a:t>
            </a:r>
            <a:r>
              <a:rPr sz="1600" b="1" dirty="0" err="1">
                <a:solidFill>
                  <a:srgbClr val="0E2340"/>
                </a:solidFill>
                <a:latin typeface="Calibri"/>
                <a:ea typeface="Calibri"/>
                <a:cs typeface="Calibri"/>
              </a:rPr>
              <a:t>rendus</a:t>
            </a:r>
            <a:endParaRPr sz="1600" b="1" dirty="0">
              <a:solidFill>
                <a:srgbClr val="0E2340"/>
              </a:solidFill>
              <a:latin typeface="Calibri"/>
              <a:ea typeface="Calibri"/>
              <a:cs typeface="Calibri"/>
            </a:endParaRPr>
          </a:p>
          <a:p>
            <a:r>
              <a:rPr sz="1400" b="0" dirty="0">
                <a:solidFill>
                  <a:srgbClr val="23334B"/>
                </a:solidFill>
                <a:latin typeface="Calibri"/>
                <a:ea typeface="Calibri"/>
                <a:cs typeface="Calibri"/>
              </a:rPr>
              <a:t>CR1 et CR2 : </a:t>
            </a:r>
            <a:r>
              <a:rPr sz="1400" b="0" dirty="0" err="1">
                <a:solidFill>
                  <a:srgbClr val="23334B"/>
                </a:solidFill>
                <a:latin typeface="Calibri"/>
                <a:ea typeface="Calibri"/>
                <a:cs typeface="Calibri"/>
              </a:rPr>
              <a:t>tâches</a:t>
            </a:r>
            <a:r>
              <a:rPr sz="1400" b="0" dirty="0">
                <a:solidFill>
                  <a:srgbClr val="23334B"/>
                </a:solidFill>
                <a:latin typeface="Calibri"/>
                <a:ea typeface="Calibri"/>
                <a:cs typeface="Calibri"/>
              </a:rPr>
              <a:t> #10 et #11 </a:t>
            </a:r>
            <a:r>
              <a:rPr sz="1400" b="0" dirty="0" err="1">
                <a:solidFill>
                  <a:srgbClr val="23334B"/>
                </a:solidFill>
                <a:latin typeface="Calibri"/>
                <a:ea typeface="Calibri"/>
                <a:cs typeface="Calibri"/>
              </a:rPr>
              <a:t>clôturées</a:t>
            </a:r>
            <a:r>
              <a:rPr sz="1400" b="0" dirty="0">
                <a:solidFill>
                  <a:srgbClr val="23334B"/>
                </a:solidFill>
                <a:latin typeface="Calibri"/>
                <a:ea typeface="Calibri"/>
                <a:cs typeface="Calibri"/>
              </a:rPr>
              <a:t>.</a:t>
            </a:r>
            <a:br>
              <a:rPr sz="1400" b="0" dirty="0">
                <a:solidFill>
                  <a:srgbClr val="23334B"/>
                </a:solidFill>
                <a:latin typeface="Calibri"/>
                <a:ea typeface="Calibri"/>
                <a:cs typeface="Calibri"/>
              </a:rPr>
            </a:br>
            <a:r>
              <a:rPr sz="1400" b="0" dirty="0">
                <a:solidFill>
                  <a:srgbClr val="23334B"/>
                </a:solidFill>
                <a:latin typeface="Calibri"/>
                <a:ea typeface="Calibri"/>
                <a:cs typeface="Calibri"/>
              </a:rPr>
              <a:t>DCU V1 </a:t>
            </a:r>
            <a:r>
              <a:rPr sz="1400" b="0" dirty="0" err="1">
                <a:solidFill>
                  <a:srgbClr val="23334B"/>
                </a:solidFill>
                <a:latin typeface="Calibri"/>
                <a:ea typeface="Calibri"/>
                <a:cs typeface="Calibri"/>
              </a:rPr>
              <a:t>ajouté</a:t>
            </a:r>
            <a:r>
              <a:rPr sz="1400" b="0" dirty="0">
                <a:solidFill>
                  <a:srgbClr val="23334B"/>
                </a:solidFill>
                <a:latin typeface="Calibri"/>
                <a:ea typeface="Calibri"/>
                <a:cs typeface="Calibri"/>
              </a:rPr>
              <a:t> le 08/10.</a:t>
            </a:r>
            <a:br>
              <a:rPr sz="1400" b="0" dirty="0">
                <a:solidFill>
                  <a:srgbClr val="23334B"/>
                </a:solidFill>
                <a:latin typeface="Calibri"/>
                <a:ea typeface="Calibri"/>
                <a:cs typeface="Calibri"/>
              </a:rPr>
            </a:br>
            <a:r>
              <a:rPr sz="1400" b="0" dirty="0">
                <a:solidFill>
                  <a:srgbClr val="23334B"/>
                </a:solidFill>
                <a:latin typeface="Calibri"/>
                <a:ea typeface="Calibri"/>
                <a:cs typeface="Calibri"/>
              </a:rPr>
              <a:t>DCLAM </a:t>
            </a:r>
            <a:r>
              <a:rPr sz="1400" b="0" dirty="0" err="1">
                <a:solidFill>
                  <a:srgbClr val="23334B"/>
                </a:solidFill>
                <a:latin typeface="Calibri"/>
                <a:ea typeface="Calibri"/>
                <a:cs typeface="Calibri"/>
              </a:rPr>
              <a:t>ajouté</a:t>
            </a:r>
            <a:r>
              <a:rPr sz="1400" b="0" dirty="0">
                <a:solidFill>
                  <a:srgbClr val="23334B"/>
                </a:solidFill>
                <a:latin typeface="Calibri"/>
                <a:ea typeface="Calibri"/>
                <a:cs typeface="Calibri"/>
              </a:rPr>
              <a:t> le 05/10 au </a:t>
            </a:r>
            <a:r>
              <a:rPr sz="1400" b="0" dirty="0" err="1">
                <a:solidFill>
                  <a:srgbClr val="23334B"/>
                </a:solidFill>
                <a:latin typeface="Calibri"/>
                <a:ea typeface="Calibri"/>
                <a:cs typeface="Calibri"/>
              </a:rPr>
              <a:t>modèle</a:t>
            </a:r>
            <a:r>
              <a:rPr sz="1400" b="0" dirty="0">
                <a:solidFill>
                  <a:srgbClr val="23334B"/>
                </a:solidFill>
                <a:latin typeface="Calibri"/>
                <a:ea typeface="Calibri"/>
                <a:cs typeface="Calibri"/>
              </a:rPr>
              <a:t> </a:t>
            </a:r>
            <a:r>
              <a:rPr sz="1400" b="0" dirty="0" err="1">
                <a:solidFill>
                  <a:srgbClr val="23334B"/>
                </a:solidFill>
                <a:latin typeface="Calibri"/>
                <a:ea typeface="Calibri"/>
                <a:cs typeface="Calibri"/>
              </a:rPr>
              <a:t>d’analyse</a:t>
            </a:r>
            <a:r>
              <a:rPr sz="1400" b="0" dirty="0">
                <a:solidFill>
                  <a:srgbClr val="23334B"/>
                </a:solidFill>
                <a:latin typeface="Calibri"/>
                <a:ea typeface="Calibri"/>
                <a:cs typeface="Calibri"/>
              </a:rPr>
              <a:t>.</a:t>
            </a:r>
          </a:p>
        </p:txBody>
      </p:sp>
      <p:sp>
        <p:nvSpPr>
          <p:cNvPr id="7" name="Carte - Rappel du périmètre de l'itération 1">
            <a:extLst>
              <a:ext uri="{FF2B5EF4-FFF2-40B4-BE49-F238E27FC236}">
                <a16:creationId xmlns:a16="http://schemas.microsoft.com/office/drawing/2014/main" id="{D1E116B1-A102-4EE5-A4F6-D7A69BAA7AC3}"/>
              </a:ext>
            </a:extLst>
          </p:cNvPr>
          <p:cNvSpPr>
            <a:spLocks noGrp="1"/>
          </p:cNvSpPr>
          <p:nvPr/>
        </p:nvSpPr>
        <p:spPr>
          <a:xfrm>
            <a:off x="6231636" y="1600200"/>
            <a:ext cx="5408676" cy="2148840"/>
          </a:xfrm>
          <a:prstGeom prst="roundRect">
            <a:avLst>
              <a:gd name="adj" fmla="val 5106"/>
            </a:avLst>
          </a:prstGeom>
          <a:solidFill>
            <a:schemeClr val="bg2"/>
          </a:solidFill>
        </p:spPr>
        <p:txBody>
          <a:bodyPr wrap="square" lIns="177800" tIns="177800" rIns="177800" bIns="177800" anchor="t"/>
          <a:lstStyle/>
          <a:p>
            <a:r>
              <a:rPr sz="1600" b="1" dirty="0">
                <a:solidFill>
                  <a:srgbClr val="0E2340"/>
                </a:solidFill>
                <a:latin typeface="Calibri"/>
                <a:ea typeface="Calibri"/>
                <a:cs typeface="Calibri"/>
              </a:rPr>
              <a:t>Fiches </a:t>
            </a:r>
            <a:r>
              <a:rPr sz="1600" b="1" dirty="0" err="1">
                <a:solidFill>
                  <a:srgbClr val="0E2340"/>
                </a:solidFill>
                <a:latin typeface="Calibri"/>
                <a:ea typeface="Calibri"/>
                <a:cs typeface="Calibri"/>
              </a:rPr>
              <a:t>descriptives</a:t>
            </a:r>
            <a:endParaRPr sz="1600" b="1" dirty="0">
              <a:solidFill>
                <a:srgbClr val="0E2340"/>
              </a:solidFill>
              <a:latin typeface="Calibri"/>
              <a:ea typeface="Calibri"/>
              <a:cs typeface="Calibri"/>
            </a:endParaRPr>
          </a:p>
          <a:p>
            <a:r>
              <a:rPr sz="1400" b="0" dirty="0">
                <a:solidFill>
                  <a:srgbClr val="23334B"/>
                </a:solidFill>
                <a:latin typeface="Calibri"/>
                <a:ea typeface="Calibri"/>
                <a:cs typeface="Calibri"/>
              </a:rPr>
              <a:t>12 </a:t>
            </a:r>
            <a:r>
              <a:rPr sz="1400" b="0" dirty="0" err="1">
                <a:solidFill>
                  <a:srgbClr val="23334B"/>
                </a:solidFill>
                <a:latin typeface="Calibri"/>
                <a:ea typeface="Calibri"/>
                <a:cs typeface="Calibri"/>
              </a:rPr>
              <a:t>fichiers</a:t>
            </a:r>
            <a:r>
              <a:rPr sz="1400" b="0" dirty="0">
                <a:solidFill>
                  <a:srgbClr val="23334B"/>
                </a:solidFill>
                <a:latin typeface="Calibri"/>
                <a:ea typeface="Calibri"/>
                <a:cs typeface="Calibri"/>
              </a:rPr>
              <a:t> UC01 à UC12 dans </a:t>
            </a:r>
            <a:r>
              <a:rPr sz="1400" b="0" dirty="0" err="1">
                <a:solidFill>
                  <a:srgbClr val="23334B"/>
                </a:solidFill>
                <a:latin typeface="Calibri"/>
                <a:ea typeface="Calibri"/>
                <a:cs typeface="Calibri"/>
              </a:rPr>
              <a:t>Analyse</a:t>
            </a:r>
            <a:r>
              <a:rPr sz="1400" b="0" dirty="0">
                <a:solidFill>
                  <a:srgbClr val="23334B"/>
                </a:solidFill>
                <a:latin typeface="Calibri"/>
                <a:ea typeface="Calibri"/>
                <a:cs typeface="Calibri"/>
              </a:rPr>
              <a:t>.</a:t>
            </a:r>
            <a:br>
              <a:rPr sz="1400" b="0" dirty="0">
                <a:solidFill>
                  <a:srgbClr val="23334B"/>
                </a:solidFill>
                <a:latin typeface="Calibri"/>
                <a:ea typeface="Calibri"/>
                <a:cs typeface="Calibri"/>
              </a:rPr>
            </a:br>
            <a:r>
              <a:rPr sz="1400" b="0" dirty="0">
                <a:solidFill>
                  <a:srgbClr val="23334B"/>
                </a:solidFill>
                <a:latin typeface="Calibri"/>
                <a:ea typeface="Calibri"/>
                <a:cs typeface="Calibri"/>
              </a:rPr>
              <a:t>Le </a:t>
            </a:r>
            <a:r>
              <a:rPr sz="1400" b="0" dirty="0" err="1">
                <a:solidFill>
                  <a:srgbClr val="23334B"/>
                </a:solidFill>
                <a:latin typeface="Calibri"/>
                <a:ea typeface="Calibri"/>
                <a:cs typeface="Calibri"/>
              </a:rPr>
              <a:t>suivi</a:t>
            </a:r>
            <a:r>
              <a:rPr sz="1400" b="0" dirty="0">
                <a:solidFill>
                  <a:srgbClr val="23334B"/>
                </a:solidFill>
                <a:latin typeface="Calibri"/>
                <a:ea typeface="Calibri"/>
                <a:cs typeface="Calibri"/>
              </a:rPr>
              <a:t> parent #3 </a:t>
            </a:r>
            <a:r>
              <a:rPr sz="1400" b="0" dirty="0" err="1">
                <a:solidFill>
                  <a:srgbClr val="23334B"/>
                </a:solidFill>
                <a:latin typeface="Calibri"/>
                <a:ea typeface="Calibri"/>
                <a:cs typeface="Calibri"/>
              </a:rPr>
              <a:t>indique</a:t>
            </a:r>
            <a:r>
              <a:rPr sz="1400" b="0" dirty="0">
                <a:solidFill>
                  <a:srgbClr val="23334B"/>
                </a:solidFill>
                <a:latin typeface="Calibri"/>
                <a:ea typeface="Calibri"/>
                <a:cs typeface="Calibri"/>
              </a:rPr>
              <a:t> 11 sous-</a:t>
            </a:r>
            <a:r>
              <a:rPr sz="1400" b="0" dirty="0" err="1">
                <a:solidFill>
                  <a:srgbClr val="23334B"/>
                </a:solidFill>
                <a:latin typeface="Calibri"/>
                <a:ea typeface="Calibri"/>
                <a:cs typeface="Calibri"/>
              </a:rPr>
              <a:t>tâches</a:t>
            </a:r>
            <a:r>
              <a:rPr sz="1400" b="0" dirty="0">
                <a:solidFill>
                  <a:srgbClr val="23334B"/>
                </a:solidFill>
                <a:latin typeface="Calibri"/>
                <a:ea typeface="Calibri"/>
                <a:cs typeface="Calibri"/>
              </a:rPr>
              <a:t> sur 11 </a:t>
            </a:r>
            <a:r>
              <a:rPr sz="1400" b="0" dirty="0" err="1">
                <a:solidFill>
                  <a:srgbClr val="23334B"/>
                </a:solidFill>
                <a:latin typeface="Calibri"/>
                <a:ea typeface="Calibri"/>
                <a:cs typeface="Calibri"/>
              </a:rPr>
              <a:t>terminées</a:t>
            </a:r>
            <a:r>
              <a:rPr sz="1400" b="0" dirty="0">
                <a:solidFill>
                  <a:srgbClr val="23334B"/>
                </a:solidFill>
                <a:latin typeface="Calibri"/>
                <a:ea typeface="Calibri"/>
                <a:cs typeface="Calibri"/>
              </a:rPr>
              <a:t>, </a:t>
            </a:r>
            <a:r>
              <a:rPr sz="1400" b="0" dirty="0" err="1">
                <a:solidFill>
                  <a:srgbClr val="23334B"/>
                </a:solidFill>
                <a:latin typeface="Calibri"/>
                <a:ea typeface="Calibri"/>
                <a:cs typeface="Calibri"/>
              </a:rPr>
              <a:t>mais</a:t>
            </a:r>
            <a:r>
              <a:rPr sz="1400" b="0" dirty="0">
                <a:solidFill>
                  <a:srgbClr val="23334B"/>
                </a:solidFill>
                <a:latin typeface="Calibri"/>
                <a:ea typeface="Calibri"/>
                <a:cs typeface="Calibri"/>
              </a:rPr>
              <a:t> </a:t>
            </a:r>
            <a:r>
              <a:rPr sz="1400" b="0" dirty="0" err="1">
                <a:solidFill>
                  <a:srgbClr val="23334B"/>
                </a:solidFill>
                <a:latin typeface="Calibri"/>
                <a:ea typeface="Calibri"/>
                <a:cs typeface="Calibri"/>
              </a:rPr>
              <a:t>reste</a:t>
            </a:r>
            <a:r>
              <a:rPr sz="1400" b="0" dirty="0">
                <a:solidFill>
                  <a:srgbClr val="23334B"/>
                </a:solidFill>
                <a:latin typeface="Calibri"/>
                <a:ea typeface="Calibri"/>
                <a:cs typeface="Calibri"/>
              </a:rPr>
              <a:t> </a:t>
            </a:r>
            <a:r>
              <a:rPr sz="1400" b="0" dirty="0" err="1">
                <a:solidFill>
                  <a:srgbClr val="23334B"/>
                </a:solidFill>
                <a:latin typeface="Calibri"/>
                <a:ea typeface="Calibri"/>
                <a:cs typeface="Calibri"/>
              </a:rPr>
              <a:t>ouvert</a:t>
            </a:r>
            <a:r>
              <a:rPr sz="1400" b="0" dirty="0">
                <a:solidFill>
                  <a:srgbClr val="23334B"/>
                </a:solidFill>
                <a:latin typeface="Calibri"/>
                <a:ea typeface="Calibri"/>
                <a:cs typeface="Calibri"/>
              </a:rPr>
              <a:t>.</a:t>
            </a:r>
          </a:p>
        </p:txBody>
      </p:sp>
      <p:sp>
        <p:nvSpPr>
          <p:cNvPr id="8" name="Carte - Livrables attendus">
            <a:extLst>
              <a:ext uri="{FF2B5EF4-FFF2-40B4-BE49-F238E27FC236}">
                <a16:creationId xmlns:a16="http://schemas.microsoft.com/office/drawing/2014/main" id="{7DA1D020-42D9-4CAA-AD00-EA2272FF274B}"/>
              </a:ext>
            </a:extLst>
          </p:cNvPr>
          <p:cNvSpPr>
            <a:spLocks noGrp="1"/>
          </p:cNvSpPr>
          <p:nvPr/>
        </p:nvSpPr>
        <p:spPr>
          <a:xfrm>
            <a:off x="548640" y="4023360"/>
            <a:ext cx="5408676" cy="2148840"/>
          </a:xfrm>
          <a:prstGeom prst="roundRect">
            <a:avLst>
              <a:gd name="adj" fmla="val 5106"/>
            </a:avLst>
          </a:prstGeom>
          <a:solidFill>
            <a:schemeClr val="bg2"/>
          </a:solidFill>
        </p:spPr>
        <p:txBody>
          <a:bodyPr wrap="square" lIns="177800" tIns="177800" rIns="177800" bIns="177800" anchor="t"/>
          <a:lstStyle/>
          <a:p>
            <a:r>
              <a:rPr sz="1600" b="1" dirty="0" err="1">
                <a:solidFill>
                  <a:srgbClr val="0E2340"/>
                </a:solidFill>
                <a:latin typeface="Calibri"/>
                <a:ea typeface="Calibri"/>
                <a:cs typeface="Calibri"/>
              </a:rPr>
              <a:t>Diagrammes</a:t>
            </a:r>
            <a:r>
              <a:rPr sz="1600" b="1" dirty="0">
                <a:solidFill>
                  <a:srgbClr val="0E2340"/>
                </a:solidFill>
                <a:latin typeface="Calibri"/>
                <a:ea typeface="Calibri"/>
                <a:cs typeface="Calibri"/>
              </a:rPr>
              <a:t> de </a:t>
            </a:r>
            <a:r>
              <a:rPr sz="1600" b="1" dirty="0" err="1">
                <a:solidFill>
                  <a:srgbClr val="0E2340"/>
                </a:solidFill>
                <a:latin typeface="Calibri"/>
                <a:ea typeface="Calibri"/>
                <a:cs typeface="Calibri"/>
              </a:rPr>
              <a:t>séquence</a:t>
            </a:r>
            <a:endParaRPr sz="1600" b="1" dirty="0">
              <a:solidFill>
                <a:srgbClr val="0E2340"/>
              </a:solidFill>
              <a:latin typeface="Calibri"/>
              <a:ea typeface="Calibri"/>
              <a:cs typeface="Calibri"/>
            </a:endParaRPr>
          </a:p>
          <a:p>
            <a:r>
              <a:rPr sz="1400" b="0" dirty="0">
                <a:solidFill>
                  <a:srgbClr val="23334B"/>
                </a:solidFill>
                <a:latin typeface="Calibri"/>
                <a:ea typeface="Calibri"/>
                <a:cs typeface="Calibri"/>
              </a:rPr>
              <a:t>9 </a:t>
            </a:r>
            <a:r>
              <a:rPr sz="1400" b="0" dirty="0" err="1">
                <a:solidFill>
                  <a:srgbClr val="23334B"/>
                </a:solidFill>
                <a:latin typeface="Calibri"/>
                <a:ea typeface="Calibri"/>
                <a:cs typeface="Calibri"/>
              </a:rPr>
              <a:t>tâches</a:t>
            </a:r>
            <a:r>
              <a:rPr sz="1400" b="0" dirty="0">
                <a:solidFill>
                  <a:srgbClr val="23334B"/>
                </a:solidFill>
                <a:latin typeface="Calibri"/>
                <a:ea typeface="Calibri"/>
                <a:cs typeface="Calibri"/>
              </a:rPr>
              <a:t> sur 12 </a:t>
            </a:r>
            <a:r>
              <a:rPr sz="1400" b="0" dirty="0" err="1">
                <a:solidFill>
                  <a:srgbClr val="23334B"/>
                </a:solidFill>
                <a:latin typeface="Calibri"/>
                <a:ea typeface="Calibri"/>
                <a:cs typeface="Calibri"/>
              </a:rPr>
              <a:t>clôturées</a:t>
            </a:r>
            <a:r>
              <a:rPr sz="1400" b="0" dirty="0">
                <a:solidFill>
                  <a:srgbClr val="23334B"/>
                </a:solidFill>
                <a:latin typeface="Calibri"/>
                <a:ea typeface="Calibri"/>
                <a:cs typeface="Calibri"/>
              </a:rPr>
              <a:t> : UC01 à UC09 (#39 à #47).</a:t>
            </a:r>
            <a:br>
              <a:rPr sz="1400" b="0" dirty="0">
                <a:solidFill>
                  <a:srgbClr val="23334B"/>
                </a:solidFill>
                <a:latin typeface="Calibri"/>
                <a:ea typeface="Calibri"/>
                <a:cs typeface="Calibri"/>
              </a:rPr>
            </a:br>
            <a:r>
              <a:rPr sz="1400" b="0" dirty="0">
                <a:solidFill>
                  <a:srgbClr val="23334B"/>
                </a:solidFill>
                <a:latin typeface="Calibri"/>
                <a:ea typeface="Calibri"/>
                <a:cs typeface="Calibri"/>
              </a:rPr>
              <a:t>Les exports JPG UC04, UC05 et UC07 </a:t>
            </a:r>
            <a:r>
              <a:rPr sz="1400" b="0" dirty="0" err="1">
                <a:solidFill>
                  <a:srgbClr val="23334B"/>
                </a:solidFill>
                <a:latin typeface="Calibri"/>
                <a:ea typeface="Calibri"/>
                <a:cs typeface="Calibri"/>
              </a:rPr>
              <a:t>sont</a:t>
            </a:r>
            <a:r>
              <a:rPr sz="1400" b="0" dirty="0">
                <a:solidFill>
                  <a:srgbClr val="23334B"/>
                </a:solidFill>
                <a:latin typeface="Calibri"/>
                <a:ea typeface="Calibri"/>
                <a:cs typeface="Calibri"/>
              </a:rPr>
              <a:t> </a:t>
            </a:r>
            <a:r>
              <a:rPr sz="1400" b="0" dirty="0" err="1">
                <a:solidFill>
                  <a:srgbClr val="23334B"/>
                </a:solidFill>
                <a:latin typeface="Calibri"/>
                <a:ea typeface="Calibri"/>
                <a:cs typeface="Calibri"/>
              </a:rPr>
              <a:t>présents</a:t>
            </a:r>
            <a:r>
              <a:rPr sz="1400" b="0" dirty="0">
                <a:solidFill>
                  <a:srgbClr val="23334B"/>
                </a:solidFill>
                <a:latin typeface="Calibri"/>
                <a:ea typeface="Calibri"/>
                <a:cs typeface="Calibri"/>
              </a:rPr>
              <a:t> dans DSEQ.</a:t>
            </a:r>
          </a:p>
        </p:txBody>
      </p:sp>
      <p:sp>
        <p:nvSpPr>
          <p:cNvPr id="9" name="Carte - Rôle de chacun pendant la réunion">
            <a:extLst>
              <a:ext uri="{FF2B5EF4-FFF2-40B4-BE49-F238E27FC236}">
                <a16:creationId xmlns:a16="http://schemas.microsoft.com/office/drawing/2014/main" id="{D1CD346C-8F04-4493-AB57-16B0299C9327}"/>
              </a:ext>
            </a:extLst>
          </p:cNvPr>
          <p:cNvSpPr>
            <a:spLocks noGrp="1"/>
          </p:cNvSpPr>
          <p:nvPr/>
        </p:nvSpPr>
        <p:spPr>
          <a:xfrm>
            <a:off x="6231636" y="4023360"/>
            <a:ext cx="5408676" cy="2148840"/>
          </a:xfrm>
          <a:prstGeom prst="roundRect">
            <a:avLst>
              <a:gd name="adj" fmla="val 5106"/>
            </a:avLst>
          </a:prstGeom>
          <a:solidFill>
            <a:schemeClr val="bg2"/>
          </a:solidFill>
        </p:spPr>
        <p:txBody>
          <a:bodyPr wrap="square" lIns="177800" tIns="177800" rIns="177800" bIns="177800" anchor="t"/>
          <a:lstStyle/>
          <a:p>
            <a:r>
              <a:rPr sz="1600" b="1">
                <a:solidFill>
                  <a:srgbClr val="0E2340"/>
                </a:solidFill>
                <a:latin typeface="Calibri"/>
                <a:ea typeface="Calibri"/>
                <a:cs typeface="Calibri"/>
              </a:rPr>
              <a:t>Travaux encore ouverts</a:t>
            </a:r>
          </a:p>
          <a:p>
            <a:r>
              <a:rPr sz="1400" b="0">
                <a:solidFill>
                  <a:srgbClr val="23334B"/>
                </a:solidFill>
                <a:latin typeface="Calibri"/>
                <a:ea typeface="Calibri"/>
                <a:cs typeface="Calibri"/>
              </a:rPr>
              <a:t>UC10 : réinstallation d’une salle (#48).</a:t>
            </a:r>
            <a:br>
              <a:rPr sz="1400" b="0">
                <a:solidFill>
                  <a:srgbClr val="23334B"/>
                </a:solidFill>
                <a:latin typeface="Calibri"/>
                <a:ea typeface="Calibri"/>
                <a:cs typeface="Calibri"/>
              </a:rPr>
            </a:br>
            <a:r>
              <a:rPr sz="1400" b="0">
                <a:solidFill>
                  <a:srgbClr val="23334B"/>
                </a:solidFill>
                <a:latin typeface="Calibri"/>
                <a:ea typeface="Calibri"/>
                <a:cs typeface="Calibri"/>
              </a:rPr>
              <a:t>UC11 : affecter un stage (#49).</a:t>
            </a:r>
            <a:br>
              <a:rPr sz="1400" b="0">
                <a:solidFill>
                  <a:srgbClr val="23334B"/>
                </a:solidFill>
                <a:latin typeface="Calibri"/>
                <a:ea typeface="Calibri"/>
                <a:cs typeface="Calibri"/>
              </a:rPr>
            </a:br>
            <a:r>
              <a:rPr sz="1400" b="0">
                <a:solidFill>
                  <a:srgbClr val="23334B"/>
                </a:solidFill>
                <a:latin typeface="Calibri"/>
                <a:ea typeface="Calibri"/>
                <a:cs typeface="Calibri"/>
              </a:rPr>
              <a:t>UC12 : clôturer un stage (#50).</a:t>
            </a:r>
            <a:br>
              <a:rPr sz="1400" b="0">
                <a:solidFill>
                  <a:srgbClr val="23334B"/>
                </a:solidFill>
                <a:latin typeface="Calibri"/>
                <a:ea typeface="Calibri"/>
                <a:cs typeface="Calibri"/>
              </a:rPr>
            </a:br>
            <a:r>
              <a:rPr sz="1400" b="0">
                <a:solidFill>
                  <a:srgbClr val="23334B"/>
                </a:solidFill>
                <a:latin typeface="Calibri"/>
                <a:ea typeface="Calibri"/>
                <a:cs typeface="Calibri"/>
              </a:rPr>
              <a:t>Architecture technique (#51).</a:t>
            </a:r>
          </a:p>
        </p:txBody>
      </p:sp>
      <p:sp>
        <p:nvSpPr>
          <p:cNvPr id="25" name="Slide Number Placeholder 0">
            <a:extLst>
              <a:ext uri="{FF2B5EF4-FFF2-40B4-BE49-F238E27FC236}">
                <a16:creationId xmlns:a16="http://schemas.microsoft.com/office/drawing/2014/main" id="{47C840D3-FF6F-4FA1-AD03-A94D28A5FF70}"/>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accent3"/>
                </a:solidFill>
              </a:defRPr>
            </a:lvl1pPr>
          </a:lstStyle>
          <a:p>
            <a:pPr algn="r">
              <a:buNone/>
            </a:pPr>
            <a:fld id="{DB7BEEEC-A170-5376-2B6E-CB54687B0CB1}" type="slidenum">
              <a:rPr b="0"/>
              <a:t>13</a:t>
            </a:fld>
            <a:endParaRPr/>
          </a:p>
        </p:txBody>
      </p:sp>
    </p:spTree>
    <p:extLst>
      <p:ext uri="{BB962C8B-B14F-4D97-AF65-F5344CB8AC3E}">
        <p14:creationId xmlns:p14="http://schemas.microsoft.com/office/powerpoint/2010/main" val="1783727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uméro de section">
            <a:extLst>
              <a:ext uri="{FF2B5EF4-FFF2-40B4-BE49-F238E27FC236}">
                <a16:creationId xmlns:a16="http://schemas.microsoft.com/office/drawing/2014/main" id="{CDBF1FE1-6938-43FD-8526-2F8729301F2E}"/>
              </a:ext>
            </a:extLst>
          </p:cNvPr>
          <p:cNvSpPr>
            <a:spLocks noGrp="1"/>
          </p:cNvSpPr>
          <p:nvPr/>
        </p:nvSpPr>
        <p:spPr>
          <a:xfrm>
            <a:off x="548640" y="457200"/>
            <a:ext cx="822960" cy="822960"/>
          </a:xfrm>
          <a:prstGeom prst="ellipse">
            <a:avLst/>
          </a:prstGeom>
          <a:solidFill>
            <a:schemeClr val="accent1"/>
          </a:solidFill>
        </p:spPr>
        <p:txBody>
          <a:bodyPr wrap="square" lIns="0" tIns="0" rIns="0" bIns="0" anchor="ctr"/>
          <a:lstStyle/>
          <a:p>
            <a:pPr marL="0" indent="0" algn="ctr">
              <a:buNone/>
            </a:pPr>
            <a:r>
              <a:rPr sz="2600" b="1">
                <a:solidFill>
                  <a:schemeClr val="bg1"/>
                </a:solidFill>
              </a:rPr>
              <a:t>7</a:t>
            </a:r>
            <a:endParaRPr sz="2600"/>
          </a:p>
        </p:txBody>
      </p:sp>
      <p:sp>
        <p:nvSpPr>
          <p:cNvPr id="3" name="Text 0">
            <a:extLst>
              <a:ext uri="{FF2B5EF4-FFF2-40B4-BE49-F238E27FC236}">
                <a16:creationId xmlns:a16="http://schemas.microsoft.com/office/drawing/2014/main" id="{CD9F84E0-A6F7-45F9-BDD0-2607FF8D835E}"/>
              </a:ext>
            </a:extLst>
          </p:cNvPr>
          <p:cNvSpPr>
            <a:spLocks noGrp="1"/>
          </p:cNvSpPr>
          <p:nvPr>
            <p:ph type="title" idx="100" hasCustomPrompt="1"/>
          </p:nvPr>
        </p:nvSpPr>
        <p:spPr>
          <a:xfrm>
            <a:off x="1600200" y="457200"/>
            <a:ext cx="8138160" cy="822960"/>
          </a:xfrm>
          <a:prstGeom prst="rect">
            <a:avLst/>
          </a:prstGeom>
          <a:noFill/>
        </p:spPr>
        <p:txBody>
          <a:bodyPr wrap="square" lIns="0" tIns="0" rIns="0" bIns="0" anchor="ctr"/>
          <a:lstStyle/>
          <a:p>
            <a:pPr marL="0" indent="0" algn="l">
              <a:buNone/>
            </a:pPr>
            <a:r>
              <a:rPr sz="3600" b="1">
                <a:solidFill>
                  <a:schemeClr val="tx2"/>
                </a:solidFill>
              </a:rPr>
              <a:t>Discussion sur la priorisation</a:t>
            </a:r>
            <a:endParaRPr sz="3600"/>
          </a:p>
        </p:txBody>
      </p:sp>
      <p:sp>
        <p:nvSpPr>
          <p:cNvPr id="6" name="Carte - Proposition de priorisation par l'équipe">
            <a:extLst>
              <a:ext uri="{FF2B5EF4-FFF2-40B4-BE49-F238E27FC236}">
                <a16:creationId xmlns:a16="http://schemas.microsoft.com/office/drawing/2014/main" id="{402D109D-ECCD-4A5C-B054-956C38101755}"/>
              </a:ext>
            </a:extLst>
          </p:cNvPr>
          <p:cNvSpPr>
            <a:spLocks noGrp="1"/>
          </p:cNvSpPr>
          <p:nvPr/>
        </p:nvSpPr>
        <p:spPr>
          <a:xfrm>
            <a:off x="548640" y="1600200"/>
            <a:ext cx="3392424" cy="4572000"/>
          </a:xfrm>
          <a:prstGeom prst="roundRect">
            <a:avLst>
              <a:gd name="adj" fmla="val 3235"/>
            </a:avLst>
          </a:prstGeom>
          <a:solidFill>
            <a:schemeClr val="bg2"/>
          </a:solidFill>
        </p:spPr>
        <p:txBody>
          <a:bodyPr wrap="square" lIns="177800" tIns="177800" rIns="177800" bIns="177800" anchor="t"/>
          <a:lstStyle/>
          <a:p>
            <a:pPr marL="0" indent="0" algn="l">
              <a:buNone/>
            </a:pPr>
            <a:r>
              <a:rPr sz="1600" b="1">
                <a:solidFill>
                  <a:schemeClr val="tx2"/>
                </a:solidFill>
              </a:rPr>
              <a:t>Proposition de priorisation par l’équipe</a:t>
            </a:r>
          </a:p>
          <a:p>
            <a:pPr marL="0" indent="0" algn="l">
              <a:buNone/>
            </a:pPr>
            <a:r>
              <a:rPr sz="1400">
                <a:solidFill>
                  <a:schemeClr val="tx1"/>
                </a:solidFill>
              </a:rPr>
              <a:t>1. Matériel/salles et affectation</a:t>
            </a:r>
          </a:p>
          <a:p>
            <a:pPr marL="0" indent="0" algn="l">
              <a:buNone/>
            </a:pPr>
            <a:r>
              <a:rPr sz="1400">
                <a:solidFill>
                  <a:schemeClr val="tx1"/>
                </a:solidFill>
              </a:rPr>
              <a:t>2. Rôles et droits</a:t>
            </a:r>
          </a:p>
          <a:p>
            <a:pPr marL="0" indent="0" algn="l">
              <a:buNone/>
            </a:pPr>
            <a:r>
              <a:rPr sz="1400">
                <a:solidFill>
                  <a:schemeClr val="tx1"/>
                </a:solidFill>
              </a:rPr>
              <a:t>3. Supervision</a:t>
            </a:r>
          </a:p>
          <a:p>
            <a:pPr marL="0" indent="0" algn="l">
              <a:buNone/>
            </a:pPr>
            <a:r>
              <a:rPr sz="1400">
                <a:solidFill>
                  <a:schemeClr val="tx1"/>
                </a:solidFill>
              </a:rPr>
              <a:t>4. Statistiques</a:t>
            </a:r>
          </a:p>
        </p:txBody>
      </p:sp>
      <p:sp>
        <p:nvSpPr>
          <p:cNvPr id="7" name="Carte - Justification (valeur, risque, faisabilité)">
            <a:extLst>
              <a:ext uri="{FF2B5EF4-FFF2-40B4-BE49-F238E27FC236}">
                <a16:creationId xmlns:a16="http://schemas.microsoft.com/office/drawing/2014/main" id="{21DC4801-6B39-4D19-9B1F-578AFBB6627F}"/>
              </a:ext>
            </a:extLst>
          </p:cNvPr>
          <p:cNvSpPr>
            <a:spLocks noGrp="1"/>
          </p:cNvSpPr>
          <p:nvPr/>
        </p:nvSpPr>
        <p:spPr>
          <a:xfrm>
            <a:off x="4398264" y="1600200"/>
            <a:ext cx="3392424" cy="4572000"/>
          </a:xfrm>
          <a:prstGeom prst="roundRect">
            <a:avLst>
              <a:gd name="adj" fmla="val 3235"/>
            </a:avLst>
          </a:prstGeom>
          <a:solidFill>
            <a:schemeClr val="bg2"/>
          </a:solidFill>
        </p:spPr>
        <p:txBody>
          <a:bodyPr wrap="square" lIns="177800" tIns="177800" rIns="177800" bIns="177800" anchor="t"/>
          <a:lstStyle/>
          <a:p>
            <a:pPr marL="0" indent="0" algn="l">
              <a:buNone/>
            </a:pPr>
            <a:r>
              <a:rPr sz="1600" b="1">
                <a:solidFill>
                  <a:schemeClr val="tx2"/>
                </a:solidFill>
              </a:rPr>
              <a:t>Justification (valeur, risque, faisabilité)</a:t>
            </a:r>
          </a:p>
          <a:p>
            <a:pPr marL="0" indent="0" algn="l">
              <a:buNone/>
            </a:pPr>
            <a:r>
              <a:rPr sz="1400">
                <a:solidFill>
                  <a:schemeClr val="tx1"/>
                </a:solidFill>
              </a:rPr>
              <a:t>Gestion et affectation = cœur du besoin.</a:t>
            </a:r>
          </a:p>
          <a:p>
            <a:pPr marL="0" indent="0" algn="l">
              <a:buNone/>
            </a:pPr>
            <a:r>
              <a:rPr sz="1400">
                <a:solidFill>
                  <a:schemeClr val="tx1"/>
                </a:solidFill>
              </a:rPr>
              <a:t>Supervision et statistiques dépendent de règles à préciser.</a:t>
            </a:r>
          </a:p>
        </p:txBody>
      </p:sp>
      <p:sp>
        <p:nvSpPr>
          <p:cNvPr id="8" name="Carte - Validation par le client">
            <a:extLst>
              <a:ext uri="{FF2B5EF4-FFF2-40B4-BE49-F238E27FC236}">
                <a16:creationId xmlns:a16="http://schemas.microsoft.com/office/drawing/2014/main" id="{00DB671C-F1A6-4501-B506-838E466FFB90}"/>
              </a:ext>
            </a:extLst>
          </p:cNvPr>
          <p:cNvSpPr>
            <a:spLocks noGrp="1"/>
          </p:cNvSpPr>
          <p:nvPr/>
        </p:nvSpPr>
        <p:spPr>
          <a:xfrm>
            <a:off x="8247888" y="1600200"/>
            <a:ext cx="3392424" cy="4572000"/>
          </a:xfrm>
          <a:prstGeom prst="roundRect">
            <a:avLst>
              <a:gd name="adj" fmla="val 3235"/>
            </a:avLst>
          </a:prstGeom>
          <a:solidFill>
            <a:schemeClr val="bg2"/>
          </a:solidFill>
        </p:spPr>
        <p:txBody>
          <a:bodyPr wrap="square" lIns="177800" tIns="177800" rIns="177800" bIns="177800" anchor="t"/>
          <a:lstStyle/>
          <a:p>
            <a:pPr marL="0" indent="0" algn="l">
              <a:buNone/>
            </a:pPr>
            <a:r>
              <a:rPr sz="1600" b="1">
                <a:solidFill>
                  <a:schemeClr val="tx2"/>
                </a:solidFill>
              </a:rPr>
              <a:t>Validation par le client</a:t>
            </a:r>
          </a:p>
          <a:p>
            <a:pPr marL="0" indent="0" algn="l">
              <a:buNone/>
            </a:pPr>
            <a:r>
              <a:rPr sz="1400">
                <a:solidFill>
                  <a:schemeClr val="tx1"/>
                </a:solidFill>
              </a:rPr>
              <a:t>À valider avec la MOA/AMOA.</a:t>
            </a:r>
          </a:p>
        </p:txBody>
      </p:sp>
      <p:sp>
        <p:nvSpPr>
          <p:cNvPr id="9" name="Flèche">
            <a:extLst>
              <a:ext uri="{FF2B5EF4-FFF2-40B4-BE49-F238E27FC236}">
                <a16:creationId xmlns:a16="http://schemas.microsoft.com/office/drawing/2014/main" id="{0DDF203B-7F51-489B-AB0B-2257CF3B891A}"/>
              </a:ext>
            </a:extLst>
          </p:cNvPr>
          <p:cNvSpPr>
            <a:spLocks noGrp="1"/>
          </p:cNvSpPr>
          <p:nvPr/>
        </p:nvSpPr>
        <p:spPr>
          <a:xfrm>
            <a:off x="4014216" y="3703320"/>
            <a:ext cx="310896" cy="384048"/>
          </a:xfrm>
          <a:prstGeom prst="rightArrow">
            <a:avLst/>
          </a:prstGeom>
          <a:solidFill>
            <a:schemeClr val="accent1"/>
          </a:solidFill>
        </p:spPr>
        <p:txBody>
          <a:bodyPr/>
          <a:lstStyle/>
          <a:p>
            <a:endParaRPr/>
          </a:p>
        </p:txBody>
      </p:sp>
      <p:sp>
        <p:nvSpPr>
          <p:cNvPr id="10" name="Flèche">
            <a:extLst>
              <a:ext uri="{FF2B5EF4-FFF2-40B4-BE49-F238E27FC236}">
                <a16:creationId xmlns:a16="http://schemas.microsoft.com/office/drawing/2014/main" id="{B439C1E2-1ED8-4477-A957-4070AEBB4AC1}"/>
              </a:ext>
            </a:extLst>
          </p:cNvPr>
          <p:cNvSpPr>
            <a:spLocks noGrp="1"/>
          </p:cNvSpPr>
          <p:nvPr/>
        </p:nvSpPr>
        <p:spPr>
          <a:xfrm>
            <a:off x="7863840" y="3703320"/>
            <a:ext cx="310896" cy="384048"/>
          </a:xfrm>
          <a:prstGeom prst="rightArrow">
            <a:avLst/>
          </a:prstGeom>
          <a:solidFill>
            <a:schemeClr val="accent1"/>
          </a:solidFill>
        </p:spPr>
        <p:txBody>
          <a:bodyPr/>
          <a:lstStyle/>
          <a:p>
            <a:endParaRPr/>
          </a:p>
        </p:txBody>
      </p:sp>
      <p:sp>
        <p:nvSpPr>
          <p:cNvPr id="25" name="Slide Number Placeholder 0">
            <a:extLst>
              <a:ext uri="{FF2B5EF4-FFF2-40B4-BE49-F238E27FC236}">
                <a16:creationId xmlns:a16="http://schemas.microsoft.com/office/drawing/2014/main" id="{6A5E8B61-3A97-47A0-B658-B14505DE5A06}"/>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accent3"/>
                </a:solidFill>
              </a:defRPr>
            </a:lvl1pPr>
          </a:lstStyle>
          <a:p>
            <a:pPr algn="r">
              <a:buNone/>
            </a:pPr>
            <a:fld id="{30394428-F1DC-E5F6-DB0C-7DE31F3D8A23}" type="slidenum">
              <a:rPr b="0"/>
              <a:t>14</a:t>
            </a:fld>
            <a:endParaRPr/>
          </a:p>
        </p:txBody>
      </p:sp>
    </p:spTree>
    <p:extLst>
      <p:ext uri="{BB962C8B-B14F-4D97-AF65-F5344CB8AC3E}">
        <p14:creationId xmlns:p14="http://schemas.microsoft.com/office/powerpoint/2010/main" val="1257431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uméro de section">
            <a:extLst>
              <a:ext uri="{FF2B5EF4-FFF2-40B4-BE49-F238E27FC236}">
                <a16:creationId xmlns:a16="http://schemas.microsoft.com/office/drawing/2014/main" id="{E38B732A-4C30-4C50-9D63-AE934A29ABB8}"/>
              </a:ext>
            </a:extLst>
          </p:cNvPr>
          <p:cNvSpPr>
            <a:spLocks noGrp="1"/>
          </p:cNvSpPr>
          <p:nvPr/>
        </p:nvSpPr>
        <p:spPr>
          <a:xfrm>
            <a:off x="548640" y="457200"/>
            <a:ext cx="822960" cy="822960"/>
          </a:xfrm>
          <a:prstGeom prst="ellipse">
            <a:avLst/>
          </a:prstGeom>
          <a:solidFill>
            <a:schemeClr val="accent1"/>
          </a:solidFill>
        </p:spPr>
        <p:txBody>
          <a:bodyPr wrap="square" lIns="0" tIns="0" rIns="0" bIns="0" anchor="ctr"/>
          <a:lstStyle/>
          <a:p>
            <a:pPr marL="0" indent="0" algn="ctr">
              <a:buNone/>
            </a:pPr>
            <a:r>
              <a:rPr sz="2600" b="1">
                <a:solidFill>
                  <a:schemeClr val="bg1"/>
                </a:solidFill>
              </a:rPr>
              <a:t>7</a:t>
            </a:r>
            <a:endParaRPr sz="2600"/>
          </a:p>
        </p:txBody>
      </p:sp>
      <p:sp>
        <p:nvSpPr>
          <p:cNvPr id="3" name="Text 0">
            <a:extLst>
              <a:ext uri="{FF2B5EF4-FFF2-40B4-BE49-F238E27FC236}">
                <a16:creationId xmlns:a16="http://schemas.microsoft.com/office/drawing/2014/main" id="{5559ACED-8EFE-43F3-9582-7031BE775B45}"/>
              </a:ext>
            </a:extLst>
          </p:cNvPr>
          <p:cNvSpPr>
            <a:spLocks noGrp="1"/>
          </p:cNvSpPr>
          <p:nvPr>
            <p:ph type="title" idx="100" hasCustomPrompt="1"/>
          </p:nvPr>
        </p:nvSpPr>
        <p:spPr>
          <a:xfrm>
            <a:off x="1600200" y="457200"/>
            <a:ext cx="8138160" cy="822960"/>
          </a:xfrm>
          <a:prstGeom prst="rect">
            <a:avLst/>
          </a:prstGeom>
          <a:noFill/>
        </p:spPr>
        <p:txBody>
          <a:bodyPr wrap="square" lIns="0" tIns="0" rIns="0" bIns="0" anchor="ctr"/>
          <a:lstStyle/>
          <a:p>
            <a:pPr marL="0" indent="0" algn="l">
              <a:buNone/>
            </a:pPr>
            <a:r>
              <a:rPr sz="3600" b="1">
                <a:solidFill>
                  <a:schemeClr val="tx2"/>
                </a:solidFill>
              </a:rPr>
              <a:t>Reviews et intégration</a:t>
            </a:r>
            <a:endParaRPr sz="3600"/>
          </a:p>
        </p:txBody>
      </p:sp>
      <p:sp>
        <p:nvSpPr>
          <p:cNvPr id="6" name="Carte - Objectif de la revue">
            <a:extLst>
              <a:ext uri="{FF2B5EF4-FFF2-40B4-BE49-F238E27FC236}">
                <a16:creationId xmlns:a16="http://schemas.microsoft.com/office/drawing/2014/main" id="{DA38785D-CF14-4319-822B-60D7B7B44DB1}"/>
              </a:ext>
            </a:extLst>
          </p:cNvPr>
          <p:cNvSpPr>
            <a:spLocks noGrp="1"/>
          </p:cNvSpPr>
          <p:nvPr/>
        </p:nvSpPr>
        <p:spPr>
          <a:xfrm>
            <a:off x="548640" y="1600200"/>
            <a:ext cx="5408676" cy="2148840"/>
          </a:xfrm>
          <a:prstGeom prst="roundRect">
            <a:avLst>
              <a:gd name="adj" fmla="val 5106"/>
            </a:avLst>
          </a:prstGeom>
          <a:solidFill>
            <a:schemeClr val="bg2"/>
          </a:solidFill>
        </p:spPr>
        <p:txBody>
          <a:bodyPr wrap="square" lIns="177800" tIns="177800" rIns="177800" bIns="177800" anchor="t"/>
          <a:lstStyle/>
          <a:p>
            <a:r>
              <a:rPr sz="1600" b="1">
                <a:solidFill>
                  <a:srgbClr val="0E2340"/>
                </a:solidFill>
                <a:latin typeface="Calibri"/>
                <a:ea typeface="Calibri"/>
                <a:cs typeface="Calibri"/>
              </a:rPr>
              <a:t>Review client du 06/10</a:t>
            </a:r>
          </a:p>
          <a:p>
            <a:r>
              <a:rPr sz="1400" b="0">
                <a:solidFill>
                  <a:srgbClr val="23334B"/>
                </a:solidFill>
                <a:latin typeface="Calibri"/>
                <a:ea typeface="Calibri"/>
                <a:cs typeface="Calibri"/>
              </a:rPr>
              <a:t>Présentation des maquettes à la MOA.</a:t>
            </a:r>
            <a:br>
              <a:rPr sz="1400" b="0">
                <a:solidFill>
                  <a:srgbClr val="23334B"/>
                </a:solidFill>
                <a:latin typeface="Calibri"/>
                <a:ea typeface="Calibri"/>
                <a:cs typeface="Calibri"/>
              </a:rPr>
            </a:br>
            <a:r>
              <a:rPr sz="1400" b="0">
                <a:solidFill>
                  <a:srgbClr val="23334B"/>
                </a:solidFill>
                <a:latin typeface="Calibri"/>
                <a:ea typeface="Calibri"/>
                <a:cs typeface="Calibri"/>
              </a:rPr>
              <a:t>Retours sur les rôles, affectations, processus et statistiques par salle.</a:t>
            </a:r>
            <a:br>
              <a:rPr sz="1400" b="0">
                <a:solidFill>
                  <a:srgbClr val="23334B"/>
                </a:solidFill>
                <a:latin typeface="Calibri"/>
                <a:ea typeface="Calibri"/>
                <a:cs typeface="Calibri"/>
              </a:rPr>
            </a:br>
            <a:r>
              <a:rPr sz="1400" b="0">
                <a:solidFill>
                  <a:srgbClr val="23334B"/>
                </a:solidFill>
                <a:latin typeface="Calibri"/>
                <a:ea typeface="Calibri"/>
                <a:cs typeface="Calibri"/>
              </a:rPr>
              <a:t>Compte rendu #11 clôturé.</a:t>
            </a:r>
          </a:p>
        </p:txBody>
      </p:sp>
      <p:sp>
        <p:nvSpPr>
          <p:cNvPr id="7" name="Carte - Rappel du périmètre de l'itération 1">
            <a:extLst>
              <a:ext uri="{FF2B5EF4-FFF2-40B4-BE49-F238E27FC236}">
                <a16:creationId xmlns:a16="http://schemas.microsoft.com/office/drawing/2014/main" id="{D1E116B1-A102-4EE5-A4F6-D7A69BAA7AC3}"/>
              </a:ext>
            </a:extLst>
          </p:cNvPr>
          <p:cNvSpPr>
            <a:spLocks noGrp="1"/>
          </p:cNvSpPr>
          <p:nvPr/>
        </p:nvSpPr>
        <p:spPr>
          <a:xfrm>
            <a:off x="6231636" y="1600200"/>
            <a:ext cx="5408676" cy="2148840"/>
          </a:xfrm>
          <a:prstGeom prst="roundRect">
            <a:avLst>
              <a:gd name="adj" fmla="val 5106"/>
            </a:avLst>
          </a:prstGeom>
          <a:solidFill>
            <a:schemeClr val="bg2"/>
          </a:solidFill>
        </p:spPr>
        <p:txBody>
          <a:bodyPr wrap="square" lIns="177800" tIns="177800" rIns="177800" bIns="177800" anchor="t"/>
          <a:lstStyle/>
          <a:p>
            <a:r>
              <a:rPr sz="1600" b="1">
                <a:solidFill>
                  <a:srgbClr val="0E2340"/>
                </a:solidFill>
                <a:latin typeface="Calibri"/>
                <a:ea typeface="Calibri"/>
                <a:cs typeface="Calibri"/>
              </a:rPr>
              <a:t>Contributions intégrées</a:t>
            </a:r>
          </a:p>
          <a:p>
            <a:r>
              <a:rPr sz="1400" b="0">
                <a:solidFill>
                  <a:srgbClr val="23334B"/>
                </a:solidFill>
                <a:latin typeface="Calibri"/>
                <a:ea typeface="Calibri"/>
                <a:cs typeface="Calibri"/>
              </a:rPr>
              <a:t>PR #2 « Analyse » : fusion le 05/10.</a:t>
            </a:r>
            <a:br>
              <a:rPr sz="1400" b="0">
                <a:solidFill>
                  <a:srgbClr val="23334B"/>
                </a:solidFill>
                <a:latin typeface="Calibri"/>
                <a:ea typeface="Calibri"/>
                <a:cs typeface="Calibri"/>
              </a:rPr>
            </a:br>
            <a:r>
              <a:rPr sz="1400" b="0">
                <a:solidFill>
                  <a:srgbClr val="23334B"/>
                </a:solidFill>
                <a:latin typeface="Calibri"/>
                <a:ea typeface="Calibri"/>
                <a:cs typeface="Calibri"/>
              </a:rPr>
              <a:t>PR #31 « ajout Fiche descriptive UC7 » : fusion le 06/10.</a:t>
            </a:r>
          </a:p>
        </p:txBody>
      </p:sp>
      <p:sp>
        <p:nvSpPr>
          <p:cNvPr id="8" name="Carte - Livrables attendus">
            <a:extLst>
              <a:ext uri="{FF2B5EF4-FFF2-40B4-BE49-F238E27FC236}">
                <a16:creationId xmlns:a16="http://schemas.microsoft.com/office/drawing/2014/main" id="{7DA1D020-42D9-4CAA-AD00-EA2272FF274B}"/>
              </a:ext>
            </a:extLst>
          </p:cNvPr>
          <p:cNvSpPr>
            <a:spLocks noGrp="1"/>
          </p:cNvSpPr>
          <p:nvPr/>
        </p:nvSpPr>
        <p:spPr>
          <a:xfrm>
            <a:off x="548640" y="4023360"/>
            <a:ext cx="5408676" cy="2148840"/>
          </a:xfrm>
          <a:prstGeom prst="roundRect">
            <a:avLst>
              <a:gd name="adj" fmla="val 5106"/>
            </a:avLst>
          </a:prstGeom>
          <a:solidFill>
            <a:schemeClr val="bg2"/>
          </a:solidFill>
        </p:spPr>
        <p:txBody>
          <a:bodyPr wrap="square" lIns="177800" tIns="177800" rIns="177800" bIns="177800" anchor="t"/>
          <a:lstStyle/>
          <a:p>
            <a:r>
              <a:rPr sz="1600" b="1">
                <a:solidFill>
                  <a:srgbClr val="0E2340"/>
                </a:solidFill>
                <a:latin typeface="Calibri"/>
                <a:ea typeface="Calibri"/>
                <a:cs typeface="Calibri"/>
              </a:rPr>
              <a:t>Reviews formelles des PR</a:t>
            </a:r>
          </a:p>
          <a:p>
            <a:r>
              <a:rPr sz="1400" b="0">
                <a:solidFill>
                  <a:srgbClr val="23334B"/>
                </a:solidFill>
                <a:latin typeface="Calibri"/>
                <a:ea typeface="Calibri"/>
                <a:cs typeface="Calibri"/>
              </a:rPr>
              <a:t>Aucune review formelle enregistrée sur les deux PR.</a:t>
            </a:r>
            <a:br>
              <a:rPr sz="1400" b="0">
                <a:solidFill>
                  <a:srgbClr val="23334B"/>
                </a:solidFill>
                <a:latin typeface="Calibri"/>
                <a:ea typeface="Calibri"/>
                <a:cs typeface="Calibri"/>
              </a:rPr>
            </a:br>
            <a:r>
              <a:rPr sz="1400" b="0">
                <a:solidFill>
                  <a:srgbClr val="23334B"/>
                </a:solidFill>
                <a:latin typeface="Calibri"/>
                <a:ea typeface="Calibri"/>
                <a:cs typeface="Calibri"/>
              </a:rPr>
              <a:t>La fusion atteste l’intégration de la contribution, pas une approbation documentée.</a:t>
            </a:r>
          </a:p>
        </p:txBody>
      </p:sp>
      <p:sp>
        <p:nvSpPr>
          <p:cNvPr id="9" name="Carte - Rôle de chacun pendant la réunion">
            <a:extLst>
              <a:ext uri="{FF2B5EF4-FFF2-40B4-BE49-F238E27FC236}">
                <a16:creationId xmlns:a16="http://schemas.microsoft.com/office/drawing/2014/main" id="{D1CD346C-8F04-4493-AB57-16B0299C9327}"/>
              </a:ext>
            </a:extLst>
          </p:cNvPr>
          <p:cNvSpPr>
            <a:spLocks noGrp="1"/>
          </p:cNvSpPr>
          <p:nvPr/>
        </p:nvSpPr>
        <p:spPr>
          <a:xfrm>
            <a:off x="6231636" y="4023360"/>
            <a:ext cx="5408676" cy="2148840"/>
          </a:xfrm>
          <a:prstGeom prst="roundRect">
            <a:avLst>
              <a:gd name="adj" fmla="val 5106"/>
            </a:avLst>
          </a:prstGeom>
          <a:solidFill>
            <a:schemeClr val="bg2"/>
          </a:solidFill>
        </p:spPr>
        <p:txBody>
          <a:bodyPr wrap="square" lIns="177800" tIns="177800" rIns="177800" bIns="177800" anchor="t"/>
          <a:lstStyle/>
          <a:p>
            <a:r>
              <a:rPr sz="1600" b="1">
                <a:solidFill>
                  <a:srgbClr val="0E2340"/>
                </a:solidFill>
                <a:latin typeface="Calibri"/>
                <a:ea typeface="Calibri"/>
                <a:cs typeface="Calibri"/>
              </a:rPr>
              <a:t>Validation à poursuivre</a:t>
            </a:r>
          </a:p>
          <a:p>
            <a:r>
              <a:rPr sz="1400" b="0">
                <a:solidFill>
                  <a:srgbClr val="23334B"/>
                </a:solidFill>
                <a:latin typeface="Calibri"/>
                <a:ea typeface="Calibri"/>
                <a:cs typeface="Calibri"/>
              </a:rPr>
              <a:t>La prochaine réunion doit présenter DCU, DCLAM, fiches descriptives et DSEQ.</a:t>
            </a:r>
            <a:br>
              <a:rPr sz="1400" b="0">
                <a:solidFill>
                  <a:srgbClr val="23334B"/>
                </a:solidFill>
                <a:latin typeface="Calibri"/>
                <a:ea typeface="Calibri"/>
                <a:cs typeface="Calibri"/>
              </a:rPr>
            </a:br>
            <a:r>
              <a:rPr sz="1400" b="0">
                <a:solidFill>
                  <a:srgbClr val="23334B"/>
                </a:solidFill>
                <a:latin typeface="Calibri"/>
                <a:ea typeface="Calibri"/>
                <a:cs typeface="Calibri"/>
              </a:rPr>
              <a:t>Les colonnes « Review / Done » du tableau Projects restent à vérifier.</a:t>
            </a:r>
          </a:p>
        </p:txBody>
      </p:sp>
      <p:sp>
        <p:nvSpPr>
          <p:cNvPr id="25" name="Slide Number Placeholder 0">
            <a:extLst>
              <a:ext uri="{FF2B5EF4-FFF2-40B4-BE49-F238E27FC236}">
                <a16:creationId xmlns:a16="http://schemas.microsoft.com/office/drawing/2014/main" id="{47C840D3-FF6F-4FA1-AD03-A94D28A5FF70}"/>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accent3"/>
                </a:solidFill>
              </a:defRPr>
            </a:lvl1pPr>
          </a:lstStyle>
          <a:p>
            <a:pPr algn="r">
              <a:buNone/>
            </a:pPr>
            <a:fld id="{4DB16885-0D3F-A391-B669-3211DB3B26E8}" type="slidenum">
              <a:rPr b="0"/>
              <a:t>15</a:t>
            </a:fld>
            <a:endParaRPr/>
          </a:p>
        </p:txBody>
      </p:sp>
    </p:spTree>
    <p:extLst>
      <p:ext uri="{BB962C8B-B14F-4D97-AF65-F5344CB8AC3E}">
        <p14:creationId xmlns:p14="http://schemas.microsoft.com/office/powerpoint/2010/main" val="1783727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uméro de section">
            <a:extLst>
              <a:ext uri="{FF2B5EF4-FFF2-40B4-BE49-F238E27FC236}">
                <a16:creationId xmlns:a16="http://schemas.microsoft.com/office/drawing/2014/main" id="{04A61443-B18D-42CD-8807-A44D5014ED07}"/>
              </a:ext>
            </a:extLst>
          </p:cNvPr>
          <p:cNvSpPr>
            <a:spLocks noGrp="1"/>
          </p:cNvSpPr>
          <p:nvPr/>
        </p:nvSpPr>
        <p:spPr>
          <a:xfrm>
            <a:off x="548640" y="457200"/>
            <a:ext cx="822960" cy="822960"/>
          </a:xfrm>
          <a:prstGeom prst="ellipse">
            <a:avLst/>
          </a:prstGeom>
          <a:solidFill>
            <a:schemeClr val="accent1"/>
          </a:solidFill>
        </p:spPr>
        <p:txBody>
          <a:bodyPr wrap="square" lIns="0" tIns="0" rIns="0" bIns="0" anchor="ctr"/>
          <a:lstStyle/>
          <a:p>
            <a:pPr marL="0" indent="0" algn="ctr">
              <a:buNone/>
            </a:pPr>
            <a:r>
              <a:rPr lang="fr-FR" sz="2600" b="1" dirty="0">
                <a:solidFill>
                  <a:schemeClr val="bg1"/>
                </a:solidFill>
              </a:rPr>
              <a:t>7</a:t>
            </a:r>
          </a:p>
        </p:txBody>
      </p:sp>
      <p:sp>
        <p:nvSpPr>
          <p:cNvPr id="3" name="Text 0">
            <a:extLst>
              <a:ext uri="{FF2B5EF4-FFF2-40B4-BE49-F238E27FC236}">
                <a16:creationId xmlns:a16="http://schemas.microsoft.com/office/drawing/2014/main" id="{79FBCA62-D4A1-483E-8A10-69A6B9882DCA}"/>
              </a:ext>
            </a:extLst>
          </p:cNvPr>
          <p:cNvSpPr>
            <a:spLocks noGrp="1"/>
          </p:cNvSpPr>
          <p:nvPr>
            <p:ph type="title" idx="100" hasCustomPrompt="1"/>
          </p:nvPr>
        </p:nvSpPr>
        <p:spPr>
          <a:xfrm>
            <a:off x="1600200" y="457200"/>
            <a:ext cx="8138160" cy="822960"/>
          </a:xfrm>
          <a:prstGeom prst="rect">
            <a:avLst/>
          </a:prstGeom>
          <a:noFill/>
        </p:spPr>
        <p:txBody>
          <a:bodyPr wrap="square" lIns="0" tIns="0" rIns="0" bIns="0" anchor="ctr"/>
          <a:lstStyle/>
          <a:p>
            <a:pPr marL="0" indent="0" algn="l">
              <a:buNone/>
            </a:pPr>
            <a:r>
              <a:rPr sz="3600" b="1">
                <a:solidFill>
                  <a:schemeClr val="tx2"/>
                </a:solidFill>
              </a:rPr>
              <a:t>Présentation des maquettes</a:t>
            </a:r>
            <a:endParaRPr sz="3600"/>
          </a:p>
        </p:txBody>
      </p:sp>
      <p:sp>
        <p:nvSpPr>
          <p:cNvPr id="25" name="Slide Number Placeholder 0">
            <a:extLst>
              <a:ext uri="{FF2B5EF4-FFF2-40B4-BE49-F238E27FC236}">
                <a16:creationId xmlns:a16="http://schemas.microsoft.com/office/drawing/2014/main" id="{6C6F2596-88F8-4997-980C-97AFC3F1258B}"/>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accent3"/>
                </a:solidFill>
              </a:defRPr>
            </a:lvl1pPr>
          </a:lstStyle>
          <a:p>
            <a:pPr algn="r">
              <a:buNone/>
            </a:pPr>
            <a:fld id="{2DD23107-4986-8758-3A93-3D74F35908CC}" type="slidenum">
              <a:rPr b="0"/>
              <a:t>16</a:t>
            </a:fld>
            <a:endParaRPr/>
          </a:p>
        </p:txBody>
      </p:sp>
    </p:spTree>
    <p:extLst>
      <p:ext uri="{BB962C8B-B14F-4D97-AF65-F5344CB8AC3E}">
        <p14:creationId xmlns:p14="http://schemas.microsoft.com/office/powerpoint/2010/main" val="10781102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uméro de section">
            <a:extLst>
              <a:ext uri="{FF2B5EF4-FFF2-40B4-BE49-F238E27FC236}">
                <a16:creationId xmlns:a16="http://schemas.microsoft.com/office/drawing/2014/main" id="{E38B732A-4C30-4C50-9D63-AE934A29ABB8}"/>
              </a:ext>
            </a:extLst>
          </p:cNvPr>
          <p:cNvSpPr>
            <a:spLocks noGrp="1"/>
          </p:cNvSpPr>
          <p:nvPr/>
        </p:nvSpPr>
        <p:spPr>
          <a:xfrm>
            <a:off x="548640" y="457200"/>
            <a:ext cx="822960" cy="822960"/>
          </a:xfrm>
          <a:prstGeom prst="ellipse">
            <a:avLst/>
          </a:prstGeom>
          <a:solidFill>
            <a:schemeClr val="accent1"/>
          </a:solidFill>
        </p:spPr>
        <p:txBody>
          <a:bodyPr wrap="square" lIns="0" tIns="0" rIns="0" bIns="0" anchor="ctr"/>
          <a:lstStyle/>
          <a:p>
            <a:pPr marL="0" indent="0" algn="ctr">
              <a:buNone/>
            </a:pPr>
            <a:r>
              <a:rPr sz="2600" b="1">
                <a:solidFill>
                  <a:schemeClr val="bg1"/>
                </a:solidFill>
              </a:rPr>
              <a:t>8</a:t>
            </a:r>
            <a:endParaRPr sz="2600"/>
          </a:p>
        </p:txBody>
      </p:sp>
      <p:sp>
        <p:nvSpPr>
          <p:cNvPr id="3" name="Text 0">
            <a:extLst>
              <a:ext uri="{FF2B5EF4-FFF2-40B4-BE49-F238E27FC236}">
                <a16:creationId xmlns:a16="http://schemas.microsoft.com/office/drawing/2014/main" id="{5559ACED-8EFE-43F3-9582-7031BE775B45}"/>
              </a:ext>
            </a:extLst>
          </p:cNvPr>
          <p:cNvSpPr>
            <a:spLocks noGrp="1"/>
          </p:cNvSpPr>
          <p:nvPr>
            <p:ph type="title" idx="100" hasCustomPrompt="1"/>
          </p:nvPr>
        </p:nvSpPr>
        <p:spPr>
          <a:xfrm>
            <a:off x="1600200" y="457200"/>
            <a:ext cx="8138160" cy="822960"/>
          </a:xfrm>
          <a:prstGeom prst="rect">
            <a:avLst/>
          </a:prstGeom>
          <a:noFill/>
        </p:spPr>
        <p:txBody>
          <a:bodyPr wrap="square" lIns="0" tIns="0" rIns="0" bIns="0" anchor="ctr"/>
          <a:lstStyle/>
          <a:p>
            <a:pPr marL="0" indent="0" algn="l">
              <a:buNone/>
            </a:pPr>
            <a:r>
              <a:rPr sz="3600" b="1">
                <a:solidFill>
                  <a:schemeClr val="tx2"/>
                </a:solidFill>
              </a:rPr>
              <a:t>Commits et déploiement</a:t>
            </a:r>
            <a:endParaRPr sz="3600"/>
          </a:p>
        </p:txBody>
      </p:sp>
      <p:sp>
        <p:nvSpPr>
          <p:cNvPr id="6" name="Carte - Objectif de la revue">
            <a:extLst>
              <a:ext uri="{FF2B5EF4-FFF2-40B4-BE49-F238E27FC236}">
                <a16:creationId xmlns:a16="http://schemas.microsoft.com/office/drawing/2014/main" id="{DA38785D-CF14-4319-822B-60D7B7B44DB1}"/>
              </a:ext>
            </a:extLst>
          </p:cNvPr>
          <p:cNvSpPr>
            <a:spLocks noGrp="1"/>
          </p:cNvSpPr>
          <p:nvPr/>
        </p:nvSpPr>
        <p:spPr>
          <a:xfrm>
            <a:off x="548640" y="1600200"/>
            <a:ext cx="5408676" cy="2148840"/>
          </a:xfrm>
          <a:prstGeom prst="roundRect">
            <a:avLst>
              <a:gd name="adj" fmla="val 5106"/>
            </a:avLst>
          </a:prstGeom>
          <a:solidFill>
            <a:schemeClr val="bg2"/>
          </a:solidFill>
        </p:spPr>
        <p:txBody>
          <a:bodyPr wrap="square" lIns="177800" tIns="177800" rIns="177800" bIns="177800" anchor="t"/>
          <a:lstStyle/>
          <a:p>
            <a:r>
              <a:rPr sz="1600" b="1">
                <a:solidFill>
                  <a:srgbClr val="0E2340"/>
                </a:solidFill>
                <a:latin typeface="Calibri"/>
                <a:ea typeface="Calibri"/>
                <a:cs typeface="Calibri"/>
              </a:rPr>
              <a:t>Conception du 05 au 06/10</a:t>
            </a:r>
          </a:p>
          <a:p>
            <a:r>
              <a:rPr sz="1400" b="0">
                <a:solidFill>
                  <a:srgbClr val="23334B"/>
                </a:solidFill>
                <a:latin typeface="Calibri"/>
                <a:ea typeface="Calibri"/>
                <a:cs typeface="Calibri"/>
              </a:rPr>
              <a:t>05/10 : DCU, DCLAM et maquettes.</a:t>
            </a:r>
            <a:br>
              <a:rPr sz="1400" b="0">
                <a:solidFill>
                  <a:srgbClr val="23334B"/>
                </a:solidFill>
                <a:latin typeface="Calibri"/>
                <a:ea typeface="Calibri"/>
                <a:cs typeface="Calibri"/>
              </a:rPr>
            </a:br>
            <a:r>
              <a:rPr sz="1400" b="0">
                <a:solidFill>
                  <a:srgbClr val="23334B"/>
                </a:solidFill>
                <a:latin typeface="Calibri"/>
                <a:ea typeface="Calibri"/>
                <a:cs typeface="Calibri"/>
              </a:rPr>
              <a:t>06/10 : fiches salle, consultation et recherche de matériel, puis corrections du DCU.</a:t>
            </a:r>
          </a:p>
        </p:txBody>
      </p:sp>
      <p:sp>
        <p:nvSpPr>
          <p:cNvPr id="7" name="Carte - Rappel du périmètre de l'itération 1">
            <a:extLst>
              <a:ext uri="{FF2B5EF4-FFF2-40B4-BE49-F238E27FC236}">
                <a16:creationId xmlns:a16="http://schemas.microsoft.com/office/drawing/2014/main" id="{D1E116B1-A102-4EE5-A4F6-D7A69BAA7AC3}"/>
              </a:ext>
            </a:extLst>
          </p:cNvPr>
          <p:cNvSpPr>
            <a:spLocks noGrp="1"/>
          </p:cNvSpPr>
          <p:nvPr/>
        </p:nvSpPr>
        <p:spPr>
          <a:xfrm>
            <a:off x="6231636" y="1600200"/>
            <a:ext cx="5408676" cy="2148840"/>
          </a:xfrm>
          <a:prstGeom prst="roundRect">
            <a:avLst>
              <a:gd name="adj" fmla="val 5106"/>
            </a:avLst>
          </a:prstGeom>
          <a:solidFill>
            <a:schemeClr val="bg2"/>
          </a:solidFill>
        </p:spPr>
        <p:txBody>
          <a:bodyPr wrap="square" lIns="177800" tIns="177800" rIns="177800" bIns="177800" anchor="t"/>
          <a:lstStyle/>
          <a:p>
            <a:r>
              <a:rPr sz="1600" b="1">
                <a:solidFill>
                  <a:srgbClr val="0E2340"/>
                </a:solidFill>
                <a:latin typeface="Calibri"/>
                <a:ea typeface="Calibri"/>
                <a:cs typeface="Calibri"/>
              </a:rPr>
              <a:t>Consolidation du 07/10</a:t>
            </a:r>
          </a:p>
          <a:p>
            <a:r>
              <a:rPr sz="1400" b="0">
                <a:solidFill>
                  <a:srgbClr val="23334B"/>
                </a:solidFill>
                <a:latin typeface="Calibri"/>
                <a:ea typeface="Calibri"/>
                <a:cs typeface="Calibri"/>
              </a:rPr>
              <a:t>Maquette interactive et modifications.</a:t>
            </a:r>
            <a:br>
              <a:rPr sz="1400" b="0">
                <a:solidFill>
                  <a:srgbClr val="23334B"/>
                </a:solidFill>
                <a:latin typeface="Calibri"/>
                <a:ea typeface="Calibri"/>
                <a:cs typeface="Calibri"/>
              </a:rPr>
            </a:br>
            <a:r>
              <a:rPr sz="1400" b="0">
                <a:solidFill>
                  <a:srgbClr val="23334B"/>
                </a:solidFill>
                <a:latin typeface="Calibri"/>
                <a:ea typeface="Calibri"/>
                <a:cs typeface="Calibri"/>
              </a:rPr>
              <a:t>Mise à jour des fiches descriptives.</a:t>
            </a:r>
            <a:br>
              <a:rPr sz="1400" b="0">
                <a:solidFill>
                  <a:srgbClr val="23334B"/>
                </a:solidFill>
                <a:latin typeface="Calibri"/>
                <a:ea typeface="Calibri"/>
                <a:cs typeface="Calibri"/>
              </a:rPr>
            </a:br>
            <a:r>
              <a:rPr sz="1400" b="0">
                <a:solidFill>
                  <a:srgbClr val="23334B"/>
                </a:solidFill>
                <a:latin typeface="Calibri"/>
                <a:ea typeface="Calibri"/>
                <a:cs typeface="Calibri"/>
              </a:rPr>
              <a:t>Regroupement dans Analyse et numérotation des UC.</a:t>
            </a:r>
          </a:p>
        </p:txBody>
      </p:sp>
      <p:sp>
        <p:nvSpPr>
          <p:cNvPr id="8" name="Carte - Livrables attendus">
            <a:extLst>
              <a:ext uri="{FF2B5EF4-FFF2-40B4-BE49-F238E27FC236}">
                <a16:creationId xmlns:a16="http://schemas.microsoft.com/office/drawing/2014/main" id="{7DA1D020-42D9-4CAA-AD00-EA2272FF274B}"/>
              </a:ext>
            </a:extLst>
          </p:cNvPr>
          <p:cNvSpPr>
            <a:spLocks noGrp="1"/>
          </p:cNvSpPr>
          <p:nvPr/>
        </p:nvSpPr>
        <p:spPr>
          <a:xfrm>
            <a:off x="548640" y="4023360"/>
            <a:ext cx="5408676" cy="2148840"/>
          </a:xfrm>
          <a:prstGeom prst="roundRect">
            <a:avLst>
              <a:gd name="adj" fmla="val 5106"/>
            </a:avLst>
          </a:prstGeom>
          <a:solidFill>
            <a:schemeClr val="bg2"/>
          </a:solidFill>
        </p:spPr>
        <p:txBody>
          <a:bodyPr wrap="square" lIns="177800" tIns="177800" rIns="177800" bIns="177800" anchor="t"/>
          <a:lstStyle/>
          <a:p>
            <a:r>
              <a:rPr sz="1600" b="1">
                <a:solidFill>
                  <a:srgbClr val="0E2340"/>
                </a:solidFill>
                <a:latin typeface="Calibri"/>
                <a:ea typeface="Calibri"/>
                <a:cs typeface="Calibri"/>
              </a:rPr>
              <a:t>Ajouts du 08/10</a:t>
            </a:r>
          </a:p>
          <a:p>
            <a:r>
              <a:rPr sz="1400" b="0">
                <a:solidFill>
                  <a:srgbClr val="23334B"/>
                </a:solidFill>
                <a:latin typeface="Calibri"/>
                <a:ea typeface="Calibri"/>
                <a:cs typeface="Calibri"/>
              </a:rPr>
              <a:t>22fdb65 : DCU V1.</a:t>
            </a:r>
            <a:br>
              <a:rPr sz="1400" b="0">
                <a:solidFill>
                  <a:srgbClr val="23334B"/>
                </a:solidFill>
                <a:latin typeface="Calibri"/>
                <a:ea typeface="Calibri"/>
                <a:cs typeface="Calibri"/>
              </a:rPr>
            </a:br>
            <a:r>
              <a:rPr sz="1400" b="0">
                <a:solidFill>
                  <a:srgbClr val="23334B"/>
                </a:solidFill>
                <a:latin typeface="Calibri"/>
                <a:ea typeface="Calibri"/>
                <a:cs typeface="Calibri"/>
              </a:rPr>
              <a:t>08aa68a : DSEQ de création de salle, consultation et recherche de matériel.</a:t>
            </a:r>
          </a:p>
        </p:txBody>
      </p:sp>
      <p:sp>
        <p:nvSpPr>
          <p:cNvPr id="9" name="Carte - Rôle de chacun pendant la réunion">
            <a:extLst>
              <a:ext uri="{FF2B5EF4-FFF2-40B4-BE49-F238E27FC236}">
                <a16:creationId xmlns:a16="http://schemas.microsoft.com/office/drawing/2014/main" id="{D1CD346C-8F04-4493-AB57-16B0299C9327}"/>
              </a:ext>
            </a:extLst>
          </p:cNvPr>
          <p:cNvSpPr>
            <a:spLocks noGrp="1"/>
          </p:cNvSpPr>
          <p:nvPr/>
        </p:nvSpPr>
        <p:spPr>
          <a:xfrm>
            <a:off x="6231636" y="4023360"/>
            <a:ext cx="5408676" cy="2148840"/>
          </a:xfrm>
          <a:prstGeom prst="roundRect">
            <a:avLst>
              <a:gd name="adj" fmla="val 5106"/>
            </a:avLst>
          </a:prstGeom>
          <a:solidFill>
            <a:schemeClr val="bg2"/>
          </a:solidFill>
        </p:spPr>
        <p:txBody>
          <a:bodyPr wrap="square" lIns="177800" tIns="177800" rIns="177800" bIns="177800" anchor="t"/>
          <a:lstStyle/>
          <a:p>
            <a:r>
              <a:rPr sz="1600" b="1">
                <a:solidFill>
                  <a:srgbClr val="0E2340"/>
                </a:solidFill>
                <a:latin typeface="Calibri"/>
                <a:ea typeface="Calibri"/>
                <a:cs typeface="Calibri"/>
              </a:rPr>
              <a:t>GitHub Actions</a:t>
            </a:r>
          </a:p>
          <a:p>
            <a:r>
              <a:rPr sz="1400" b="0">
                <a:solidFill>
                  <a:srgbClr val="23334B"/>
                </a:solidFill>
                <a:latin typeface="Calibri"/>
                <a:ea typeface="Calibri"/>
                <a:cs typeface="Calibri"/>
              </a:rPr>
              <a:t>Dernier workflow « pages build and deployment » réussi le 08/10 à 14 h 24 (Paris).</a:t>
            </a:r>
            <a:br>
              <a:rPr sz="1400" b="0">
                <a:solidFill>
                  <a:srgbClr val="23334B"/>
                </a:solidFill>
                <a:latin typeface="Calibri"/>
                <a:ea typeface="Calibri"/>
                <a:cs typeface="Calibri"/>
              </a:rPr>
            </a:br>
            <a:r>
              <a:rPr sz="1400" b="0">
                <a:solidFill>
                  <a:srgbClr val="23334B"/>
                </a:solidFill>
                <a:latin typeface="Calibri"/>
                <a:ea typeface="Calibri"/>
                <a:cs typeface="Calibri"/>
              </a:rPr>
              <a:t>Ce succès confirme le déploiement du site, sans attester les tests métier.</a:t>
            </a:r>
          </a:p>
        </p:txBody>
      </p:sp>
      <p:sp>
        <p:nvSpPr>
          <p:cNvPr id="25" name="Slide Number Placeholder 0">
            <a:extLst>
              <a:ext uri="{FF2B5EF4-FFF2-40B4-BE49-F238E27FC236}">
                <a16:creationId xmlns:a16="http://schemas.microsoft.com/office/drawing/2014/main" id="{47C840D3-FF6F-4FA1-AD03-A94D28A5FF70}"/>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accent3"/>
                </a:solidFill>
              </a:defRPr>
            </a:lvl1pPr>
          </a:lstStyle>
          <a:p>
            <a:pPr algn="r">
              <a:buNone/>
            </a:pPr>
            <a:fld id="{327921A4-25C4-3DB4-06B1-32693CEE2241}" type="slidenum">
              <a:rPr b="0"/>
              <a:t>17</a:t>
            </a:fld>
            <a:endParaRPr/>
          </a:p>
        </p:txBody>
      </p:sp>
    </p:spTree>
    <p:extLst>
      <p:ext uri="{BB962C8B-B14F-4D97-AF65-F5344CB8AC3E}">
        <p14:creationId xmlns:p14="http://schemas.microsoft.com/office/powerpoint/2010/main" val="17837272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uméro de section">
            <a:extLst>
              <a:ext uri="{FF2B5EF4-FFF2-40B4-BE49-F238E27FC236}">
                <a16:creationId xmlns:a16="http://schemas.microsoft.com/office/drawing/2014/main" id="{0D5B2D13-74FB-478F-95FF-16673198A4D4}"/>
              </a:ext>
            </a:extLst>
          </p:cNvPr>
          <p:cNvSpPr>
            <a:spLocks noGrp="1"/>
          </p:cNvSpPr>
          <p:nvPr/>
        </p:nvSpPr>
        <p:spPr>
          <a:xfrm>
            <a:off x="548640" y="457200"/>
            <a:ext cx="822960" cy="822960"/>
          </a:xfrm>
          <a:prstGeom prst="ellipse">
            <a:avLst/>
          </a:prstGeom>
          <a:solidFill>
            <a:schemeClr val="accent1"/>
          </a:solidFill>
        </p:spPr>
        <p:txBody>
          <a:bodyPr wrap="square" lIns="0" tIns="0" rIns="0" bIns="0" anchor="ctr"/>
          <a:lstStyle/>
          <a:p>
            <a:pPr marL="0" indent="0" algn="ctr">
              <a:buNone/>
            </a:pPr>
            <a:r>
              <a:rPr lang="fr-FR" sz="2600" b="1" dirty="0">
                <a:solidFill>
                  <a:schemeClr val="bg1"/>
                </a:solidFill>
              </a:rPr>
              <a:t>8</a:t>
            </a:r>
            <a:endParaRPr sz="2600" dirty="0"/>
          </a:p>
        </p:txBody>
      </p:sp>
      <p:sp>
        <p:nvSpPr>
          <p:cNvPr id="3" name="Text 0">
            <a:extLst>
              <a:ext uri="{FF2B5EF4-FFF2-40B4-BE49-F238E27FC236}">
                <a16:creationId xmlns:a16="http://schemas.microsoft.com/office/drawing/2014/main" id="{81CD34BD-F3DF-45E1-9732-CDD4FFA3B673}"/>
              </a:ext>
            </a:extLst>
          </p:cNvPr>
          <p:cNvSpPr>
            <a:spLocks noGrp="1"/>
          </p:cNvSpPr>
          <p:nvPr>
            <p:ph type="title" idx="100" hasCustomPrompt="1"/>
          </p:nvPr>
        </p:nvSpPr>
        <p:spPr>
          <a:xfrm>
            <a:off x="1600200" y="457200"/>
            <a:ext cx="8138160" cy="822960"/>
          </a:xfrm>
          <a:prstGeom prst="rect">
            <a:avLst/>
          </a:prstGeom>
          <a:noFill/>
        </p:spPr>
        <p:txBody>
          <a:bodyPr wrap="square" lIns="0" tIns="0" rIns="0" bIns="0" anchor="ctr"/>
          <a:lstStyle/>
          <a:p>
            <a:pPr marL="0" indent="0" algn="l">
              <a:buNone/>
            </a:pPr>
            <a:r>
              <a:rPr sz="3600" b="1">
                <a:solidFill>
                  <a:schemeClr val="tx2"/>
                </a:solidFill>
              </a:rPr>
              <a:t>Objectifs de l'itération 2</a:t>
            </a:r>
            <a:endParaRPr sz="3600"/>
          </a:p>
        </p:txBody>
      </p:sp>
      <p:sp>
        <p:nvSpPr>
          <p:cNvPr id="6" name="Carte - Fonctionnalités prévues pour la prochaine revue avec démo">
            <a:extLst>
              <a:ext uri="{FF2B5EF4-FFF2-40B4-BE49-F238E27FC236}">
                <a16:creationId xmlns:a16="http://schemas.microsoft.com/office/drawing/2014/main" id="{FB0CF3FB-8B91-4AB7-8DD6-5305CC11C6C7}"/>
              </a:ext>
            </a:extLst>
          </p:cNvPr>
          <p:cNvSpPr>
            <a:spLocks noGrp="1"/>
          </p:cNvSpPr>
          <p:nvPr/>
        </p:nvSpPr>
        <p:spPr>
          <a:xfrm>
            <a:off x="3391662" y="2338494"/>
            <a:ext cx="5408676" cy="1221570"/>
          </a:xfrm>
          <a:prstGeom prst="roundRect">
            <a:avLst>
              <a:gd name="adj" fmla="val 5106"/>
            </a:avLst>
          </a:prstGeom>
          <a:solidFill>
            <a:schemeClr val="bg2"/>
          </a:solidFill>
        </p:spPr>
        <p:txBody>
          <a:bodyPr wrap="square" lIns="177800" tIns="177800" rIns="177800" bIns="177800" anchor="t"/>
          <a:lstStyle/>
          <a:p>
            <a:pPr algn="ctr"/>
            <a:r>
              <a:rPr lang="fr-FR" sz="1600" b="1" dirty="0">
                <a:solidFill>
                  <a:srgbClr val="0E2340"/>
                </a:solidFill>
                <a:latin typeface="Calibri"/>
                <a:ea typeface="Calibri"/>
                <a:cs typeface="Calibri"/>
              </a:rPr>
              <a:t>Rendre le Document d’Architecture Technique</a:t>
            </a:r>
          </a:p>
          <a:p>
            <a:pPr algn="ctr"/>
            <a:endParaRPr lang="fr-FR" sz="1600" b="1" dirty="0">
              <a:solidFill>
                <a:srgbClr val="0E2340"/>
              </a:solidFill>
              <a:latin typeface="Calibri"/>
              <a:ea typeface="Calibri"/>
              <a:cs typeface="Calibri"/>
            </a:endParaRPr>
          </a:p>
          <a:p>
            <a:pPr algn="ctr"/>
            <a:r>
              <a:rPr lang="fr-FR" sz="1600" b="1" dirty="0">
                <a:solidFill>
                  <a:srgbClr val="0E2340"/>
                </a:solidFill>
                <a:latin typeface="Calibri"/>
                <a:ea typeface="Calibri"/>
                <a:cs typeface="Calibri"/>
              </a:rPr>
              <a:t>Commencer la programmation</a:t>
            </a:r>
            <a:endParaRPr lang="fr-FR" sz="1400" dirty="0">
              <a:solidFill>
                <a:srgbClr val="23334B"/>
              </a:solidFill>
              <a:latin typeface="Calibri"/>
              <a:ea typeface="Calibri"/>
              <a:cs typeface="Calibri"/>
            </a:endParaRPr>
          </a:p>
        </p:txBody>
      </p:sp>
      <p:sp>
        <p:nvSpPr>
          <p:cNvPr id="25" name="Slide Number Placeholder 0">
            <a:extLst>
              <a:ext uri="{FF2B5EF4-FFF2-40B4-BE49-F238E27FC236}">
                <a16:creationId xmlns:a16="http://schemas.microsoft.com/office/drawing/2014/main" id="{19CE546D-3A10-40EE-8E4D-BF5B571763BB}"/>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accent3"/>
                </a:solidFill>
              </a:defRPr>
            </a:lvl1pPr>
          </a:lstStyle>
          <a:p>
            <a:pPr algn="r">
              <a:buNone/>
            </a:pPr>
            <a:fld id="{EA83FA91-883A-0168-8075-96CEB9DCA3C2}" type="slidenum">
              <a:rPr b="0"/>
              <a:t>18</a:t>
            </a:fld>
            <a:endParaRPr/>
          </a:p>
        </p:txBody>
      </p:sp>
    </p:spTree>
    <p:extLst>
      <p:ext uri="{BB962C8B-B14F-4D97-AF65-F5344CB8AC3E}">
        <p14:creationId xmlns:p14="http://schemas.microsoft.com/office/powerpoint/2010/main" val="2766764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Numéro de section">
            <a:extLst>
              <a:ext uri="{FF2B5EF4-FFF2-40B4-BE49-F238E27FC236}">
                <a16:creationId xmlns:a16="http://schemas.microsoft.com/office/drawing/2014/main" id="{7D7F0558-B333-4A9D-8B82-9BAAD70C99F1}"/>
              </a:ext>
            </a:extLst>
          </p:cNvPr>
          <p:cNvSpPr>
            <a:spLocks noGrp="1"/>
          </p:cNvSpPr>
          <p:nvPr/>
        </p:nvSpPr>
        <p:spPr>
          <a:xfrm>
            <a:off x="548640" y="457200"/>
            <a:ext cx="822960" cy="822960"/>
          </a:xfrm>
          <a:prstGeom prst="ellipse">
            <a:avLst/>
          </a:prstGeom>
          <a:solidFill>
            <a:schemeClr val="accent1"/>
          </a:solidFill>
        </p:spPr>
        <p:txBody>
          <a:bodyPr wrap="square" lIns="0" tIns="0" rIns="0" bIns="0" anchor="ctr"/>
          <a:lstStyle/>
          <a:p>
            <a:pPr marL="0" indent="0" algn="ctr">
              <a:buNone/>
            </a:pPr>
            <a:r>
              <a:rPr lang="fr-FR" sz="2600" b="1" dirty="0">
                <a:solidFill>
                  <a:schemeClr val="bg1"/>
                </a:solidFill>
              </a:rPr>
              <a:t>9</a:t>
            </a:r>
            <a:endParaRPr sz="2600" dirty="0"/>
          </a:p>
        </p:txBody>
      </p:sp>
      <p:sp>
        <p:nvSpPr>
          <p:cNvPr id="3" name="Text 0">
            <a:extLst>
              <a:ext uri="{FF2B5EF4-FFF2-40B4-BE49-F238E27FC236}">
                <a16:creationId xmlns:a16="http://schemas.microsoft.com/office/drawing/2014/main" id="{8E198EB3-6FDC-4A28-88F1-F18F45B534BA}"/>
              </a:ext>
            </a:extLst>
          </p:cNvPr>
          <p:cNvSpPr>
            <a:spLocks noGrp="1"/>
          </p:cNvSpPr>
          <p:nvPr>
            <p:ph type="title" idx="100" hasCustomPrompt="1"/>
          </p:nvPr>
        </p:nvSpPr>
        <p:spPr>
          <a:xfrm>
            <a:off x="1600200" y="457200"/>
            <a:ext cx="8138160" cy="822960"/>
          </a:xfrm>
          <a:prstGeom prst="rect">
            <a:avLst/>
          </a:prstGeom>
          <a:noFill/>
        </p:spPr>
        <p:txBody>
          <a:bodyPr wrap="square" lIns="0" tIns="0" rIns="0" bIns="0" anchor="ctr"/>
          <a:lstStyle/>
          <a:p>
            <a:pPr marL="0" indent="0" algn="l">
              <a:buNone/>
            </a:pPr>
            <a:r>
              <a:rPr sz="3600" b="1">
                <a:solidFill>
                  <a:schemeClr val="bg1"/>
                </a:solidFill>
              </a:rPr>
              <a:t>Clôture &amp; décisions actées</a:t>
            </a:r>
            <a:endParaRPr sz="3600"/>
          </a:p>
        </p:txBody>
      </p:sp>
      <p:sp>
        <p:nvSpPr>
          <p:cNvPr id="6" name="Carte - Synthèse des décisions">
            <a:extLst>
              <a:ext uri="{FF2B5EF4-FFF2-40B4-BE49-F238E27FC236}">
                <a16:creationId xmlns:a16="http://schemas.microsoft.com/office/drawing/2014/main" id="{6BA3E698-CF60-4537-A2A4-120F43B1111D}"/>
              </a:ext>
            </a:extLst>
          </p:cNvPr>
          <p:cNvSpPr>
            <a:spLocks noGrp="1"/>
          </p:cNvSpPr>
          <p:nvPr/>
        </p:nvSpPr>
        <p:spPr>
          <a:xfrm>
            <a:off x="548640" y="1600200"/>
            <a:ext cx="3514344" cy="2148840"/>
          </a:xfrm>
          <a:prstGeom prst="roundRect">
            <a:avLst>
              <a:gd name="adj" fmla="val 5106"/>
            </a:avLst>
          </a:prstGeom>
          <a:solidFill>
            <a:schemeClr val="accent3"/>
          </a:solidFill>
        </p:spPr>
        <p:txBody>
          <a:bodyPr wrap="square" lIns="177800" tIns="177800" rIns="177800" bIns="177800" anchor="t"/>
          <a:lstStyle/>
          <a:p>
            <a:pPr marL="0" indent="0" algn="l">
              <a:buNone/>
            </a:pPr>
            <a:r>
              <a:rPr sz="1600" b="1">
                <a:solidFill>
                  <a:schemeClr val="bg1"/>
                </a:solidFill>
              </a:rPr>
              <a:t>Synthèse des décisions</a:t>
            </a:r>
          </a:p>
          <a:p>
            <a:pPr marL="0" indent="0" algn="l">
              <a:buNone/>
            </a:pPr>
            <a:r>
              <a:rPr sz="1400">
                <a:solidFill>
                  <a:schemeClr val="bg1"/>
                </a:solidFill>
              </a:rPr>
              <a:t>Nom SÉSAM validé.</a:t>
            </a:r>
          </a:p>
          <a:p>
            <a:pPr marL="0" indent="0" algn="l">
              <a:buNone/>
            </a:pPr>
            <a:r>
              <a:rPr sz="1400">
                <a:solidFill>
                  <a:schemeClr val="bg1"/>
                </a:solidFill>
              </a:rPr>
              <a:t>Le gestionnaire affecte et transfère le matériel.</a:t>
            </a:r>
          </a:p>
          <a:p>
            <a:pPr marL="0" indent="0" algn="l">
              <a:buNone/>
            </a:pPr>
            <a:r>
              <a:rPr sz="1400">
                <a:solidFill>
                  <a:schemeClr val="bg1"/>
                </a:solidFill>
              </a:rPr>
              <a:t>Rôles et droits précisés.</a:t>
            </a:r>
          </a:p>
          <a:p>
            <a:pPr marL="0" indent="0" algn="l">
              <a:buNone/>
            </a:pPr>
            <a:endParaRPr sz="1400">
              <a:solidFill>
                <a:schemeClr val="bg1"/>
              </a:solidFill>
            </a:endParaRPr>
          </a:p>
        </p:txBody>
      </p:sp>
      <p:sp>
        <p:nvSpPr>
          <p:cNvPr id="7" name="Carte - Validation de la priorisation">
            <a:extLst>
              <a:ext uri="{FF2B5EF4-FFF2-40B4-BE49-F238E27FC236}">
                <a16:creationId xmlns:a16="http://schemas.microsoft.com/office/drawing/2014/main" id="{E86B917C-8E98-46B3-98EF-4924AE480628}"/>
              </a:ext>
            </a:extLst>
          </p:cNvPr>
          <p:cNvSpPr>
            <a:spLocks noGrp="1"/>
          </p:cNvSpPr>
          <p:nvPr/>
        </p:nvSpPr>
        <p:spPr>
          <a:xfrm>
            <a:off x="4337304" y="1600200"/>
            <a:ext cx="3514344" cy="2148840"/>
          </a:xfrm>
          <a:prstGeom prst="roundRect">
            <a:avLst>
              <a:gd name="adj" fmla="val 5106"/>
            </a:avLst>
          </a:prstGeom>
          <a:solidFill>
            <a:schemeClr val="accent3"/>
          </a:solidFill>
        </p:spPr>
        <p:txBody>
          <a:bodyPr wrap="square" lIns="177800" tIns="177800" rIns="177800" bIns="177800" anchor="t"/>
          <a:lstStyle/>
          <a:p>
            <a:r>
              <a:rPr sz="1600" b="1">
                <a:solidFill>
                  <a:srgbClr val="FFFFFF"/>
                </a:solidFill>
                <a:latin typeface="Calibri"/>
                <a:ea typeface="Calibri"/>
                <a:cs typeface="Calibri"/>
              </a:rPr>
              <a:t>Priorité métier</a:t>
            </a:r>
          </a:p>
          <a:p>
            <a:r>
              <a:rPr sz="1400" b="0">
                <a:solidFill>
                  <a:srgbClr val="FFFFFF"/>
                </a:solidFill>
                <a:latin typeface="Calibri"/>
                <a:ea typeface="Calibri"/>
                <a:cs typeface="Calibri"/>
              </a:rPr>
              <a:t>Gestion du matériel et des salles en premier, conformément au recueil du 01/10. Ordre détaillé à confirmer.</a:t>
            </a:r>
          </a:p>
        </p:txBody>
      </p:sp>
      <p:sp>
        <p:nvSpPr>
          <p:cNvPr id="8" name="Carte - Validation des maquettes">
            <a:extLst>
              <a:ext uri="{FF2B5EF4-FFF2-40B4-BE49-F238E27FC236}">
                <a16:creationId xmlns:a16="http://schemas.microsoft.com/office/drawing/2014/main" id="{478040E7-C345-4CF8-B57B-5CA2DA7C5CE5}"/>
              </a:ext>
            </a:extLst>
          </p:cNvPr>
          <p:cNvSpPr>
            <a:spLocks noGrp="1"/>
          </p:cNvSpPr>
          <p:nvPr/>
        </p:nvSpPr>
        <p:spPr>
          <a:xfrm>
            <a:off x="8125968" y="1600200"/>
            <a:ext cx="3514344" cy="2148840"/>
          </a:xfrm>
          <a:prstGeom prst="roundRect">
            <a:avLst>
              <a:gd name="adj" fmla="val 5106"/>
            </a:avLst>
          </a:prstGeom>
          <a:solidFill>
            <a:schemeClr val="accent3"/>
          </a:solidFill>
        </p:spPr>
        <p:txBody>
          <a:bodyPr wrap="square" lIns="177800" tIns="177800" rIns="177800" bIns="177800" anchor="t"/>
          <a:lstStyle/>
          <a:p>
            <a:r>
              <a:rPr sz="1600" b="1">
                <a:solidFill>
                  <a:srgbClr val="FFFFFF"/>
                </a:solidFill>
                <a:latin typeface="Calibri"/>
                <a:ea typeface="Calibri"/>
                <a:cs typeface="Calibri"/>
              </a:rPr>
              <a:t>Maquettes et analyse</a:t>
            </a:r>
          </a:p>
          <a:p>
            <a:r>
              <a:rPr sz="1400" b="0">
                <a:solidFill>
                  <a:srgbClr val="FFFFFF"/>
                </a:solidFill>
                <a:latin typeface="Calibri"/>
                <a:ea typeface="Calibri"/>
                <a:cs typeface="Calibri"/>
              </a:rPr>
              <a:t>Retours du 06/10 documentés.</a:t>
            </a:r>
            <a:br>
              <a:rPr sz="1400" b="0">
                <a:solidFill>
                  <a:srgbClr val="FFFFFF"/>
                </a:solidFill>
                <a:latin typeface="Calibri"/>
                <a:ea typeface="Calibri"/>
                <a:cs typeface="Calibri"/>
              </a:rPr>
            </a:br>
            <a:r>
              <a:rPr sz="1400" b="0">
                <a:solidFill>
                  <a:srgbClr val="FFFFFF"/>
                </a:solidFill>
                <a:latin typeface="Calibri"/>
                <a:ea typeface="Calibri"/>
                <a:cs typeface="Calibri"/>
              </a:rPr>
              <a:t>Validation globale de l’analyse et de la maquette à obtenir.</a:t>
            </a:r>
          </a:p>
        </p:txBody>
      </p:sp>
      <p:sp>
        <p:nvSpPr>
          <p:cNvPr id="9" name="Carte - Validation du périmètre de l'itération 2">
            <a:extLst>
              <a:ext uri="{FF2B5EF4-FFF2-40B4-BE49-F238E27FC236}">
                <a16:creationId xmlns:a16="http://schemas.microsoft.com/office/drawing/2014/main" id="{D496032C-2251-4E1B-BAF0-F5A2D7025223}"/>
              </a:ext>
            </a:extLst>
          </p:cNvPr>
          <p:cNvSpPr>
            <a:spLocks noGrp="1"/>
          </p:cNvSpPr>
          <p:nvPr/>
        </p:nvSpPr>
        <p:spPr>
          <a:xfrm>
            <a:off x="548640" y="4023360"/>
            <a:ext cx="5408676" cy="2148840"/>
          </a:xfrm>
          <a:prstGeom prst="roundRect">
            <a:avLst>
              <a:gd name="adj" fmla="val 5106"/>
            </a:avLst>
          </a:prstGeom>
          <a:solidFill>
            <a:schemeClr val="accent3"/>
          </a:solidFill>
        </p:spPr>
        <p:txBody>
          <a:bodyPr wrap="square" lIns="177800" tIns="177800" rIns="177800" bIns="177800" anchor="t"/>
          <a:lstStyle/>
          <a:p>
            <a:r>
              <a:rPr sz="1600" b="1">
                <a:solidFill>
                  <a:srgbClr val="FFFFFF"/>
                </a:solidFill>
                <a:latin typeface="Calibri"/>
                <a:ea typeface="Calibri"/>
                <a:cs typeface="Calibri"/>
              </a:rPr>
              <a:t>Périmètre de l’itération 2</a:t>
            </a:r>
          </a:p>
          <a:p>
            <a:r>
              <a:rPr sz="1400" b="0">
                <a:solidFill>
                  <a:srgbClr val="FFFFFF"/>
                </a:solidFill>
                <a:latin typeface="Calibri"/>
                <a:ea typeface="Calibri"/>
                <a:cs typeface="Calibri"/>
              </a:rPr>
              <a:t>Terminer les DSEQ et l’architecture, harmoniser l’analyse et préparer le développement. Proposition à valider.</a:t>
            </a:r>
          </a:p>
        </p:txBody>
      </p:sp>
      <p:sp>
        <p:nvSpPr>
          <p:cNvPr id="10" name="Carte - Date de la prochaine revue">
            <a:extLst>
              <a:ext uri="{FF2B5EF4-FFF2-40B4-BE49-F238E27FC236}">
                <a16:creationId xmlns:a16="http://schemas.microsoft.com/office/drawing/2014/main" id="{0265CCF2-2DD7-4575-95B6-2E76381ADE4F}"/>
              </a:ext>
            </a:extLst>
          </p:cNvPr>
          <p:cNvSpPr>
            <a:spLocks noGrp="1"/>
          </p:cNvSpPr>
          <p:nvPr/>
        </p:nvSpPr>
        <p:spPr>
          <a:xfrm>
            <a:off x="6231636" y="4023360"/>
            <a:ext cx="5408676" cy="2148840"/>
          </a:xfrm>
          <a:prstGeom prst="roundRect">
            <a:avLst>
              <a:gd name="adj" fmla="val 5106"/>
            </a:avLst>
          </a:prstGeom>
          <a:solidFill>
            <a:schemeClr val="accent3"/>
          </a:solidFill>
        </p:spPr>
        <p:txBody>
          <a:bodyPr wrap="square" lIns="177800" tIns="177800" rIns="177800" bIns="177800" anchor="t"/>
          <a:lstStyle/>
          <a:p>
            <a:pPr marL="0" indent="0" algn="l">
              <a:buNone/>
            </a:pPr>
            <a:r>
              <a:rPr sz="1600" b="1">
                <a:solidFill>
                  <a:schemeClr val="bg1"/>
                </a:solidFill>
              </a:rPr>
              <a:t>Date de la prochaine revue</a:t>
            </a:r>
          </a:p>
          <a:p>
            <a:pPr marL="0" indent="0" algn="l">
              <a:buNone/>
            </a:pPr>
            <a:r>
              <a:rPr sz="1400">
                <a:solidFill>
                  <a:schemeClr val="bg1"/>
                </a:solidFill>
              </a:rPr>
              <a:t>À définir avec la MOA/AMOA.</a:t>
            </a:r>
          </a:p>
        </p:txBody>
      </p:sp>
      <p:sp>
        <p:nvSpPr>
          <p:cNvPr id="25" name="Slide Number Placeholder 0">
            <a:extLst>
              <a:ext uri="{FF2B5EF4-FFF2-40B4-BE49-F238E27FC236}">
                <a16:creationId xmlns:a16="http://schemas.microsoft.com/office/drawing/2014/main" id="{92BBC68F-0FF1-40A6-8CB7-B0B0D5D933D4}"/>
              </a:ext>
            </a:extLst>
          </p:cNvPr>
          <p:cNvSpPr>
            <a:spLocks noGrp="1"/>
          </p:cNvSpPr>
          <p:nvPr>
            <p:ph type="sldNum" idx="4294967295"/>
          </p:nvPr>
        </p:nvSpPr>
        <p:spPr>
          <a:xfrm>
            <a:off x="10972800" y="6382512"/>
            <a:ext cx="667512" cy="274320"/>
          </a:xfrm>
          <a:prstGeom prst="rect">
            <a:avLst/>
          </a:prstGeom>
        </p:spPr>
        <p:txBody>
          <a:bodyPr/>
          <a:lstStyle>
            <a:lvl1pPr>
              <a:buNone/>
              <a:defRPr sz="1000">
                <a:solidFill>
                  <a:schemeClr val="bg2"/>
                </a:solidFill>
              </a:defRPr>
            </a:lvl1pPr>
          </a:lstStyle>
          <a:p>
            <a:pPr algn="r">
              <a:buNone/>
            </a:pPr>
            <a:fld id="{DC9C7607-4BA3-B4DC-A00F-2E67A9FCFF7E}" type="slidenum">
              <a:rPr b="0"/>
              <a:t>19</a:t>
            </a:fld>
            <a:endParaRPr/>
          </a:p>
        </p:txBody>
      </p:sp>
    </p:spTree>
    <p:extLst>
      <p:ext uri="{BB962C8B-B14F-4D97-AF65-F5344CB8AC3E}">
        <p14:creationId xmlns:p14="http://schemas.microsoft.com/office/powerpoint/2010/main" val="1889819712"/>
      </p:ext>
    </p:extLst>
  </p:cSld>
  <p:clrMapOvr>
    <a:masterClrMapping/>
  </p:clrMapOvr>
</p:sld>
</file>

<file path=ppt/theme/theme1.xml><?xml version="1.0" encoding="utf-8"?>
<a:theme xmlns:a="http://schemas.openxmlformats.org/drawingml/2006/main" name="AirVAM Revue">
  <a:themeElements>
    <a:clrScheme name="AirVAM Revue">
      <a:dk1>
        <a:srgbClr val="1B2A41"/>
      </a:dk1>
      <a:lt1>
        <a:srgbClr val="FFFFFF"/>
      </a:lt1>
      <a:dk2>
        <a:srgbClr val="0B1F3A"/>
      </a:dk2>
      <a:lt2>
        <a:srgbClr val="EEF2F7"/>
      </a:lt2>
      <a:accent1>
        <a:srgbClr val="E4571A"/>
      </a:accent1>
      <a:accent2>
        <a:srgbClr val="1E8F85"/>
      </a:accent2>
      <a:accent3>
        <a:srgbClr val="2E4A6B"/>
      </a:accent3>
      <a:accent4>
        <a:srgbClr val="7A8CA5"/>
      </a:accent4>
      <a:accent5>
        <a:srgbClr val="FFC857"/>
      </a:accent5>
      <a:accent6>
        <a:srgbClr val="D1495B"/>
      </a:accent6>
      <a:hlink>
        <a:srgbClr val="1E8F85"/>
      </a:hlink>
      <a:folHlink>
        <a:srgbClr val="7A8CA5"/>
      </a:folHlink>
    </a:clrScheme>
    <a:fontScheme name="AirVAM Revu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AirVAM Revu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AirVAM Revue">
  <a:themeElements>
    <a:clrScheme name="AirVAM Revue">
      <a:dk1>
        <a:srgbClr val="1B2A41"/>
      </a:dk1>
      <a:lt1>
        <a:srgbClr val="FFFFFF"/>
      </a:lt1>
      <a:dk2>
        <a:srgbClr val="0B1F3A"/>
      </a:dk2>
      <a:lt2>
        <a:srgbClr val="EEF2F7"/>
      </a:lt2>
      <a:accent1>
        <a:srgbClr val="E4571A"/>
      </a:accent1>
      <a:accent2>
        <a:srgbClr val="1E8F85"/>
      </a:accent2>
      <a:accent3>
        <a:srgbClr val="2E4A6B"/>
      </a:accent3>
      <a:accent4>
        <a:srgbClr val="7A8CA5"/>
      </a:accent4>
      <a:accent5>
        <a:srgbClr val="FFC857"/>
      </a:accent5>
      <a:accent6>
        <a:srgbClr val="D1495B"/>
      </a:accent6>
      <a:hlink>
        <a:srgbClr val="1E8F85"/>
      </a:hlink>
      <a:folHlink>
        <a:srgbClr val="7A8CA5"/>
      </a:folHlink>
    </a:clrScheme>
    <a:fontScheme name="AirVAM Revu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AirVAM Revu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2812</Words>
  <Application>Microsoft Office PowerPoint</Application>
  <DocSecurity>0</DocSecurity>
  <PresentationFormat>Grand écran</PresentationFormat>
  <Paragraphs>332</Paragraphs>
  <Slides>19</Slides>
  <Notes>19</Notes>
  <HiddenSlides>10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19</vt:i4>
      </vt:variant>
    </vt:vector>
  </HeadingPairs>
  <TitlesOfParts>
    <vt:vector size="23" baseType="lpstr">
      <vt:lpstr>Arial</vt:lpstr>
      <vt:lpstr>Calibri</vt:lpstr>
      <vt:lpstr>Cambria</vt:lpstr>
      <vt:lpstr>AirVAM Revue</vt:lpstr>
      <vt:lpstr>Revue d'Itération 1</vt:lpstr>
      <vt:lpstr>Déroulé de la revue</vt:lpstr>
      <vt:lpstr>Ouverture &amp; rappel du cadre</vt:lpstr>
      <vt:lpstr>Vision du produit</vt:lpstr>
      <vt:lpstr>Synthèse du recueil du besoin</vt:lpstr>
      <vt:lpstr>Présentation des personas</vt:lpstr>
      <vt:lpstr>Présentation des personas</vt:lpstr>
      <vt:lpstr>Présentation des personas</vt:lpstr>
      <vt:lpstr>Présentation des personas</vt:lpstr>
      <vt:lpstr>Présentation des personas</vt:lpstr>
      <vt:lpstr>Roadmap produit initiale</vt:lpstr>
      <vt:lpstr>Backlog produit initial</vt:lpstr>
      <vt:lpstr>Bilan des travaux réalisés</vt:lpstr>
      <vt:lpstr>Discussion sur la priorisation</vt:lpstr>
      <vt:lpstr>Reviews et intégration</vt:lpstr>
      <vt:lpstr>Présentation des maquettes</vt:lpstr>
      <vt:lpstr>Commits et déploiement</vt:lpstr>
      <vt:lpstr>Objectifs de l'itération 2</vt:lpstr>
      <vt:lpstr>Clôture &amp; décisions actées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Halimi Edouard</cp:lastModifiedBy>
  <cp:revision>20</cp:revision>
  <dcterms:created xsi:type="dcterms:W3CDTF">2026-10-08T13:52:26Z</dcterms:created>
  <dcterms:modified xsi:type="dcterms:W3CDTF">2026-10-08T14:58:17Z</dcterms:modified>
</cp:coreProperties>
</file>